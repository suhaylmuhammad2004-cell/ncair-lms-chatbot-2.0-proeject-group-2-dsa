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801600" cy="72040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2" d="100"/>
          <a:sy n="92" d="100"/>
        </p:scale>
        <p:origin x="744"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3EE"/>
        </a:solidFill>
        <a:effectLst/>
      </p:bgPr>
    </p:bg>
    <p:spTree>
      <p:nvGrpSpPr>
        <p:cNvPr id="1" name=""/>
        <p:cNvGrpSpPr/>
        <p:nvPr/>
      </p:nvGrpSpPr>
      <p:grpSpPr>
        <a:xfrm>
          <a:off x="0" y="0"/>
          <a:ext cx="0" cy="0"/>
          <a:chOff x="0" y="0"/>
          <a:chExt cx="0" cy="0"/>
        </a:xfrm>
      </p:grpSpPr>
      <p:pic>
        <p:nvPicPr>
          <p:cNvPr id="2" name="Artwork 1" descr="Decorative artwork"/>
          <p:cNvPicPr>
            <a:picLocks noChangeAspect="1"/>
          </p:cNvPicPr>
          <p:nvPr/>
        </p:nvPicPr>
        <p:blipFill>
          <a:blip r:embed="rId2"/>
          <a:stretch>
            <a:fillRect/>
          </a:stretch>
        </p:blipFill>
        <p:spPr>
          <a:xfrm>
            <a:off x="8247185" y="0"/>
            <a:ext cx="4554415" cy="7200900"/>
          </a:xfrm>
          <a:prstGeom prst="rect">
            <a:avLst/>
          </a:prstGeom>
        </p:spPr>
      </p:pic>
      <p:sp>
        <p:nvSpPr>
          <p:cNvPr id="3" name="Logo"/>
          <p:cNvSpPr txBox="1"/>
          <p:nvPr/>
        </p:nvSpPr>
        <p:spPr>
          <a:xfrm>
            <a:off x="633046" y="422031"/>
            <a:ext cx="1318846" cy="439615"/>
          </a:xfrm>
          <a:prstGeom prst="rect">
            <a:avLst/>
          </a:prstGeom>
          <a:noFill/>
        </p:spPr>
        <p:txBody>
          <a:bodyPr wrap="square" lIns="0" tIns="0" rIns="0" bIns="0" anchor="t">
            <a:spAutoFit/>
          </a:bodyPr>
          <a:lstStyle/>
          <a:p>
            <a:pPr algn="l">
              <a:lnSpc>
                <a:spcPts val="3600"/>
              </a:lnSpc>
              <a:spcBef>
                <a:spcPts val="0"/>
              </a:spcBef>
              <a:spcAft>
                <a:spcPts val="0"/>
              </a:spcAft>
            </a:pPr>
            <a:r>
              <a:rPr sz="3100" b="0">
                <a:solidFill>
                  <a:srgbClr val="0E0E0E"/>
                </a:solidFill>
                <a:latin typeface="Impact"/>
                <a:ea typeface="Impact"/>
                <a:cs typeface="Impact"/>
              </a:rPr>
              <a:t>NCAIR</a:t>
            </a:r>
          </a:p>
        </p:txBody>
      </p:sp>
      <p:cxnSp>
        <p:nvCxnSpPr>
          <p:cNvPr id="4" name="Logo divider"/>
          <p:cNvCxnSpPr/>
          <p:nvPr/>
        </p:nvCxnSpPr>
        <p:spPr>
          <a:xfrm>
            <a:off x="1828800" y="509954"/>
            <a:ext cx="0" cy="281354"/>
          </a:xfrm>
          <a:prstGeom prst="line">
            <a:avLst/>
          </a:prstGeom>
          <a:ln w="12700">
            <a:solidFill>
              <a:srgbClr val="0E0E0E"/>
            </a:solidFill>
          </a:ln>
        </p:spPr>
      </p:cxnSp>
      <p:sp>
        <p:nvSpPr>
          <p:cNvPr id="5" name="Organisation"/>
          <p:cNvSpPr txBox="1"/>
          <p:nvPr/>
        </p:nvSpPr>
        <p:spPr>
          <a:xfrm>
            <a:off x="2074985" y="483577"/>
            <a:ext cx="3692769" cy="386862"/>
          </a:xfrm>
          <a:prstGeom prst="rect">
            <a:avLst/>
          </a:prstGeom>
          <a:noFill/>
        </p:spPr>
        <p:txBody>
          <a:bodyPr wrap="square" lIns="0" tIns="0" rIns="0" bIns="0" anchor="t">
            <a:spAutoFit/>
          </a:bodyPr>
          <a:lstStyle/>
          <a:p>
            <a:pPr algn="l">
              <a:lnSpc>
                <a:spcPts val="1450"/>
              </a:lnSpc>
              <a:spcBef>
                <a:spcPts val="0"/>
              </a:spcBef>
              <a:spcAft>
                <a:spcPts val="0"/>
              </a:spcAft>
            </a:pPr>
            <a:r>
              <a:rPr sz="1050" b="0" spc="60">
                <a:solidFill>
                  <a:srgbClr val="0E0E0E"/>
                </a:solidFill>
                <a:latin typeface="Courier New"/>
                <a:ea typeface="Courier New"/>
                <a:cs typeface="Courier New"/>
              </a:rPr>
              <a:t>NATIONAL CENTRE FOR</a:t>
            </a:r>
          </a:p>
          <a:p>
            <a:pPr algn="l">
              <a:lnSpc>
                <a:spcPts val="1450"/>
              </a:lnSpc>
              <a:spcBef>
                <a:spcPts val="0"/>
              </a:spcBef>
              <a:spcAft>
                <a:spcPts val="0"/>
              </a:spcAft>
            </a:pPr>
            <a:r>
              <a:rPr sz="1050" b="0" spc="60">
                <a:solidFill>
                  <a:srgbClr val="0E0E0E"/>
                </a:solidFill>
                <a:latin typeface="Courier New"/>
                <a:ea typeface="Courier New"/>
                <a:cs typeface="Courier New"/>
              </a:rPr>
              <a:t>ARTIFICIAL INTELLIGENCE &amp; ROBOTICS</a:t>
            </a:r>
          </a:p>
        </p:txBody>
      </p:sp>
      <p:sp>
        <p:nvSpPr>
          <p:cNvPr id="6" name="Title"/>
          <p:cNvSpPr txBox="1"/>
          <p:nvPr/>
        </p:nvSpPr>
        <p:spPr>
          <a:xfrm>
            <a:off x="633046" y="1670538"/>
            <a:ext cx="7385538" cy="3692769"/>
          </a:xfrm>
          <a:prstGeom prst="rect">
            <a:avLst/>
          </a:prstGeom>
          <a:noFill/>
        </p:spPr>
        <p:txBody>
          <a:bodyPr wrap="square" lIns="0" tIns="0" rIns="0" bIns="0" anchor="t">
            <a:spAutoFit/>
          </a:bodyPr>
          <a:lstStyle/>
          <a:p>
            <a:pPr algn="l">
              <a:lnSpc>
                <a:spcPts val="9500"/>
              </a:lnSpc>
              <a:spcBef>
                <a:spcPts val="0"/>
              </a:spcBef>
              <a:spcAft>
                <a:spcPts val="0"/>
              </a:spcAft>
            </a:pPr>
            <a:r>
              <a:rPr sz="9900" b="0" dirty="0">
                <a:solidFill>
                  <a:srgbClr val="0E0E0E"/>
                </a:solidFill>
                <a:latin typeface="Impact"/>
                <a:ea typeface="Impact"/>
                <a:cs typeface="Impact"/>
              </a:rPr>
              <a:t>NCAIR LMS</a:t>
            </a:r>
          </a:p>
          <a:p>
            <a:pPr algn="l">
              <a:lnSpc>
                <a:spcPts val="9500"/>
              </a:lnSpc>
              <a:spcBef>
                <a:spcPts val="0"/>
              </a:spcBef>
              <a:spcAft>
                <a:spcPts val="0"/>
              </a:spcAft>
            </a:pPr>
            <a:r>
              <a:rPr sz="9900" b="0" dirty="0">
                <a:solidFill>
                  <a:srgbClr val="0E0E0E"/>
                </a:solidFill>
                <a:latin typeface="Impact"/>
                <a:ea typeface="Impact"/>
                <a:cs typeface="Impact"/>
              </a:rPr>
              <a:t>ASSISTANT</a:t>
            </a:r>
          </a:p>
          <a:p>
            <a:pPr algn="l">
              <a:lnSpc>
                <a:spcPts val="9500"/>
              </a:lnSpc>
              <a:spcBef>
                <a:spcPts val="0"/>
              </a:spcBef>
              <a:spcAft>
                <a:spcPts val="0"/>
              </a:spcAft>
            </a:pPr>
            <a:r>
              <a:rPr sz="9900" b="0" dirty="0">
                <a:solidFill>
                  <a:srgbClr val="7A7873"/>
                </a:solidFill>
                <a:latin typeface="Impact"/>
                <a:ea typeface="Impact"/>
                <a:cs typeface="Impact"/>
              </a:rPr>
              <a:t>2.0</a:t>
            </a:r>
          </a:p>
        </p:txBody>
      </p:sp>
      <p:cxnSp>
        <p:nvCxnSpPr>
          <p:cNvPr id="7" name="Rule"/>
          <p:cNvCxnSpPr/>
          <p:nvPr/>
        </p:nvCxnSpPr>
        <p:spPr>
          <a:xfrm>
            <a:off x="3349869" y="4624754"/>
            <a:ext cx="474785" cy="0"/>
          </a:xfrm>
          <a:prstGeom prst="line">
            <a:avLst/>
          </a:prstGeom>
          <a:ln w="19050">
            <a:solidFill>
              <a:srgbClr val="0E0E0E"/>
            </a:solidFill>
          </a:ln>
        </p:spPr>
      </p:cxnSp>
      <p:sp>
        <p:nvSpPr>
          <p:cNvPr id="8" name="Tagline"/>
          <p:cNvSpPr txBox="1"/>
          <p:nvPr/>
        </p:nvSpPr>
        <p:spPr>
          <a:xfrm>
            <a:off x="3367454" y="4888523"/>
            <a:ext cx="4396154" cy="879231"/>
          </a:xfrm>
          <a:prstGeom prst="rect">
            <a:avLst/>
          </a:prstGeom>
          <a:noFill/>
        </p:spPr>
        <p:txBody>
          <a:bodyPr wrap="square" lIns="0" tIns="0" rIns="0" bIns="0" anchor="t">
            <a:spAutoFit/>
          </a:bodyPr>
          <a:lstStyle/>
          <a:p>
            <a:pPr algn="l">
              <a:lnSpc>
                <a:spcPts val="3100"/>
              </a:lnSpc>
              <a:spcBef>
                <a:spcPts val="0"/>
              </a:spcBef>
              <a:spcAft>
                <a:spcPts val="0"/>
              </a:spcAft>
            </a:pPr>
            <a:r>
              <a:rPr sz="2300" b="0">
                <a:solidFill>
                  <a:srgbClr val="0E0E0E"/>
                </a:solidFill>
                <a:latin typeface="Arial"/>
                <a:ea typeface="Arial"/>
                <a:cs typeface="Arial"/>
              </a:rPr>
              <a:t>A multilingual assistant</a:t>
            </a:r>
          </a:p>
          <a:p>
            <a:pPr algn="l">
              <a:lnSpc>
                <a:spcPts val="3100"/>
              </a:lnSpc>
              <a:spcBef>
                <a:spcPts val="0"/>
              </a:spcBef>
              <a:spcAft>
                <a:spcPts val="0"/>
              </a:spcAft>
            </a:pPr>
            <a:r>
              <a:rPr sz="2300" b="0">
                <a:solidFill>
                  <a:srgbClr val="0E0E0E"/>
                </a:solidFill>
                <a:latin typeface="Arial"/>
                <a:ea typeface="Arial"/>
                <a:cs typeface="Arial"/>
              </a:rPr>
              <a:t>for grounded LMS support.</a:t>
            </a:r>
          </a:p>
        </p:txBody>
      </p:sp>
      <p:sp>
        <p:nvSpPr>
          <p:cNvPr id="9" name="Group"/>
          <p:cNvSpPr txBox="1"/>
          <p:nvPr/>
        </p:nvSpPr>
        <p:spPr>
          <a:xfrm>
            <a:off x="650631" y="5987562"/>
            <a:ext cx="3516923" cy="879231"/>
          </a:xfrm>
          <a:prstGeom prst="rect">
            <a:avLst/>
          </a:prstGeom>
          <a:noFill/>
        </p:spPr>
        <p:txBody>
          <a:bodyPr wrap="square" lIns="0" tIns="0" rIns="0" bIns="0" anchor="t">
            <a:spAutoFit/>
          </a:bodyPr>
          <a:lstStyle/>
          <a:p>
            <a:pPr algn="l">
              <a:lnSpc>
                <a:spcPts val="1950"/>
              </a:lnSpc>
              <a:spcBef>
                <a:spcPts val="0"/>
              </a:spcBef>
              <a:spcAft>
                <a:spcPts val="0"/>
              </a:spcAft>
            </a:pPr>
            <a:r>
              <a:rPr sz="1200" b="1" spc="140">
                <a:solidFill>
                  <a:srgbClr val="0E0E0E"/>
                </a:solidFill>
                <a:latin typeface="Courier New"/>
                <a:ea typeface="Courier New"/>
                <a:cs typeface="Courier New"/>
              </a:rPr>
              <a:t>GROUP 2</a:t>
            </a:r>
          </a:p>
          <a:p>
            <a:pPr algn="l">
              <a:lnSpc>
                <a:spcPts val="1950"/>
              </a:lnSpc>
              <a:spcBef>
                <a:spcPts val="0"/>
              </a:spcBef>
              <a:spcAft>
                <a:spcPts val="0"/>
              </a:spcAft>
            </a:pPr>
            <a:r>
              <a:rPr sz="1200" b="0" spc="140">
                <a:solidFill>
                  <a:srgbClr val="0E0E0E"/>
                </a:solidFill>
                <a:latin typeface="Courier New"/>
                <a:ea typeface="Courier New"/>
                <a:cs typeface="Courier New"/>
              </a:rPr>
              <a:t>DATA SCIENCE ADVANCED</a:t>
            </a:r>
          </a:p>
          <a:p>
            <a:pPr algn="l">
              <a:lnSpc>
                <a:spcPts val="1950"/>
              </a:lnSpc>
              <a:spcBef>
                <a:spcPts val="0"/>
              </a:spcBef>
              <a:spcAft>
                <a:spcPts val="0"/>
              </a:spcAft>
            </a:pPr>
            <a:r>
              <a:rPr sz="1200" b="0" spc="140">
                <a:solidFill>
                  <a:srgbClr val="0E0E0E"/>
                </a:solidFill>
                <a:latin typeface="Courier New"/>
                <a:ea typeface="Courier New"/>
                <a:cs typeface="Courier New"/>
              </a:rPr>
              <a:t>OCTOBER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3EE"/>
        </a:solidFill>
        <a:effectLst/>
      </p:bgPr>
    </p:bg>
    <p:spTree>
      <p:nvGrpSpPr>
        <p:cNvPr id="1" name=""/>
        <p:cNvGrpSpPr/>
        <p:nvPr/>
      </p:nvGrpSpPr>
      <p:grpSpPr>
        <a:xfrm>
          <a:off x="0" y="0"/>
          <a:ext cx="0" cy="0"/>
          <a:chOff x="0" y="0"/>
          <a:chExt cx="0" cy="0"/>
        </a:xfrm>
      </p:grpSpPr>
      <p:pic>
        <p:nvPicPr>
          <p:cNvPr id="2" name="Artwork 1" descr="Decorative artwork"/>
          <p:cNvPicPr>
            <a:picLocks noChangeAspect="1"/>
          </p:cNvPicPr>
          <p:nvPr/>
        </p:nvPicPr>
        <p:blipFill>
          <a:blip r:embed="rId2"/>
          <a:stretch>
            <a:fillRect/>
          </a:stretch>
        </p:blipFill>
        <p:spPr>
          <a:xfrm>
            <a:off x="5143500" y="0"/>
            <a:ext cx="2558562" cy="7200900"/>
          </a:xfrm>
          <a:prstGeom prst="rect">
            <a:avLst/>
          </a:prstGeom>
        </p:spPr>
      </p:pic>
      <p:sp>
        <p:nvSpPr>
          <p:cNvPr id="3" name="Title"/>
          <p:cNvSpPr txBox="1"/>
          <p:nvPr/>
        </p:nvSpPr>
        <p:spPr>
          <a:xfrm>
            <a:off x="483577" y="1230923"/>
            <a:ext cx="4659923" cy="1934308"/>
          </a:xfrm>
          <a:prstGeom prst="rect">
            <a:avLst/>
          </a:prstGeom>
          <a:noFill/>
        </p:spPr>
        <p:txBody>
          <a:bodyPr wrap="square" lIns="0" tIns="0" rIns="0" bIns="0" anchor="t">
            <a:spAutoFit/>
          </a:bodyPr>
          <a:lstStyle/>
          <a:p>
            <a:pPr algn="l">
              <a:lnSpc>
                <a:spcPts val="6600"/>
              </a:lnSpc>
              <a:spcBef>
                <a:spcPts val="0"/>
              </a:spcBef>
              <a:spcAft>
                <a:spcPts val="0"/>
              </a:spcAft>
            </a:pPr>
            <a:r>
              <a:rPr sz="7200" b="0">
                <a:solidFill>
                  <a:srgbClr val="0E0E0E"/>
                </a:solidFill>
                <a:latin typeface="Impact"/>
                <a:ea typeface="Impact"/>
                <a:cs typeface="Impact"/>
              </a:rPr>
              <a:t>PROBLEM &amp;</a:t>
            </a:r>
          </a:p>
          <a:p>
            <a:pPr algn="l">
              <a:lnSpc>
                <a:spcPts val="6600"/>
              </a:lnSpc>
              <a:spcBef>
                <a:spcPts val="0"/>
              </a:spcBef>
              <a:spcAft>
                <a:spcPts val="0"/>
              </a:spcAft>
            </a:pPr>
            <a:r>
              <a:rPr sz="7200" b="0">
                <a:solidFill>
                  <a:srgbClr val="0E0E0E"/>
                </a:solidFill>
                <a:latin typeface="Impact"/>
                <a:ea typeface="Impact"/>
                <a:cs typeface="Impact"/>
              </a:rPr>
              <a:t>OBJECTIVE</a:t>
            </a:r>
          </a:p>
        </p:txBody>
      </p:sp>
      <p:cxnSp>
        <p:nvCxnSpPr>
          <p:cNvPr id="4" name="Rule"/>
          <p:cNvCxnSpPr/>
          <p:nvPr/>
        </p:nvCxnSpPr>
        <p:spPr>
          <a:xfrm>
            <a:off x="509954" y="3297115"/>
            <a:ext cx="580292" cy="0"/>
          </a:xfrm>
          <a:prstGeom prst="line">
            <a:avLst/>
          </a:prstGeom>
          <a:ln w="19050">
            <a:solidFill>
              <a:srgbClr val="0E0E0E"/>
            </a:solidFill>
          </a:ln>
        </p:spPr>
      </p:cxnSp>
      <p:sp>
        <p:nvSpPr>
          <p:cNvPr id="5" name="Problem statement"/>
          <p:cNvSpPr txBox="1"/>
          <p:nvPr/>
        </p:nvSpPr>
        <p:spPr>
          <a:xfrm>
            <a:off x="509954" y="3622431"/>
            <a:ext cx="4264269" cy="2989385"/>
          </a:xfrm>
          <a:prstGeom prst="rect">
            <a:avLst/>
          </a:prstGeom>
          <a:noFill/>
        </p:spPr>
        <p:txBody>
          <a:bodyPr wrap="square" lIns="0" tIns="0" rIns="0" bIns="0" anchor="t">
            <a:spAutoFit/>
          </a:bodyPr>
          <a:lstStyle/>
          <a:p>
            <a:pPr algn="l">
              <a:lnSpc>
                <a:spcPts val="2450"/>
              </a:lnSpc>
              <a:spcBef>
                <a:spcPts val="0"/>
              </a:spcBef>
              <a:spcAft>
                <a:spcPts val="0"/>
              </a:spcAft>
            </a:pPr>
            <a:r>
              <a:rPr sz="1950" b="0">
                <a:solidFill>
                  <a:srgbClr val="0E0E0E"/>
                </a:solidFill>
                <a:latin typeface="Arial"/>
                <a:ea typeface="Arial"/>
                <a:cs typeface="Arial"/>
              </a:rPr>
              <a:t>The previous NCAIR LMS chatbot uses rigid keyword routing, so it can misread what users ask and pick the wrong source or action. It has no benchmark to measure reliability, depends on hard-coded logic, can't reliably give page links, and supports only English.</a:t>
            </a:r>
          </a:p>
        </p:txBody>
      </p:sp>
      <p:sp>
        <p:nvSpPr>
          <p:cNvPr id="6" name="Number 01"/>
          <p:cNvSpPr txBox="1"/>
          <p:nvPr/>
        </p:nvSpPr>
        <p:spPr>
          <a:xfrm>
            <a:off x="8370277" y="826477"/>
            <a:ext cx="703385" cy="386862"/>
          </a:xfrm>
          <a:prstGeom prst="rect">
            <a:avLst/>
          </a:prstGeom>
          <a:noFill/>
        </p:spPr>
        <p:txBody>
          <a:bodyPr wrap="square" lIns="0" tIns="0" rIns="0" bIns="0" anchor="t">
            <a:spAutoFit/>
          </a:bodyPr>
          <a:lstStyle/>
          <a:p>
            <a:pPr algn="l">
              <a:spcBef>
                <a:spcPts val="0"/>
              </a:spcBef>
              <a:spcAft>
                <a:spcPts val="0"/>
              </a:spcAft>
            </a:pPr>
            <a:r>
              <a:rPr sz="3100" b="0">
                <a:solidFill>
                  <a:srgbClr val="0E0E0E"/>
                </a:solidFill>
                <a:latin typeface="Arial"/>
                <a:ea typeface="Arial"/>
                <a:cs typeface="Arial"/>
              </a:rPr>
              <a:t>01</a:t>
            </a:r>
          </a:p>
        </p:txBody>
      </p:sp>
      <p:cxnSp>
        <p:nvCxnSpPr>
          <p:cNvPr id="7" name="Divider 01"/>
          <p:cNvCxnSpPr/>
          <p:nvPr/>
        </p:nvCxnSpPr>
        <p:spPr>
          <a:xfrm>
            <a:off x="9117623" y="861646"/>
            <a:ext cx="0" cy="562708"/>
          </a:xfrm>
          <a:prstGeom prst="line">
            <a:avLst/>
          </a:prstGeom>
          <a:ln w="9525">
            <a:solidFill>
              <a:srgbClr val="55534F"/>
            </a:solidFill>
          </a:ln>
        </p:spPr>
      </p:cxnSp>
      <p:sp>
        <p:nvSpPr>
          <p:cNvPr id="8" name="Item 01 text"/>
          <p:cNvSpPr txBox="1"/>
          <p:nvPr/>
        </p:nvSpPr>
        <p:spPr>
          <a:xfrm>
            <a:off x="9416562" y="808892"/>
            <a:ext cx="3033346" cy="844062"/>
          </a:xfrm>
          <a:prstGeom prst="rect">
            <a:avLst/>
          </a:prstGeom>
          <a:noFill/>
        </p:spPr>
        <p:txBody>
          <a:bodyPr wrap="square" lIns="0" tIns="0" rIns="0" bIns="0" anchor="t">
            <a:spAutoFit/>
          </a:bodyPr>
          <a:lstStyle/>
          <a:p>
            <a:pPr algn="l">
              <a:lnSpc>
                <a:spcPts val="1750"/>
              </a:lnSpc>
              <a:spcBef>
                <a:spcPts val="0"/>
              </a:spcBef>
              <a:spcAft>
                <a:spcPts val="0"/>
              </a:spcAft>
            </a:pPr>
            <a:r>
              <a:rPr sz="1500" b="0">
                <a:solidFill>
                  <a:srgbClr val="0E0E0E"/>
                </a:solidFill>
                <a:latin typeface="Arial"/>
                <a:ea typeface="Arial"/>
                <a:cs typeface="Arial"/>
              </a:rPr>
              <a:t>Replace keyword routing with LLM-driven structured tool selection.</a:t>
            </a:r>
          </a:p>
        </p:txBody>
      </p:sp>
      <p:cxnSp>
        <p:nvCxnSpPr>
          <p:cNvPr id="9" name="Rule 01"/>
          <p:cNvCxnSpPr/>
          <p:nvPr/>
        </p:nvCxnSpPr>
        <p:spPr>
          <a:xfrm>
            <a:off x="8370277" y="1521069"/>
            <a:ext cx="3947746" cy="0"/>
          </a:xfrm>
          <a:prstGeom prst="line">
            <a:avLst/>
          </a:prstGeom>
          <a:ln w="9525">
            <a:solidFill>
              <a:srgbClr val="C4C3BE"/>
            </a:solidFill>
          </a:ln>
        </p:spPr>
      </p:cxnSp>
      <p:sp>
        <p:nvSpPr>
          <p:cNvPr id="10" name="Number 02"/>
          <p:cNvSpPr txBox="1"/>
          <p:nvPr/>
        </p:nvSpPr>
        <p:spPr>
          <a:xfrm>
            <a:off x="8370277" y="1670538"/>
            <a:ext cx="703385" cy="386862"/>
          </a:xfrm>
          <a:prstGeom prst="rect">
            <a:avLst/>
          </a:prstGeom>
          <a:noFill/>
        </p:spPr>
        <p:txBody>
          <a:bodyPr wrap="square" lIns="0" tIns="0" rIns="0" bIns="0" anchor="t">
            <a:spAutoFit/>
          </a:bodyPr>
          <a:lstStyle/>
          <a:p>
            <a:pPr algn="l">
              <a:spcBef>
                <a:spcPts val="0"/>
              </a:spcBef>
              <a:spcAft>
                <a:spcPts val="0"/>
              </a:spcAft>
            </a:pPr>
            <a:r>
              <a:rPr sz="3100" b="0">
                <a:solidFill>
                  <a:srgbClr val="0E0E0E"/>
                </a:solidFill>
                <a:latin typeface="Arial"/>
                <a:ea typeface="Arial"/>
                <a:cs typeface="Arial"/>
              </a:rPr>
              <a:t>02</a:t>
            </a:r>
          </a:p>
        </p:txBody>
      </p:sp>
      <p:cxnSp>
        <p:nvCxnSpPr>
          <p:cNvPr id="11" name="Divider 02"/>
          <p:cNvCxnSpPr/>
          <p:nvPr/>
        </p:nvCxnSpPr>
        <p:spPr>
          <a:xfrm>
            <a:off x="9117623" y="1705708"/>
            <a:ext cx="0" cy="562707"/>
          </a:xfrm>
          <a:prstGeom prst="line">
            <a:avLst/>
          </a:prstGeom>
          <a:ln w="9525">
            <a:solidFill>
              <a:srgbClr val="55534F"/>
            </a:solidFill>
          </a:ln>
        </p:spPr>
      </p:cxnSp>
      <p:sp>
        <p:nvSpPr>
          <p:cNvPr id="12" name="Item 02 text"/>
          <p:cNvSpPr txBox="1"/>
          <p:nvPr/>
        </p:nvSpPr>
        <p:spPr>
          <a:xfrm>
            <a:off x="9416562" y="1652954"/>
            <a:ext cx="3033346" cy="844062"/>
          </a:xfrm>
          <a:prstGeom prst="rect">
            <a:avLst/>
          </a:prstGeom>
          <a:noFill/>
        </p:spPr>
        <p:txBody>
          <a:bodyPr wrap="square" lIns="0" tIns="0" rIns="0" bIns="0" anchor="t">
            <a:spAutoFit/>
          </a:bodyPr>
          <a:lstStyle/>
          <a:p>
            <a:pPr algn="l">
              <a:lnSpc>
                <a:spcPts val="1750"/>
              </a:lnSpc>
              <a:spcBef>
                <a:spcPts val="0"/>
              </a:spcBef>
              <a:spcAft>
                <a:spcPts val="0"/>
              </a:spcAft>
            </a:pPr>
            <a:r>
              <a:rPr sz="1500" b="0">
                <a:solidFill>
                  <a:srgbClr val="0E0E0E"/>
                </a:solidFill>
                <a:latin typeface="Arial"/>
                <a:ea typeface="Arial"/>
                <a:cs typeface="Arial"/>
              </a:rPr>
              <a:t>Build a benchmark of real NCAIR questions with expected answers or evidence.</a:t>
            </a:r>
          </a:p>
        </p:txBody>
      </p:sp>
      <p:cxnSp>
        <p:nvCxnSpPr>
          <p:cNvPr id="13" name="Rule 02"/>
          <p:cNvCxnSpPr/>
          <p:nvPr/>
        </p:nvCxnSpPr>
        <p:spPr>
          <a:xfrm>
            <a:off x="8370277" y="2488223"/>
            <a:ext cx="3947746" cy="0"/>
          </a:xfrm>
          <a:prstGeom prst="line">
            <a:avLst/>
          </a:prstGeom>
          <a:ln w="9525">
            <a:solidFill>
              <a:srgbClr val="C4C3BE"/>
            </a:solidFill>
          </a:ln>
        </p:spPr>
      </p:cxnSp>
      <p:sp>
        <p:nvSpPr>
          <p:cNvPr id="14" name="Number 03"/>
          <p:cNvSpPr txBox="1"/>
          <p:nvPr/>
        </p:nvSpPr>
        <p:spPr>
          <a:xfrm>
            <a:off x="8370277" y="2620108"/>
            <a:ext cx="703385" cy="386862"/>
          </a:xfrm>
          <a:prstGeom prst="rect">
            <a:avLst/>
          </a:prstGeom>
          <a:noFill/>
        </p:spPr>
        <p:txBody>
          <a:bodyPr wrap="square" lIns="0" tIns="0" rIns="0" bIns="0" anchor="t">
            <a:spAutoFit/>
          </a:bodyPr>
          <a:lstStyle/>
          <a:p>
            <a:pPr algn="l">
              <a:spcBef>
                <a:spcPts val="0"/>
              </a:spcBef>
              <a:spcAft>
                <a:spcPts val="0"/>
              </a:spcAft>
            </a:pPr>
            <a:r>
              <a:rPr sz="3100" b="0">
                <a:solidFill>
                  <a:srgbClr val="0E0E0E"/>
                </a:solidFill>
                <a:latin typeface="Arial"/>
                <a:ea typeface="Arial"/>
                <a:cs typeface="Arial"/>
              </a:rPr>
              <a:t>03</a:t>
            </a:r>
          </a:p>
        </p:txBody>
      </p:sp>
      <p:cxnSp>
        <p:nvCxnSpPr>
          <p:cNvPr id="15" name="Divider 03"/>
          <p:cNvCxnSpPr/>
          <p:nvPr/>
        </p:nvCxnSpPr>
        <p:spPr>
          <a:xfrm>
            <a:off x="9117623" y="2655277"/>
            <a:ext cx="0" cy="562708"/>
          </a:xfrm>
          <a:prstGeom prst="line">
            <a:avLst/>
          </a:prstGeom>
          <a:ln w="9525">
            <a:solidFill>
              <a:srgbClr val="55534F"/>
            </a:solidFill>
          </a:ln>
        </p:spPr>
      </p:cxnSp>
      <p:sp>
        <p:nvSpPr>
          <p:cNvPr id="16" name="Item 03 text"/>
          <p:cNvSpPr txBox="1"/>
          <p:nvPr/>
        </p:nvSpPr>
        <p:spPr>
          <a:xfrm>
            <a:off x="9416562" y="2602523"/>
            <a:ext cx="3033346" cy="844062"/>
          </a:xfrm>
          <a:prstGeom prst="rect">
            <a:avLst/>
          </a:prstGeom>
          <a:noFill/>
        </p:spPr>
        <p:txBody>
          <a:bodyPr wrap="square" lIns="0" tIns="0" rIns="0" bIns="0" anchor="t">
            <a:spAutoFit/>
          </a:bodyPr>
          <a:lstStyle/>
          <a:p>
            <a:pPr algn="l">
              <a:lnSpc>
                <a:spcPts val="1750"/>
              </a:lnSpc>
              <a:spcBef>
                <a:spcPts val="0"/>
              </a:spcBef>
              <a:spcAft>
                <a:spcPts val="0"/>
              </a:spcAft>
            </a:pPr>
            <a:r>
              <a:rPr sz="1500" b="0">
                <a:solidFill>
                  <a:srgbClr val="0E0E0E"/>
                </a:solidFill>
                <a:latin typeface="Arial"/>
                <a:ea typeface="Arial"/>
                <a:cs typeface="Arial"/>
              </a:rPr>
              <a:t>Limit hard-coding in the tools and router.</a:t>
            </a:r>
          </a:p>
        </p:txBody>
      </p:sp>
      <p:cxnSp>
        <p:nvCxnSpPr>
          <p:cNvPr id="17" name="Rule 03"/>
          <p:cNvCxnSpPr/>
          <p:nvPr/>
        </p:nvCxnSpPr>
        <p:spPr>
          <a:xfrm>
            <a:off x="8370277" y="3332285"/>
            <a:ext cx="3947746" cy="0"/>
          </a:xfrm>
          <a:prstGeom prst="line">
            <a:avLst/>
          </a:prstGeom>
          <a:ln w="9525">
            <a:solidFill>
              <a:srgbClr val="C4C3BE"/>
            </a:solidFill>
          </a:ln>
        </p:spPr>
      </p:cxnSp>
      <p:sp>
        <p:nvSpPr>
          <p:cNvPr id="18" name="Number 04"/>
          <p:cNvSpPr txBox="1"/>
          <p:nvPr/>
        </p:nvSpPr>
        <p:spPr>
          <a:xfrm>
            <a:off x="8370277" y="3481754"/>
            <a:ext cx="703385" cy="386862"/>
          </a:xfrm>
          <a:prstGeom prst="rect">
            <a:avLst/>
          </a:prstGeom>
          <a:noFill/>
        </p:spPr>
        <p:txBody>
          <a:bodyPr wrap="square" lIns="0" tIns="0" rIns="0" bIns="0" anchor="t">
            <a:spAutoFit/>
          </a:bodyPr>
          <a:lstStyle/>
          <a:p>
            <a:pPr algn="l">
              <a:spcBef>
                <a:spcPts val="0"/>
              </a:spcBef>
              <a:spcAft>
                <a:spcPts val="0"/>
              </a:spcAft>
            </a:pPr>
            <a:r>
              <a:rPr sz="3100" b="0">
                <a:solidFill>
                  <a:srgbClr val="0E0E0E"/>
                </a:solidFill>
                <a:latin typeface="Arial"/>
                <a:ea typeface="Arial"/>
                <a:cs typeface="Arial"/>
              </a:rPr>
              <a:t>04</a:t>
            </a:r>
          </a:p>
        </p:txBody>
      </p:sp>
      <p:cxnSp>
        <p:nvCxnSpPr>
          <p:cNvPr id="19" name="Divider 04"/>
          <p:cNvCxnSpPr/>
          <p:nvPr/>
        </p:nvCxnSpPr>
        <p:spPr>
          <a:xfrm>
            <a:off x="9117623" y="3516923"/>
            <a:ext cx="0" cy="562708"/>
          </a:xfrm>
          <a:prstGeom prst="line">
            <a:avLst/>
          </a:prstGeom>
          <a:ln w="9525">
            <a:solidFill>
              <a:srgbClr val="55534F"/>
            </a:solidFill>
          </a:ln>
        </p:spPr>
      </p:cxnSp>
      <p:sp>
        <p:nvSpPr>
          <p:cNvPr id="20" name="Item 04 text"/>
          <p:cNvSpPr txBox="1"/>
          <p:nvPr/>
        </p:nvSpPr>
        <p:spPr>
          <a:xfrm>
            <a:off x="9416562" y="3464169"/>
            <a:ext cx="3033346" cy="844062"/>
          </a:xfrm>
          <a:prstGeom prst="rect">
            <a:avLst/>
          </a:prstGeom>
          <a:noFill/>
        </p:spPr>
        <p:txBody>
          <a:bodyPr wrap="square" lIns="0" tIns="0" rIns="0" bIns="0" anchor="t">
            <a:spAutoFit/>
          </a:bodyPr>
          <a:lstStyle/>
          <a:p>
            <a:pPr algn="l">
              <a:lnSpc>
                <a:spcPts val="1750"/>
              </a:lnSpc>
              <a:spcBef>
                <a:spcPts val="0"/>
              </a:spcBef>
              <a:spcAft>
                <a:spcPts val="0"/>
              </a:spcAft>
            </a:pPr>
            <a:r>
              <a:rPr sz="1500" b="0">
                <a:solidFill>
                  <a:srgbClr val="0E0E0E"/>
                </a:solidFill>
                <a:latin typeface="Arial"/>
                <a:ea typeface="Arial"/>
                <a:cs typeface="Arial"/>
              </a:rPr>
              <a:t>Give the LLM the links to the different pages.</a:t>
            </a:r>
          </a:p>
        </p:txBody>
      </p:sp>
      <p:cxnSp>
        <p:nvCxnSpPr>
          <p:cNvPr id="21" name="Rule 04"/>
          <p:cNvCxnSpPr/>
          <p:nvPr/>
        </p:nvCxnSpPr>
        <p:spPr>
          <a:xfrm>
            <a:off x="8370277" y="4176346"/>
            <a:ext cx="3947746" cy="0"/>
          </a:xfrm>
          <a:prstGeom prst="line">
            <a:avLst/>
          </a:prstGeom>
          <a:ln w="9525">
            <a:solidFill>
              <a:srgbClr val="C4C3BE"/>
            </a:solidFill>
          </a:ln>
        </p:spPr>
      </p:cxnSp>
      <p:sp>
        <p:nvSpPr>
          <p:cNvPr id="22" name="Number 05"/>
          <p:cNvSpPr txBox="1"/>
          <p:nvPr/>
        </p:nvSpPr>
        <p:spPr>
          <a:xfrm>
            <a:off x="8370277" y="4325815"/>
            <a:ext cx="703385" cy="386862"/>
          </a:xfrm>
          <a:prstGeom prst="rect">
            <a:avLst/>
          </a:prstGeom>
          <a:noFill/>
        </p:spPr>
        <p:txBody>
          <a:bodyPr wrap="square" lIns="0" tIns="0" rIns="0" bIns="0" anchor="t">
            <a:spAutoFit/>
          </a:bodyPr>
          <a:lstStyle/>
          <a:p>
            <a:pPr algn="l">
              <a:spcBef>
                <a:spcPts val="0"/>
              </a:spcBef>
              <a:spcAft>
                <a:spcPts val="0"/>
              </a:spcAft>
            </a:pPr>
            <a:r>
              <a:rPr sz="3100" b="0">
                <a:solidFill>
                  <a:srgbClr val="0E0E0E"/>
                </a:solidFill>
                <a:latin typeface="Arial"/>
                <a:ea typeface="Arial"/>
                <a:cs typeface="Arial"/>
              </a:rPr>
              <a:t>05</a:t>
            </a:r>
          </a:p>
        </p:txBody>
      </p:sp>
      <p:cxnSp>
        <p:nvCxnSpPr>
          <p:cNvPr id="23" name="Divider 05"/>
          <p:cNvCxnSpPr/>
          <p:nvPr/>
        </p:nvCxnSpPr>
        <p:spPr>
          <a:xfrm>
            <a:off x="9117623" y="4360985"/>
            <a:ext cx="0" cy="562707"/>
          </a:xfrm>
          <a:prstGeom prst="line">
            <a:avLst/>
          </a:prstGeom>
          <a:ln w="9525">
            <a:solidFill>
              <a:srgbClr val="55534F"/>
            </a:solidFill>
          </a:ln>
        </p:spPr>
      </p:cxnSp>
      <p:sp>
        <p:nvSpPr>
          <p:cNvPr id="24" name="Item 05 text"/>
          <p:cNvSpPr txBox="1"/>
          <p:nvPr/>
        </p:nvSpPr>
        <p:spPr>
          <a:xfrm>
            <a:off x="9416562" y="4308231"/>
            <a:ext cx="3033346" cy="844062"/>
          </a:xfrm>
          <a:prstGeom prst="rect">
            <a:avLst/>
          </a:prstGeom>
          <a:noFill/>
        </p:spPr>
        <p:txBody>
          <a:bodyPr wrap="square" lIns="0" tIns="0" rIns="0" bIns="0" anchor="t">
            <a:spAutoFit/>
          </a:bodyPr>
          <a:lstStyle/>
          <a:p>
            <a:pPr algn="l">
              <a:lnSpc>
                <a:spcPts val="1750"/>
              </a:lnSpc>
              <a:spcBef>
                <a:spcPts val="0"/>
              </a:spcBef>
              <a:spcAft>
                <a:spcPts val="0"/>
              </a:spcAft>
            </a:pPr>
            <a:r>
              <a:rPr sz="1500" b="0">
                <a:solidFill>
                  <a:srgbClr val="0E0E0E"/>
                </a:solidFill>
                <a:latin typeface="Arial"/>
                <a:ea typeface="Arial"/>
                <a:cs typeface="Arial"/>
              </a:rPr>
              <a:t>Build the RAG system and test its retrieval on the benchmark.</a:t>
            </a:r>
          </a:p>
        </p:txBody>
      </p:sp>
      <p:cxnSp>
        <p:nvCxnSpPr>
          <p:cNvPr id="25" name="Rule 05"/>
          <p:cNvCxnSpPr/>
          <p:nvPr/>
        </p:nvCxnSpPr>
        <p:spPr>
          <a:xfrm>
            <a:off x="8370277" y="5020408"/>
            <a:ext cx="3947746" cy="0"/>
          </a:xfrm>
          <a:prstGeom prst="line">
            <a:avLst/>
          </a:prstGeom>
          <a:ln w="9525">
            <a:solidFill>
              <a:srgbClr val="C4C3BE"/>
            </a:solidFill>
          </a:ln>
        </p:spPr>
      </p:cxnSp>
      <p:sp>
        <p:nvSpPr>
          <p:cNvPr id="26" name="Number 06"/>
          <p:cNvSpPr txBox="1"/>
          <p:nvPr/>
        </p:nvSpPr>
        <p:spPr>
          <a:xfrm>
            <a:off x="8370277" y="5169877"/>
            <a:ext cx="703385" cy="386862"/>
          </a:xfrm>
          <a:prstGeom prst="rect">
            <a:avLst/>
          </a:prstGeom>
          <a:noFill/>
        </p:spPr>
        <p:txBody>
          <a:bodyPr wrap="square" lIns="0" tIns="0" rIns="0" bIns="0" anchor="t">
            <a:spAutoFit/>
          </a:bodyPr>
          <a:lstStyle/>
          <a:p>
            <a:pPr algn="l">
              <a:spcBef>
                <a:spcPts val="0"/>
              </a:spcBef>
              <a:spcAft>
                <a:spcPts val="0"/>
              </a:spcAft>
            </a:pPr>
            <a:r>
              <a:rPr sz="3100" b="0">
                <a:solidFill>
                  <a:srgbClr val="0E0E0E"/>
                </a:solidFill>
                <a:latin typeface="Arial"/>
                <a:ea typeface="Arial"/>
                <a:cs typeface="Arial"/>
              </a:rPr>
              <a:t>06</a:t>
            </a:r>
          </a:p>
        </p:txBody>
      </p:sp>
      <p:cxnSp>
        <p:nvCxnSpPr>
          <p:cNvPr id="27" name="Divider 06"/>
          <p:cNvCxnSpPr/>
          <p:nvPr/>
        </p:nvCxnSpPr>
        <p:spPr>
          <a:xfrm>
            <a:off x="9117623" y="5205046"/>
            <a:ext cx="0" cy="562708"/>
          </a:xfrm>
          <a:prstGeom prst="line">
            <a:avLst/>
          </a:prstGeom>
          <a:ln w="9525">
            <a:solidFill>
              <a:srgbClr val="55534F"/>
            </a:solidFill>
          </a:ln>
        </p:spPr>
      </p:cxnSp>
      <p:sp>
        <p:nvSpPr>
          <p:cNvPr id="28" name="Item 06 text"/>
          <p:cNvSpPr txBox="1"/>
          <p:nvPr/>
        </p:nvSpPr>
        <p:spPr>
          <a:xfrm>
            <a:off x="9416562" y="5152292"/>
            <a:ext cx="3033346" cy="844062"/>
          </a:xfrm>
          <a:prstGeom prst="rect">
            <a:avLst/>
          </a:prstGeom>
          <a:noFill/>
        </p:spPr>
        <p:txBody>
          <a:bodyPr wrap="square" lIns="0" tIns="0" rIns="0" bIns="0" anchor="t">
            <a:spAutoFit/>
          </a:bodyPr>
          <a:lstStyle/>
          <a:p>
            <a:pPr algn="l">
              <a:lnSpc>
                <a:spcPts val="1750"/>
              </a:lnSpc>
              <a:spcBef>
                <a:spcPts val="0"/>
              </a:spcBef>
              <a:spcAft>
                <a:spcPts val="0"/>
              </a:spcAft>
            </a:pPr>
            <a:r>
              <a:rPr sz="1500" b="0">
                <a:solidFill>
                  <a:srgbClr val="0E0E0E"/>
                </a:solidFill>
                <a:latin typeface="Arial"/>
                <a:ea typeface="Arial"/>
                <a:cs typeface="Arial"/>
              </a:rPr>
              <a:t>Make the LLM use RAG to generate its answers.</a:t>
            </a:r>
          </a:p>
        </p:txBody>
      </p:sp>
      <p:cxnSp>
        <p:nvCxnSpPr>
          <p:cNvPr id="29" name="Rule 06"/>
          <p:cNvCxnSpPr/>
          <p:nvPr/>
        </p:nvCxnSpPr>
        <p:spPr>
          <a:xfrm>
            <a:off x="8370277" y="5864469"/>
            <a:ext cx="3947746" cy="0"/>
          </a:xfrm>
          <a:prstGeom prst="line">
            <a:avLst/>
          </a:prstGeom>
          <a:ln w="9525">
            <a:solidFill>
              <a:srgbClr val="C4C3BE"/>
            </a:solidFill>
          </a:ln>
        </p:spPr>
      </p:cxnSp>
      <p:sp>
        <p:nvSpPr>
          <p:cNvPr id="30" name="Number 07"/>
          <p:cNvSpPr txBox="1"/>
          <p:nvPr/>
        </p:nvSpPr>
        <p:spPr>
          <a:xfrm>
            <a:off x="8370277" y="6013938"/>
            <a:ext cx="703385" cy="386862"/>
          </a:xfrm>
          <a:prstGeom prst="rect">
            <a:avLst/>
          </a:prstGeom>
          <a:noFill/>
        </p:spPr>
        <p:txBody>
          <a:bodyPr wrap="square" lIns="0" tIns="0" rIns="0" bIns="0" anchor="t">
            <a:spAutoFit/>
          </a:bodyPr>
          <a:lstStyle/>
          <a:p>
            <a:pPr algn="l">
              <a:spcBef>
                <a:spcPts val="0"/>
              </a:spcBef>
              <a:spcAft>
                <a:spcPts val="0"/>
              </a:spcAft>
            </a:pPr>
            <a:r>
              <a:rPr sz="3100" b="0">
                <a:solidFill>
                  <a:srgbClr val="0E0E0E"/>
                </a:solidFill>
                <a:latin typeface="Arial"/>
                <a:ea typeface="Arial"/>
                <a:cs typeface="Arial"/>
              </a:rPr>
              <a:t>07</a:t>
            </a:r>
          </a:p>
        </p:txBody>
      </p:sp>
      <p:cxnSp>
        <p:nvCxnSpPr>
          <p:cNvPr id="31" name="Divider 07"/>
          <p:cNvCxnSpPr/>
          <p:nvPr/>
        </p:nvCxnSpPr>
        <p:spPr>
          <a:xfrm>
            <a:off x="9117623" y="6049108"/>
            <a:ext cx="0" cy="562707"/>
          </a:xfrm>
          <a:prstGeom prst="line">
            <a:avLst/>
          </a:prstGeom>
          <a:ln w="9525">
            <a:solidFill>
              <a:srgbClr val="55534F"/>
            </a:solidFill>
          </a:ln>
        </p:spPr>
      </p:cxnSp>
      <p:sp>
        <p:nvSpPr>
          <p:cNvPr id="32" name="Item 07 text"/>
          <p:cNvSpPr txBox="1"/>
          <p:nvPr/>
        </p:nvSpPr>
        <p:spPr>
          <a:xfrm>
            <a:off x="9416562" y="5996354"/>
            <a:ext cx="3033346" cy="844062"/>
          </a:xfrm>
          <a:prstGeom prst="rect">
            <a:avLst/>
          </a:prstGeom>
          <a:noFill/>
        </p:spPr>
        <p:txBody>
          <a:bodyPr wrap="square" lIns="0" tIns="0" rIns="0" bIns="0" anchor="t">
            <a:spAutoFit/>
          </a:bodyPr>
          <a:lstStyle/>
          <a:p>
            <a:pPr algn="l">
              <a:lnSpc>
                <a:spcPts val="1750"/>
              </a:lnSpc>
              <a:spcBef>
                <a:spcPts val="0"/>
              </a:spcBef>
              <a:spcAft>
                <a:spcPts val="0"/>
              </a:spcAft>
            </a:pPr>
            <a:r>
              <a:rPr sz="1500" b="0">
                <a:solidFill>
                  <a:srgbClr val="0E0E0E"/>
                </a:solidFill>
                <a:latin typeface="Arial"/>
                <a:ea typeface="Arial"/>
                <a:cs typeface="Arial"/>
              </a:rPr>
              <a:t>Set up N-ATLaS for multilingual use, with quantized versions for offline running.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3EE"/>
        </a:solidFill>
        <a:effectLst/>
      </p:bgPr>
    </p:bg>
    <p:spTree>
      <p:nvGrpSpPr>
        <p:cNvPr id="1" name=""/>
        <p:cNvGrpSpPr/>
        <p:nvPr/>
      </p:nvGrpSpPr>
      <p:grpSpPr>
        <a:xfrm>
          <a:off x="0" y="0"/>
          <a:ext cx="0" cy="0"/>
          <a:chOff x="0" y="0"/>
          <a:chExt cx="0" cy="0"/>
        </a:xfrm>
      </p:grpSpPr>
      <p:pic>
        <p:nvPicPr>
          <p:cNvPr id="2" name="Artwork 1" descr="Decorative artwork"/>
          <p:cNvPicPr>
            <a:picLocks noChangeAspect="1"/>
          </p:cNvPicPr>
          <p:nvPr/>
        </p:nvPicPr>
        <p:blipFill>
          <a:blip r:embed="rId2"/>
          <a:stretch>
            <a:fillRect/>
          </a:stretch>
        </p:blipFill>
        <p:spPr>
          <a:xfrm>
            <a:off x="4000500" y="0"/>
            <a:ext cx="2417885" cy="7200900"/>
          </a:xfrm>
          <a:prstGeom prst="rect">
            <a:avLst/>
          </a:prstGeom>
        </p:spPr>
      </p:pic>
      <p:sp>
        <p:nvSpPr>
          <p:cNvPr id="3" name="Title"/>
          <p:cNvSpPr txBox="1"/>
          <p:nvPr/>
        </p:nvSpPr>
        <p:spPr>
          <a:xfrm>
            <a:off x="422031" y="1450731"/>
            <a:ext cx="3692769" cy="3868615"/>
          </a:xfrm>
          <a:prstGeom prst="rect">
            <a:avLst/>
          </a:prstGeom>
          <a:noFill/>
        </p:spPr>
        <p:txBody>
          <a:bodyPr wrap="square" lIns="0" tIns="0" rIns="0" bIns="0" anchor="t">
            <a:spAutoFit/>
          </a:bodyPr>
          <a:lstStyle/>
          <a:p>
            <a:pPr algn="l">
              <a:lnSpc>
                <a:spcPts val="7200"/>
              </a:lnSpc>
              <a:spcBef>
                <a:spcPts val="0"/>
              </a:spcBef>
              <a:spcAft>
                <a:spcPts val="0"/>
              </a:spcAft>
            </a:pPr>
            <a:r>
              <a:rPr sz="7000" b="0">
                <a:solidFill>
                  <a:srgbClr val="0E0E0E"/>
                </a:solidFill>
                <a:latin typeface="Impact"/>
                <a:ea typeface="Impact"/>
                <a:cs typeface="Impact"/>
              </a:rPr>
              <a:t>What</a:t>
            </a:r>
          </a:p>
          <a:p>
            <a:pPr algn="l">
              <a:lnSpc>
                <a:spcPts val="7200"/>
              </a:lnSpc>
              <a:spcBef>
                <a:spcPts val="0"/>
              </a:spcBef>
              <a:spcAft>
                <a:spcPts val="0"/>
              </a:spcAft>
            </a:pPr>
            <a:r>
              <a:rPr sz="7000" b="0">
                <a:solidFill>
                  <a:srgbClr val="0E0E0E"/>
                </a:solidFill>
                <a:latin typeface="Impact"/>
                <a:ea typeface="Impact"/>
                <a:cs typeface="Impact"/>
              </a:rPr>
              <a:t>Changed</a:t>
            </a:r>
          </a:p>
          <a:p>
            <a:pPr algn="l">
              <a:lnSpc>
                <a:spcPts val="7200"/>
              </a:lnSpc>
              <a:spcBef>
                <a:spcPts val="0"/>
              </a:spcBef>
              <a:spcAft>
                <a:spcPts val="0"/>
              </a:spcAft>
            </a:pPr>
            <a:r>
              <a:rPr sz="7000" b="0">
                <a:solidFill>
                  <a:srgbClr val="0E0E0E"/>
                </a:solidFill>
                <a:latin typeface="Impact"/>
                <a:ea typeface="Impact"/>
                <a:cs typeface="Impact"/>
              </a:rPr>
              <a:t>From 1.0</a:t>
            </a:r>
          </a:p>
          <a:p>
            <a:pPr algn="l">
              <a:lnSpc>
                <a:spcPts val="7200"/>
              </a:lnSpc>
              <a:spcBef>
                <a:spcPts val="0"/>
              </a:spcBef>
              <a:spcAft>
                <a:spcPts val="0"/>
              </a:spcAft>
            </a:pPr>
            <a:r>
              <a:rPr sz="7000" b="0">
                <a:solidFill>
                  <a:srgbClr val="7A7873"/>
                </a:solidFill>
                <a:latin typeface="Impact"/>
                <a:ea typeface="Impact"/>
                <a:cs typeface="Impact"/>
              </a:rPr>
              <a:t>To 2.0?</a:t>
            </a:r>
          </a:p>
        </p:txBody>
      </p:sp>
      <p:cxnSp>
        <p:nvCxnSpPr>
          <p:cNvPr id="4" name="Rule"/>
          <p:cNvCxnSpPr/>
          <p:nvPr/>
        </p:nvCxnSpPr>
        <p:spPr>
          <a:xfrm>
            <a:off x="439615" y="5389685"/>
            <a:ext cx="413239" cy="0"/>
          </a:xfrm>
          <a:prstGeom prst="line">
            <a:avLst/>
          </a:prstGeom>
          <a:ln w="19050">
            <a:solidFill>
              <a:srgbClr val="0E0E0E"/>
            </a:solidFill>
          </a:ln>
        </p:spPr>
      </p:cxnSp>
      <p:sp>
        <p:nvSpPr>
          <p:cNvPr id="5" name="Number 01"/>
          <p:cNvSpPr txBox="1"/>
          <p:nvPr/>
        </p:nvSpPr>
        <p:spPr>
          <a:xfrm>
            <a:off x="6814038" y="597877"/>
            <a:ext cx="703385" cy="386862"/>
          </a:xfrm>
          <a:prstGeom prst="rect">
            <a:avLst/>
          </a:prstGeom>
          <a:noFill/>
        </p:spPr>
        <p:txBody>
          <a:bodyPr wrap="square" lIns="0" tIns="0" rIns="0" bIns="0" anchor="t">
            <a:spAutoFit/>
          </a:bodyPr>
          <a:lstStyle/>
          <a:p>
            <a:pPr algn="l">
              <a:spcBef>
                <a:spcPts val="0"/>
              </a:spcBef>
              <a:spcAft>
                <a:spcPts val="0"/>
              </a:spcAft>
            </a:pPr>
            <a:r>
              <a:rPr sz="3300" b="0">
                <a:solidFill>
                  <a:srgbClr val="0E0E0E"/>
                </a:solidFill>
                <a:latin typeface="Arial"/>
                <a:ea typeface="Arial"/>
                <a:cs typeface="Arial"/>
              </a:rPr>
              <a:t>01</a:t>
            </a:r>
          </a:p>
        </p:txBody>
      </p:sp>
      <p:cxnSp>
        <p:nvCxnSpPr>
          <p:cNvPr id="6" name="Divider 01"/>
          <p:cNvCxnSpPr/>
          <p:nvPr/>
        </p:nvCxnSpPr>
        <p:spPr>
          <a:xfrm>
            <a:off x="7570177" y="597877"/>
            <a:ext cx="0" cy="703385"/>
          </a:xfrm>
          <a:prstGeom prst="line">
            <a:avLst/>
          </a:prstGeom>
          <a:ln w="9525">
            <a:solidFill>
              <a:srgbClr val="55534F"/>
            </a:solidFill>
          </a:ln>
        </p:spPr>
      </p:cxnSp>
      <p:sp>
        <p:nvSpPr>
          <p:cNvPr id="7" name="Item 01 text"/>
          <p:cNvSpPr txBox="1"/>
          <p:nvPr/>
        </p:nvSpPr>
        <p:spPr>
          <a:xfrm>
            <a:off x="7921869" y="545123"/>
            <a:ext cx="4572000" cy="984738"/>
          </a:xfrm>
          <a:prstGeom prst="rect">
            <a:avLst/>
          </a:prstGeom>
          <a:noFill/>
        </p:spPr>
        <p:txBody>
          <a:bodyPr wrap="square" lIns="0" tIns="0" rIns="0" bIns="0" anchor="t">
            <a:spAutoFit/>
          </a:bodyPr>
          <a:lstStyle/>
          <a:p>
            <a:pPr algn="l">
              <a:lnSpc>
                <a:spcPts val="1880"/>
              </a:lnSpc>
              <a:spcBef>
                <a:spcPts val="0"/>
              </a:spcBef>
              <a:spcAft>
                <a:spcPts val="0"/>
              </a:spcAft>
            </a:pPr>
            <a:r>
              <a:rPr sz="1550" b="1">
                <a:solidFill>
                  <a:srgbClr val="0E0E0E"/>
                </a:solidFill>
                <a:latin typeface="Arial"/>
                <a:ea typeface="Arial"/>
                <a:cs typeface="Arial"/>
              </a:rPr>
              <a:t>Routing:</a:t>
            </a:r>
            <a:r>
              <a:rPr sz="1550" b="0">
                <a:solidFill>
                  <a:srgbClr val="0E0E0E"/>
                </a:solidFill>
                <a:latin typeface="Arial"/>
                <a:ea typeface="Arial"/>
                <a:cs typeface="Arial"/>
              </a:rPr>
              <a:t> keyword matching was replaced by an LLM router that returns structured JSON and detects the user's language.</a:t>
            </a:r>
          </a:p>
        </p:txBody>
      </p:sp>
      <p:cxnSp>
        <p:nvCxnSpPr>
          <p:cNvPr id="8" name="Rule 01"/>
          <p:cNvCxnSpPr/>
          <p:nvPr/>
        </p:nvCxnSpPr>
        <p:spPr>
          <a:xfrm>
            <a:off x="6814038" y="1389185"/>
            <a:ext cx="5662247" cy="0"/>
          </a:xfrm>
          <a:prstGeom prst="line">
            <a:avLst/>
          </a:prstGeom>
          <a:ln w="9525">
            <a:solidFill>
              <a:srgbClr val="C4C3BE"/>
            </a:solidFill>
          </a:ln>
        </p:spPr>
      </p:cxnSp>
      <p:sp>
        <p:nvSpPr>
          <p:cNvPr id="9" name="Number 02"/>
          <p:cNvSpPr txBox="1"/>
          <p:nvPr/>
        </p:nvSpPr>
        <p:spPr>
          <a:xfrm>
            <a:off x="6814038" y="1565031"/>
            <a:ext cx="703385" cy="386862"/>
          </a:xfrm>
          <a:prstGeom prst="rect">
            <a:avLst/>
          </a:prstGeom>
          <a:noFill/>
        </p:spPr>
        <p:txBody>
          <a:bodyPr wrap="square" lIns="0" tIns="0" rIns="0" bIns="0" anchor="t">
            <a:spAutoFit/>
          </a:bodyPr>
          <a:lstStyle/>
          <a:p>
            <a:pPr algn="l">
              <a:spcBef>
                <a:spcPts val="0"/>
              </a:spcBef>
              <a:spcAft>
                <a:spcPts val="0"/>
              </a:spcAft>
            </a:pPr>
            <a:r>
              <a:rPr sz="3300" b="0">
                <a:solidFill>
                  <a:srgbClr val="0E0E0E"/>
                </a:solidFill>
                <a:latin typeface="Arial"/>
                <a:ea typeface="Arial"/>
                <a:cs typeface="Arial"/>
              </a:rPr>
              <a:t>02</a:t>
            </a:r>
          </a:p>
        </p:txBody>
      </p:sp>
      <p:cxnSp>
        <p:nvCxnSpPr>
          <p:cNvPr id="10" name="Divider 02"/>
          <p:cNvCxnSpPr/>
          <p:nvPr/>
        </p:nvCxnSpPr>
        <p:spPr>
          <a:xfrm>
            <a:off x="7570177" y="1565031"/>
            <a:ext cx="0" cy="756138"/>
          </a:xfrm>
          <a:prstGeom prst="line">
            <a:avLst/>
          </a:prstGeom>
          <a:ln w="9525">
            <a:solidFill>
              <a:srgbClr val="55534F"/>
            </a:solidFill>
          </a:ln>
        </p:spPr>
      </p:cxnSp>
      <p:sp>
        <p:nvSpPr>
          <p:cNvPr id="11" name="Item 02 text"/>
          <p:cNvSpPr txBox="1"/>
          <p:nvPr/>
        </p:nvSpPr>
        <p:spPr>
          <a:xfrm>
            <a:off x="7921869" y="1512277"/>
            <a:ext cx="4572000" cy="1037492"/>
          </a:xfrm>
          <a:prstGeom prst="rect">
            <a:avLst/>
          </a:prstGeom>
          <a:noFill/>
        </p:spPr>
        <p:txBody>
          <a:bodyPr wrap="square" lIns="0" tIns="0" rIns="0" bIns="0" anchor="t">
            <a:spAutoFit/>
          </a:bodyPr>
          <a:lstStyle/>
          <a:p>
            <a:pPr algn="l">
              <a:lnSpc>
                <a:spcPts val="1880"/>
              </a:lnSpc>
              <a:spcBef>
                <a:spcPts val="0"/>
              </a:spcBef>
              <a:spcAft>
                <a:spcPts val="0"/>
              </a:spcAft>
            </a:pPr>
            <a:r>
              <a:rPr sz="1550" b="1">
                <a:solidFill>
                  <a:srgbClr val="0E0E0E"/>
                </a:solidFill>
                <a:latin typeface="Arial"/>
                <a:ea typeface="Arial"/>
                <a:cs typeface="Arial"/>
              </a:rPr>
              <a:t>Benchmark:</a:t>
            </a:r>
            <a:r>
              <a:rPr sz="1550" b="0">
                <a:solidFill>
                  <a:srgbClr val="0E0E0E"/>
                </a:solidFill>
                <a:latin typeface="Arial"/>
                <a:ea typeface="Arial"/>
                <a:cs typeface="Arial"/>
              </a:rPr>
              <a:t> 28 developer-written questions became 76 manual-grounded ones, with expected tools, facts, sources and four Nigerian languages.</a:t>
            </a:r>
          </a:p>
        </p:txBody>
      </p:sp>
      <p:cxnSp>
        <p:nvCxnSpPr>
          <p:cNvPr id="12" name="Rule 02"/>
          <p:cNvCxnSpPr/>
          <p:nvPr/>
        </p:nvCxnSpPr>
        <p:spPr>
          <a:xfrm>
            <a:off x="6814038" y="2382715"/>
            <a:ext cx="5662247" cy="0"/>
          </a:xfrm>
          <a:prstGeom prst="line">
            <a:avLst/>
          </a:prstGeom>
          <a:ln w="9525">
            <a:solidFill>
              <a:srgbClr val="C4C3BE"/>
            </a:solidFill>
          </a:ln>
        </p:spPr>
      </p:cxnSp>
      <p:sp>
        <p:nvSpPr>
          <p:cNvPr id="13" name="Number 03"/>
          <p:cNvSpPr txBox="1"/>
          <p:nvPr/>
        </p:nvSpPr>
        <p:spPr>
          <a:xfrm>
            <a:off x="6814038" y="2558562"/>
            <a:ext cx="703385" cy="386862"/>
          </a:xfrm>
          <a:prstGeom prst="rect">
            <a:avLst/>
          </a:prstGeom>
          <a:noFill/>
        </p:spPr>
        <p:txBody>
          <a:bodyPr wrap="square" lIns="0" tIns="0" rIns="0" bIns="0" anchor="t">
            <a:spAutoFit/>
          </a:bodyPr>
          <a:lstStyle/>
          <a:p>
            <a:pPr algn="l">
              <a:spcBef>
                <a:spcPts val="0"/>
              </a:spcBef>
              <a:spcAft>
                <a:spcPts val="0"/>
              </a:spcAft>
            </a:pPr>
            <a:r>
              <a:rPr sz="3300" b="0">
                <a:solidFill>
                  <a:srgbClr val="0E0E0E"/>
                </a:solidFill>
                <a:latin typeface="Arial"/>
                <a:ea typeface="Arial"/>
                <a:cs typeface="Arial"/>
              </a:rPr>
              <a:t>03</a:t>
            </a:r>
          </a:p>
        </p:txBody>
      </p:sp>
      <p:cxnSp>
        <p:nvCxnSpPr>
          <p:cNvPr id="14" name="Divider 03"/>
          <p:cNvCxnSpPr/>
          <p:nvPr/>
        </p:nvCxnSpPr>
        <p:spPr>
          <a:xfrm>
            <a:off x="7570177" y="2558562"/>
            <a:ext cx="0" cy="756138"/>
          </a:xfrm>
          <a:prstGeom prst="line">
            <a:avLst/>
          </a:prstGeom>
          <a:ln w="9525">
            <a:solidFill>
              <a:srgbClr val="55534F"/>
            </a:solidFill>
          </a:ln>
        </p:spPr>
      </p:cxnSp>
      <p:sp>
        <p:nvSpPr>
          <p:cNvPr id="15" name="Item 03 text"/>
          <p:cNvSpPr txBox="1"/>
          <p:nvPr/>
        </p:nvSpPr>
        <p:spPr>
          <a:xfrm>
            <a:off x="7921869" y="2505808"/>
            <a:ext cx="4572000" cy="1037492"/>
          </a:xfrm>
          <a:prstGeom prst="rect">
            <a:avLst/>
          </a:prstGeom>
          <a:noFill/>
        </p:spPr>
        <p:txBody>
          <a:bodyPr wrap="square" lIns="0" tIns="0" rIns="0" bIns="0" anchor="t">
            <a:spAutoFit/>
          </a:bodyPr>
          <a:lstStyle/>
          <a:p>
            <a:pPr algn="l">
              <a:lnSpc>
                <a:spcPts val="1880"/>
              </a:lnSpc>
              <a:spcBef>
                <a:spcPts val="0"/>
              </a:spcBef>
              <a:spcAft>
                <a:spcPts val="0"/>
              </a:spcAft>
            </a:pPr>
            <a:r>
              <a:rPr sz="1550" b="1">
                <a:solidFill>
                  <a:srgbClr val="0E0E0E"/>
                </a:solidFill>
                <a:latin typeface="Arial"/>
                <a:ea typeface="Arial"/>
                <a:cs typeface="Arial"/>
              </a:rPr>
              <a:t>Less hard-coding:</a:t>
            </a:r>
            <a:r>
              <a:rPr sz="1550" b="0">
                <a:solidFill>
                  <a:srgbClr val="0E0E0E"/>
                </a:solidFill>
                <a:latin typeface="Arial"/>
                <a:ea typeface="Arial"/>
                <a:cs typeface="Arial"/>
              </a:rPr>
              <a:t> links and the 10 real onboarding steps now live in data files. The old invented steps were removed.</a:t>
            </a:r>
          </a:p>
        </p:txBody>
      </p:sp>
      <p:cxnSp>
        <p:nvCxnSpPr>
          <p:cNvPr id="16" name="Rule 03"/>
          <p:cNvCxnSpPr/>
          <p:nvPr/>
        </p:nvCxnSpPr>
        <p:spPr>
          <a:xfrm>
            <a:off x="6814038" y="3376246"/>
            <a:ext cx="5662247" cy="0"/>
          </a:xfrm>
          <a:prstGeom prst="line">
            <a:avLst/>
          </a:prstGeom>
          <a:ln w="9525">
            <a:solidFill>
              <a:srgbClr val="C4C3BE"/>
            </a:solidFill>
          </a:ln>
        </p:spPr>
      </p:cxnSp>
      <p:sp>
        <p:nvSpPr>
          <p:cNvPr id="17" name="Number 04"/>
          <p:cNvSpPr txBox="1"/>
          <p:nvPr/>
        </p:nvSpPr>
        <p:spPr>
          <a:xfrm>
            <a:off x="6814038" y="3543300"/>
            <a:ext cx="703385" cy="386862"/>
          </a:xfrm>
          <a:prstGeom prst="rect">
            <a:avLst/>
          </a:prstGeom>
          <a:noFill/>
        </p:spPr>
        <p:txBody>
          <a:bodyPr wrap="square" lIns="0" tIns="0" rIns="0" bIns="0" anchor="t">
            <a:spAutoFit/>
          </a:bodyPr>
          <a:lstStyle/>
          <a:p>
            <a:pPr algn="l">
              <a:spcBef>
                <a:spcPts val="0"/>
              </a:spcBef>
              <a:spcAft>
                <a:spcPts val="0"/>
              </a:spcAft>
            </a:pPr>
            <a:r>
              <a:rPr sz="3300" b="0">
                <a:solidFill>
                  <a:srgbClr val="0E0E0E"/>
                </a:solidFill>
                <a:latin typeface="Arial"/>
                <a:ea typeface="Arial"/>
                <a:cs typeface="Arial"/>
              </a:rPr>
              <a:t>04</a:t>
            </a:r>
          </a:p>
        </p:txBody>
      </p:sp>
      <p:cxnSp>
        <p:nvCxnSpPr>
          <p:cNvPr id="18" name="Divider 04"/>
          <p:cNvCxnSpPr/>
          <p:nvPr/>
        </p:nvCxnSpPr>
        <p:spPr>
          <a:xfrm>
            <a:off x="7570177" y="3543300"/>
            <a:ext cx="0" cy="562708"/>
          </a:xfrm>
          <a:prstGeom prst="line">
            <a:avLst/>
          </a:prstGeom>
          <a:ln w="9525">
            <a:solidFill>
              <a:srgbClr val="55534F"/>
            </a:solidFill>
          </a:ln>
        </p:spPr>
      </p:cxnSp>
      <p:sp>
        <p:nvSpPr>
          <p:cNvPr id="19" name="Item 04 text"/>
          <p:cNvSpPr txBox="1"/>
          <p:nvPr/>
        </p:nvSpPr>
        <p:spPr>
          <a:xfrm>
            <a:off x="7921869" y="3490546"/>
            <a:ext cx="4572000" cy="844062"/>
          </a:xfrm>
          <a:prstGeom prst="rect">
            <a:avLst/>
          </a:prstGeom>
          <a:noFill/>
        </p:spPr>
        <p:txBody>
          <a:bodyPr wrap="square" lIns="0" tIns="0" rIns="0" bIns="0" anchor="t">
            <a:spAutoFit/>
          </a:bodyPr>
          <a:lstStyle/>
          <a:p>
            <a:pPr algn="l">
              <a:lnSpc>
                <a:spcPts val="1880"/>
              </a:lnSpc>
              <a:spcBef>
                <a:spcPts val="0"/>
              </a:spcBef>
              <a:spcAft>
                <a:spcPts val="0"/>
              </a:spcAft>
            </a:pPr>
            <a:r>
              <a:rPr sz="1550" b="1">
                <a:solidFill>
                  <a:srgbClr val="0E0E0E"/>
                </a:solidFill>
                <a:latin typeface="Arial"/>
                <a:ea typeface="Arial"/>
                <a:cs typeface="Arial"/>
              </a:rPr>
              <a:t>Page links:</a:t>
            </a:r>
            <a:r>
              <a:rPr sz="1550" b="0">
                <a:solidFill>
                  <a:srgbClr val="0E0E0E"/>
                </a:solidFill>
                <a:latin typeface="Arial"/>
                <a:ea typeface="Arial"/>
                <a:cs typeface="Arial"/>
              </a:rPr>
              <a:t> every page link is given to the LLM, and a guardrail blocks invented URLs.</a:t>
            </a:r>
          </a:p>
        </p:txBody>
      </p:sp>
      <p:cxnSp>
        <p:nvCxnSpPr>
          <p:cNvPr id="20" name="Rule 04"/>
          <p:cNvCxnSpPr/>
          <p:nvPr/>
        </p:nvCxnSpPr>
        <p:spPr>
          <a:xfrm>
            <a:off x="6814038" y="4185138"/>
            <a:ext cx="5662247" cy="0"/>
          </a:xfrm>
          <a:prstGeom prst="line">
            <a:avLst/>
          </a:prstGeom>
          <a:ln w="9525">
            <a:solidFill>
              <a:srgbClr val="C4C3BE"/>
            </a:solidFill>
          </a:ln>
        </p:spPr>
      </p:cxnSp>
      <p:sp>
        <p:nvSpPr>
          <p:cNvPr id="21" name="Number 05"/>
          <p:cNvSpPr txBox="1"/>
          <p:nvPr/>
        </p:nvSpPr>
        <p:spPr>
          <a:xfrm>
            <a:off x="6814038" y="4378569"/>
            <a:ext cx="703385" cy="386862"/>
          </a:xfrm>
          <a:prstGeom prst="rect">
            <a:avLst/>
          </a:prstGeom>
          <a:noFill/>
        </p:spPr>
        <p:txBody>
          <a:bodyPr wrap="square" lIns="0" tIns="0" rIns="0" bIns="0" anchor="t">
            <a:spAutoFit/>
          </a:bodyPr>
          <a:lstStyle/>
          <a:p>
            <a:pPr algn="l">
              <a:spcBef>
                <a:spcPts val="0"/>
              </a:spcBef>
              <a:spcAft>
                <a:spcPts val="0"/>
              </a:spcAft>
            </a:pPr>
            <a:r>
              <a:rPr sz="3300" b="0">
                <a:solidFill>
                  <a:srgbClr val="0E0E0E"/>
                </a:solidFill>
                <a:latin typeface="Arial"/>
                <a:ea typeface="Arial"/>
                <a:cs typeface="Arial"/>
              </a:rPr>
              <a:t>05</a:t>
            </a:r>
          </a:p>
        </p:txBody>
      </p:sp>
      <p:cxnSp>
        <p:nvCxnSpPr>
          <p:cNvPr id="22" name="Divider 05"/>
          <p:cNvCxnSpPr/>
          <p:nvPr/>
        </p:nvCxnSpPr>
        <p:spPr>
          <a:xfrm>
            <a:off x="7570177" y="4378569"/>
            <a:ext cx="0" cy="756139"/>
          </a:xfrm>
          <a:prstGeom prst="line">
            <a:avLst/>
          </a:prstGeom>
          <a:ln w="9525">
            <a:solidFill>
              <a:srgbClr val="55534F"/>
            </a:solidFill>
          </a:ln>
        </p:spPr>
      </p:cxnSp>
      <p:sp>
        <p:nvSpPr>
          <p:cNvPr id="23" name="Item 05 text"/>
          <p:cNvSpPr txBox="1"/>
          <p:nvPr/>
        </p:nvSpPr>
        <p:spPr>
          <a:xfrm>
            <a:off x="7921869" y="4325815"/>
            <a:ext cx="4572000" cy="1037492"/>
          </a:xfrm>
          <a:prstGeom prst="rect">
            <a:avLst/>
          </a:prstGeom>
          <a:noFill/>
        </p:spPr>
        <p:txBody>
          <a:bodyPr wrap="square" lIns="0" tIns="0" rIns="0" bIns="0" anchor="t">
            <a:spAutoFit/>
          </a:bodyPr>
          <a:lstStyle/>
          <a:p>
            <a:pPr algn="l">
              <a:lnSpc>
                <a:spcPts val="1880"/>
              </a:lnSpc>
              <a:spcBef>
                <a:spcPts val="0"/>
              </a:spcBef>
              <a:spcAft>
                <a:spcPts val="0"/>
              </a:spcAft>
            </a:pPr>
            <a:r>
              <a:rPr sz="1550" b="1">
                <a:solidFill>
                  <a:srgbClr val="0E0E0E"/>
                </a:solidFill>
                <a:latin typeface="Arial"/>
                <a:ea typeface="Arial"/>
                <a:cs typeface="Arial"/>
              </a:rPr>
              <a:t>Retrieval:</a:t>
            </a:r>
            <a:r>
              <a:rPr sz="1550" b="0">
                <a:solidFill>
                  <a:srgbClr val="0E0E0E"/>
                </a:solidFill>
                <a:latin typeface="Arial"/>
                <a:ea typeface="Arial"/>
                <a:cs typeface="Arial"/>
              </a:rPr>
              <a:t> a hybrid retriever with a saved index replaced the FAISS retriever that re-ran OCR on every start. It has its own evaluation.</a:t>
            </a:r>
          </a:p>
        </p:txBody>
      </p:sp>
      <p:cxnSp>
        <p:nvCxnSpPr>
          <p:cNvPr id="24" name="Rule 05"/>
          <p:cNvCxnSpPr/>
          <p:nvPr/>
        </p:nvCxnSpPr>
        <p:spPr>
          <a:xfrm>
            <a:off x="6814038" y="5231423"/>
            <a:ext cx="5662247" cy="0"/>
          </a:xfrm>
          <a:prstGeom prst="line">
            <a:avLst/>
          </a:prstGeom>
          <a:ln w="9525">
            <a:solidFill>
              <a:srgbClr val="C4C3BE"/>
            </a:solidFill>
          </a:ln>
        </p:spPr>
      </p:cxnSp>
      <p:sp>
        <p:nvSpPr>
          <p:cNvPr id="25" name="Number 06"/>
          <p:cNvSpPr txBox="1"/>
          <p:nvPr/>
        </p:nvSpPr>
        <p:spPr>
          <a:xfrm>
            <a:off x="6814038" y="5416062"/>
            <a:ext cx="703385" cy="386862"/>
          </a:xfrm>
          <a:prstGeom prst="rect">
            <a:avLst/>
          </a:prstGeom>
          <a:noFill/>
        </p:spPr>
        <p:txBody>
          <a:bodyPr wrap="square" lIns="0" tIns="0" rIns="0" bIns="0" anchor="t">
            <a:spAutoFit/>
          </a:bodyPr>
          <a:lstStyle/>
          <a:p>
            <a:pPr algn="l">
              <a:spcBef>
                <a:spcPts val="0"/>
              </a:spcBef>
              <a:spcAft>
                <a:spcPts val="0"/>
              </a:spcAft>
            </a:pPr>
            <a:r>
              <a:rPr sz="3300" b="0">
                <a:solidFill>
                  <a:srgbClr val="0E0E0E"/>
                </a:solidFill>
                <a:latin typeface="Arial"/>
                <a:ea typeface="Arial"/>
                <a:cs typeface="Arial"/>
              </a:rPr>
              <a:t>06</a:t>
            </a:r>
          </a:p>
        </p:txBody>
      </p:sp>
      <p:cxnSp>
        <p:nvCxnSpPr>
          <p:cNvPr id="26" name="Divider 06"/>
          <p:cNvCxnSpPr/>
          <p:nvPr/>
        </p:nvCxnSpPr>
        <p:spPr>
          <a:xfrm>
            <a:off x="7570177" y="5416062"/>
            <a:ext cx="0" cy="439615"/>
          </a:xfrm>
          <a:prstGeom prst="line">
            <a:avLst/>
          </a:prstGeom>
          <a:ln w="9525">
            <a:solidFill>
              <a:srgbClr val="55534F"/>
            </a:solidFill>
          </a:ln>
        </p:spPr>
      </p:cxnSp>
      <p:sp>
        <p:nvSpPr>
          <p:cNvPr id="27" name="Item 06 text"/>
          <p:cNvSpPr txBox="1"/>
          <p:nvPr/>
        </p:nvSpPr>
        <p:spPr>
          <a:xfrm>
            <a:off x="7921869" y="5363308"/>
            <a:ext cx="4572000" cy="720969"/>
          </a:xfrm>
          <a:prstGeom prst="rect">
            <a:avLst/>
          </a:prstGeom>
          <a:noFill/>
        </p:spPr>
        <p:txBody>
          <a:bodyPr wrap="square" lIns="0" tIns="0" rIns="0" bIns="0" anchor="t">
            <a:spAutoFit/>
          </a:bodyPr>
          <a:lstStyle/>
          <a:p>
            <a:pPr algn="l">
              <a:lnSpc>
                <a:spcPts val="1880"/>
              </a:lnSpc>
              <a:spcBef>
                <a:spcPts val="0"/>
              </a:spcBef>
              <a:spcAft>
                <a:spcPts val="0"/>
              </a:spcAft>
            </a:pPr>
            <a:r>
              <a:rPr sz="1550" b="1">
                <a:solidFill>
                  <a:srgbClr val="0E0E0E"/>
                </a:solidFill>
                <a:latin typeface="Arial"/>
                <a:ea typeface="Arial"/>
                <a:cs typeface="Arial"/>
              </a:rPr>
              <a:t>RAG output:</a:t>
            </a:r>
            <a:r>
              <a:rPr sz="1550" b="0">
                <a:solidFill>
                  <a:srgbClr val="0E0E0E"/>
                </a:solidFill>
                <a:latin typeface="Arial"/>
                <a:ea typeface="Arial"/>
                <a:cs typeface="Arial"/>
              </a:rPr>
              <a:t> all answers are now written by the LLM from retrieved context.</a:t>
            </a:r>
          </a:p>
        </p:txBody>
      </p:sp>
      <p:cxnSp>
        <p:nvCxnSpPr>
          <p:cNvPr id="28" name="Rule 06"/>
          <p:cNvCxnSpPr/>
          <p:nvPr/>
        </p:nvCxnSpPr>
        <p:spPr>
          <a:xfrm>
            <a:off x="6814038" y="6022731"/>
            <a:ext cx="5662247" cy="0"/>
          </a:xfrm>
          <a:prstGeom prst="line">
            <a:avLst/>
          </a:prstGeom>
          <a:ln w="9525">
            <a:solidFill>
              <a:srgbClr val="C4C3BE"/>
            </a:solidFill>
          </a:ln>
        </p:spPr>
      </p:cxnSp>
      <p:sp>
        <p:nvSpPr>
          <p:cNvPr id="29" name="Number 07"/>
          <p:cNvSpPr txBox="1"/>
          <p:nvPr/>
        </p:nvSpPr>
        <p:spPr>
          <a:xfrm>
            <a:off x="6814038" y="6207369"/>
            <a:ext cx="703385" cy="386862"/>
          </a:xfrm>
          <a:prstGeom prst="rect">
            <a:avLst/>
          </a:prstGeom>
          <a:noFill/>
        </p:spPr>
        <p:txBody>
          <a:bodyPr wrap="square" lIns="0" tIns="0" rIns="0" bIns="0" anchor="t">
            <a:spAutoFit/>
          </a:bodyPr>
          <a:lstStyle/>
          <a:p>
            <a:pPr algn="l">
              <a:spcBef>
                <a:spcPts val="0"/>
              </a:spcBef>
              <a:spcAft>
                <a:spcPts val="0"/>
              </a:spcAft>
            </a:pPr>
            <a:r>
              <a:rPr sz="3300" b="0">
                <a:solidFill>
                  <a:srgbClr val="0E0E0E"/>
                </a:solidFill>
                <a:latin typeface="Arial"/>
                <a:ea typeface="Arial"/>
                <a:cs typeface="Arial"/>
              </a:rPr>
              <a:t>07</a:t>
            </a:r>
          </a:p>
        </p:txBody>
      </p:sp>
      <p:cxnSp>
        <p:nvCxnSpPr>
          <p:cNvPr id="30" name="Divider 07"/>
          <p:cNvCxnSpPr/>
          <p:nvPr/>
        </p:nvCxnSpPr>
        <p:spPr>
          <a:xfrm>
            <a:off x="7570177" y="6207369"/>
            <a:ext cx="0" cy="756139"/>
          </a:xfrm>
          <a:prstGeom prst="line">
            <a:avLst/>
          </a:prstGeom>
          <a:ln w="9525">
            <a:solidFill>
              <a:srgbClr val="55534F"/>
            </a:solidFill>
          </a:ln>
        </p:spPr>
      </p:cxnSp>
      <p:sp>
        <p:nvSpPr>
          <p:cNvPr id="31" name="Item 07 text"/>
          <p:cNvSpPr txBox="1"/>
          <p:nvPr/>
        </p:nvSpPr>
        <p:spPr>
          <a:xfrm>
            <a:off x="7921869" y="6154615"/>
            <a:ext cx="4572000" cy="1037492"/>
          </a:xfrm>
          <a:prstGeom prst="rect">
            <a:avLst/>
          </a:prstGeom>
          <a:noFill/>
        </p:spPr>
        <p:txBody>
          <a:bodyPr wrap="square" lIns="0" tIns="0" rIns="0" bIns="0" anchor="t">
            <a:spAutoFit/>
          </a:bodyPr>
          <a:lstStyle/>
          <a:p>
            <a:pPr algn="l">
              <a:lnSpc>
                <a:spcPts val="1880"/>
              </a:lnSpc>
              <a:spcBef>
                <a:spcPts val="0"/>
              </a:spcBef>
              <a:spcAft>
                <a:spcPts val="0"/>
              </a:spcAft>
            </a:pPr>
            <a:r>
              <a:rPr sz="1550" b="1">
                <a:solidFill>
                  <a:srgbClr val="0E0E0E"/>
                </a:solidFill>
                <a:latin typeface="Arial"/>
                <a:ea typeface="Arial"/>
                <a:cs typeface="Arial"/>
              </a:rPr>
              <a:t>N-ATLaS:</a:t>
            </a:r>
            <a:r>
              <a:rPr sz="1550" b="0">
                <a:solidFill>
                  <a:srgbClr val="0E0E0E"/>
                </a:solidFill>
                <a:latin typeface="Arial"/>
                <a:ea typeface="Arial"/>
                <a:cs typeface="Arial"/>
              </a:rPr>
              <a:t> added for Hausa, Yorùbá and Igbo, with a quantized build (about 4.9 GB). Llama stays the default.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3EE"/>
        </a:solidFill>
        <a:effectLst/>
      </p:bgPr>
    </p:bg>
    <p:spTree>
      <p:nvGrpSpPr>
        <p:cNvPr id="1" name=""/>
        <p:cNvGrpSpPr/>
        <p:nvPr/>
      </p:nvGrpSpPr>
      <p:grpSpPr>
        <a:xfrm>
          <a:off x="0" y="0"/>
          <a:ext cx="0" cy="0"/>
          <a:chOff x="0" y="0"/>
          <a:chExt cx="0" cy="0"/>
        </a:xfrm>
      </p:grpSpPr>
      <p:pic>
        <p:nvPicPr>
          <p:cNvPr id="2" name="Artwork 1" descr="Decorative artwork"/>
          <p:cNvPicPr>
            <a:picLocks noChangeAspect="1"/>
          </p:cNvPicPr>
          <p:nvPr/>
        </p:nvPicPr>
        <p:blipFill>
          <a:blip r:embed="rId2"/>
          <a:stretch>
            <a:fillRect/>
          </a:stretch>
        </p:blipFill>
        <p:spPr>
          <a:xfrm>
            <a:off x="7429500" y="0"/>
            <a:ext cx="5372100" cy="2268415"/>
          </a:xfrm>
          <a:prstGeom prst="rect">
            <a:avLst/>
          </a:prstGeom>
        </p:spPr>
      </p:pic>
      <p:pic>
        <p:nvPicPr>
          <p:cNvPr id="3" name="Artwork 2" descr="Decorative artwork"/>
          <p:cNvPicPr>
            <a:picLocks noChangeAspect="1"/>
          </p:cNvPicPr>
          <p:nvPr/>
        </p:nvPicPr>
        <p:blipFill>
          <a:blip r:embed="rId3"/>
          <a:stretch>
            <a:fillRect/>
          </a:stretch>
        </p:blipFill>
        <p:spPr>
          <a:xfrm>
            <a:off x="0" y="5055577"/>
            <a:ext cx="5081954" cy="2145323"/>
          </a:xfrm>
          <a:prstGeom prst="rect">
            <a:avLst/>
          </a:prstGeom>
        </p:spPr>
      </p:pic>
      <p:sp>
        <p:nvSpPr>
          <p:cNvPr id="4" name="Title bold"/>
          <p:cNvSpPr txBox="1"/>
          <p:nvPr/>
        </p:nvSpPr>
        <p:spPr>
          <a:xfrm>
            <a:off x="378069" y="879231"/>
            <a:ext cx="7033846" cy="791308"/>
          </a:xfrm>
          <a:prstGeom prst="rect">
            <a:avLst/>
          </a:prstGeom>
          <a:noFill/>
        </p:spPr>
        <p:txBody>
          <a:bodyPr wrap="square" lIns="0" tIns="0" rIns="0" bIns="0" anchor="t">
            <a:spAutoFit/>
          </a:bodyPr>
          <a:lstStyle/>
          <a:p>
            <a:pPr algn="l">
              <a:lnSpc>
                <a:spcPts val="6000"/>
              </a:lnSpc>
              <a:spcBef>
                <a:spcPts val="0"/>
              </a:spcBef>
              <a:spcAft>
                <a:spcPts val="0"/>
              </a:spcAft>
            </a:pPr>
            <a:r>
              <a:rPr sz="5600" b="0">
                <a:solidFill>
                  <a:srgbClr val="0E0E0E"/>
                </a:solidFill>
                <a:latin typeface="Impact"/>
                <a:ea typeface="Impact"/>
                <a:cs typeface="Impact"/>
              </a:rPr>
              <a:t>Mechanism:</a:t>
            </a:r>
          </a:p>
        </p:txBody>
      </p:sp>
      <p:sp>
        <p:nvSpPr>
          <p:cNvPr id="5" name="Title regular"/>
          <p:cNvSpPr txBox="1"/>
          <p:nvPr/>
        </p:nvSpPr>
        <p:spPr>
          <a:xfrm>
            <a:off x="378069" y="1608992"/>
            <a:ext cx="7913077" cy="791308"/>
          </a:xfrm>
          <a:prstGeom prst="rect">
            <a:avLst/>
          </a:prstGeom>
          <a:noFill/>
        </p:spPr>
        <p:txBody>
          <a:bodyPr wrap="square" lIns="0" tIns="0" rIns="0" bIns="0" anchor="t">
            <a:spAutoFit/>
          </a:bodyPr>
          <a:lstStyle/>
          <a:p>
            <a:pPr algn="l">
              <a:lnSpc>
                <a:spcPts val="5000"/>
              </a:lnSpc>
              <a:spcBef>
                <a:spcPts val="0"/>
              </a:spcBef>
              <a:spcAft>
                <a:spcPts val="0"/>
              </a:spcAft>
            </a:pPr>
            <a:r>
              <a:rPr sz="4100" b="0">
                <a:solidFill>
                  <a:srgbClr val="0E0E0E"/>
                </a:solidFill>
                <a:latin typeface="Arial"/>
                <a:ea typeface="Arial"/>
                <a:cs typeface="Arial"/>
              </a:rPr>
              <a:t>Structured Tool Selection</a:t>
            </a:r>
          </a:p>
        </p:txBody>
      </p:sp>
      <p:sp>
        <p:nvSpPr>
          <p:cNvPr id="6" name="Card 01"/>
          <p:cNvSpPr/>
          <p:nvPr/>
        </p:nvSpPr>
        <p:spPr>
          <a:xfrm>
            <a:off x="369277" y="2787162"/>
            <a:ext cx="1477108" cy="2268415"/>
          </a:xfrm>
          <a:prstGeom prst="rect">
            <a:avLst/>
          </a:prstGeom>
          <a:solidFill>
            <a:srgbClr val="EAE9E4"/>
          </a:solidFill>
          <a:ln>
            <a:noFill/>
          </a:ln>
          <a:effectLst/>
        </p:spPr>
        <p:txBody>
          <a:bodyPr rtlCol="0" anchor="ctr"/>
          <a:lstStyle/>
          <a:p>
            <a:pPr algn="ctr"/>
            <a:endParaRPr/>
          </a:p>
        </p:txBody>
      </p:sp>
      <p:sp>
        <p:nvSpPr>
          <p:cNvPr id="7" name="Card 01 number"/>
          <p:cNvSpPr txBox="1"/>
          <p:nvPr/>
        </p:nvSpPr>
        <p:spPr>
          <a:xfrm>
            <a:off x="536331" y="2971800"/>
            <a:ext cx="527538" cy="246185"/>
          </a:xfrm>
          <a:prstGeom prst="rect">
            <a:avLst/>
          </a:prstGeom>
          <a:noFill/>
        </p:spPr>
        <p:txBody>
          <a:bodyPr wrap="square" lIns="0" tIns="0" rIns="0" bIns="0" anchor="t">
            <a:spAutoFit/>
          </a:bodyPr>
          <a:lstStyle/>
          <a:p>
            <a:pPr algn="l">
              <a:spcBef>
                <a:spcPts val="0"/>
              </a:spcBef>
              <a:spcAft>
                <a:spcPts val="0"/>
              </a:spcAft>
            </a:pPr>
            <a:r>
              <a:rPr sz="1600" b="0">
                <a:solidFill>
                  <a:srgbClr val="0E0E0E"/>
                </a:solidFill>
                <a:latin typeface="Arial"/>
                <a:ea typeface="Arial"/>
                <a:cs typeface="Arial"/>
              </a:rPr>
              <a:t>01</a:t>
            </a:r>
          </a:p>
        </p:txBody>
      </p:sp>
      <p:cxnSp>
        <p:nvCxnSpPr>
          <p:cNvPr id="8" name="Card 01 rule"/>
          <p:cNvCxnSpPr/>
          <p:nvPr/>
        </p:nvCxnSpPr>
        <p:spPr>
          <a:xfrm>
            <a:off x="536331" y="3297115"/>
            <a:ext cx="1178169" cy="0"/>
          </a:xfrm>
          <a:prstGeom prst="line">
            <a:avLst/>
          </a:prstGeom>
          <a:ln w="6350">
            <a:solidFill>
              <a:srgbClr val="A9A8A3"/>
            </a:solidFill>
          </a:ln>
        </p:spPr>
      </p:cxnSp>
      <p:sp>
        <p:nvSpPr>
          <p:cNvPr id="9" name="Card 01 title"/>
          <p:cNvSpPr txBox="1"/>
          <p:nvPr/>
        </p:nvSpPr>
        <p:spPr>
          <a:xfrm>
            <a:off x="536331" y="3402623"/>
            <a:ext cx="1213338" cy="246185"/>
          </a:xfrm>
          <a:prstGeom prst="rect">
            <a:avLst/>
          </a:prstGeom>
          <a:noFill/>
        </p:spPr>
        <p:txBody>
          <a:bodyPr wrap="square" lIns="0" tIns="0" rIns="0" bIns="0" anchor="t">
            <a:spAutoFit/>
          </a:bodyPr>
          <a:lstStyle/>
          <a:p>
            <a:pPr algn="l">
              <a:spcBef>
                <a:spcPts val="0"/>
              </a:spcBef>
              <a:spcAft>
                <a:spcPts val="0"/>
              </a:spcAft>
            </a:pPr>
            <a:r>
              <a:rPr sz="1450" b="1">
                <a:solidFill>
                  <a:srgbClr val="0E0E0E"/>
                </a:solidFill>
                <a:latin typeface="Arial"/>
                <a:ea typeface="Arial"/>
                <a:cs typeface="Arial"/>
              </a:rPr>
              <a:t>Tool registry</a:t>
            </a:r>
          </a:p>
        </p:txBody>
      </p:sp>
      <p:sp>
        <p:nvSpPr>
          <p:cNvPr id="10" name="Card 01 body"/>
          <p:cNvSpPr txBox="1"/>
          <p:nvPr/>
        </p:nvSpPr>
        <p:spPr>
          <a:xfrm>
            <a:off x="536331" y="3719146"/>
            <a:ext cx="1195754" cy="1143000"/>
          </a:xfrm>
          <a:prstGeom prst="rect">
            <a:avLst/>
          </a:prstGeom>
          <a:noFill/>
        </p:spPr>
        <p:txBody>
          <a:bodyPr wrap="square" lIns="0" tIns="0" rIns="0" bIns="0" anchor="t">
            <a:spAutoFit/>
          </a:bodyPr>
          <a:lstStyle/>
          <a:p>
            <a:pPr algn="l">
              <a:lnSpc>
                <a:spcPts val="1500"/>
              </a:lnSpc>
              <a:spcBef>
                <a:spcPts val="0"/>
              </a:spcBef>
              <a:spcAft>
                <a:spcPts val="0"/>
              </a:spcAft>
            </a:pPr>
            <a:r>
              <a:rPr sz="1200" b="0">
                <a:solidFill>
                  <a:srgbClr val="0E0E0E"/>
                </a:solidFill>
                <a:latin typeface="Arial"/>
                <a:ea typeface="Arial"/>
                <a:cs typeface="Arial"/>
              </a:rPr>
              <a:t>The tools are declared once, with page ids and steps read from the data files.</a:t>
            </a:r>
          </a:p>
        </p:txBody>
      </p:sp>
      <p:sp>
        <p:nvSpPr>
          <p:cNvPr id="11" name="Arrow 01"/>
          <p:cNvSpPr txBox="1"/>
          <p:nvPr/>
        </p:nvSpPr>
        <p:spPr>
          <a:xfrm>
            <a:off x="1899138" y="3604846"/>
            <a:ext cx="263769" cy="298938"/>
          </a:xfrm>
          <a:prstGeom prst="rect">
            <a:avLst/>
          </a:prstGeom>
          <a:noFill/>
        </p:spPr>
        <p:txBody>
          <a:bodyPr wrap="square" lIns="0" tIns="0" rIns="0" bIns="0" anchor="t">
            <a:spAutoFit/>
          </a:bodyPr>
          <a:lstStyle/>
          <a:p>
            <a:pPr algn="ctr">
              <a:spcBef>
                <a:spcPts val="0"/>
              </a:spcBef>
              <a:spcAft>
                <a:spcPts val="0"/>
              </a:spcAft>
            </a:pPr>
            <a:r>
              <a:rPr sz="1800" b="0">
                <a:solidFill>
                  <a:srgbClr val="0E0E0E"/>
                </a:solidFill>
                <a:latin typeface="Arial"/>
                <a:ea typeface="Arial"/>
                <a:cs typeface="Arial"/>
              </a:rPr>
              <a:t>→</a:t>
            </a:r>
          </a:p>
        </p:txBody>
      </p:sp>
      <p:sp>
        <p:nvSpPr>
          <p:cNvPr id="12" name="Card 02"/>
          <p:cNvSpPr/>
          <p:nvPr/>
        </p:nvSpPr>
        <p:spPr>
          <a:xfrm>
            <a:off x="2136531" y="2787162"/>
            <a:ext cx="1477108" cy="2268415"/>
          </a:xfrm>
          <a:prstGeom prst="rect">
            <a:avLst/>
          </a:prstGeom>
          <a:solidFill>
            <a:srgbClr val="EAE9E4"/>
          </a:solidFill>
          <a:ln>
            <a:noFill/>
          </a:ln>
          <a:effectLst/>
        </p:spPr>
        <p:txBody>
          <a:bodyPr rtlCol="0" anchor="ctr"/>
          <a:lstStyle/>
          <a:p>
            <a:pPr algn="ctr"/>
            <a:endParaRPr/>
          </a:p>
        </p:txBody>
      </p:sp>
      <p:sp>
        <p:nvSpPr>
          <p:cNvPr id="13" name="Card 02 number"/>
          <p:cNvSpPr txBox="1"/>
          <p:nvPr/>
        </p:nvSpPr>
        <p:spPr>
          <a:xfrm>
            <a:off x="2303585" y="2971800"/>
            <a:ext cx="527538" cy="246185"/>
          </a:xfrm>
          <a:prstGeom prst="rect">
            <a:avLst/>
          </a:prstGeom>
          <a:noFill/>
        </p:spPr>
        <p:txBody>
          <a:bodyPr wrap="square" lIns="0" tIns="0" rIns="0" bIns="0" anchor="t">
            <a:spAutoFit/>
          </a:bodyPr>
          <a:lstStyle/>
          <a:p>
            <a:pPr algn="l">
              <a:spcBef>
                <a:spcPts val="0"/>
              </a:spcBef>
              <a:spcAft>
                <a:spcPts val="0"/>
              </a:spcAft>
            </a:pPr>
            <a:r>
              <a:rPr sz="1600" b="0">
                <a:solidFill>
                  <a:srgbClr val="0E0E0E"/>
                </a:solidFill>
                <a:latin typeface="Arial"/>
                <a:ea typeface="Arial"/>
                <a:cs typeface="Arial"/>
              </a:rPr>
              <a:t>02</a:t>
            </a:r>
          </a:p>
        </p:txBody>
      </p:sp>
      <p:cxnSp>
        <p:nvCxnSpPr>
          <p:cNvPr id="14" name="Card 02 rule"/>
          <p:cNvCxnSpPr/>
          <p:nvPr/>
        </p:nvCxnSpPr>
        <p:spPr>
          <a:xfrm>
            <a:off x="2303585" y="3297115"/>
            <a:ext cx="1178169" cy="0"/>
          </a:xfrm>
          <a:prstGeom prst="line">
            <a:avLst/>
          </a:prstGeom>
          <a:ln w="6350">
            <a:solidFill>
              <a:srgbClr val="A9A8A3"/>
            </a:solidFill>
          </a:ln>
        </p:spPr>
      </p:cxnSp>
      <p:sp>
        <p:nvSpPr>
          <p:cNvPr id="15" name="Card 02 title"/>
          <p:cNvSpPr txBox="1"/>
          <p:nvPr/>
        </p:nvSpPr>
        <p:spPr>
          <a:xfrm>
            <a:off x="2303585" y="3402623"/>
            <a:ext cx="1213338" cy="246185"/>
          </a:xfrm>
          <a:prstGeom prst="rect">
            <a:avLst/>
          </a:prstGeom>
          <a:noFill/>
        </p:spPr>
        <p:txBody>
          <a:bodyPr wrap="square" lIns="0" tIns="0" rIns="0" bIns="0" anchor="t">
            <a:spAutoFit/>
          </a:bodyPr>
          <a:lstStyle/>
          <a:p>
            <a:pPr algn="l">
              <a:spcBef>
                <a:spcPts val="0"/>
              </a:spcBef>
              <a:spcAft>
                <a:spcPts val="0"/>
              </a:spcAft>
            </a:pPr>
            <a:r>
              <a:rPr sz="1450" b="1">
                <a:solidFill>
                  <a:srgbClr val="0E0E0E"/>
                </a:solidFill>
                <a:latin typeface="Arial"/>
                <a:ea typeface="Arial"/>
                <a:cs typeface="Arial"/>
              </a:rPr>
              <a:t>Schema</a:t>
            </a:r>
          </a:p>
        </p:txBody>
      </p:sp>
      <p:sp>
        <p:nvSpPr>
          <p:cNvPr id="16" name="Card 02 body"/>
          <p:cNvSpPr txBox="1"/>
          <p:nvPr/>
        </p:nvSpPr>
        <p:spPr>
          <a:xfrm>
            <a:off x="2303585" y="3719146"/>
            <a:ext cx="1195754" cy="1143000"/>
          </a:xfrm>
          <a:prstGeom prst="rect">
            <a:avLst/>
          </a:prstGeom>
          <a:noFill/>
        </p:spPr>
        <p:txBody>
          <a:bodyPr wrap="square" lIns="0" tIns="0" rIns="0" bIns="0" anchor="t">
            <a:spAutoFit/>
          </a:bodyPr>
          <a:lstStyle/>
          <a:p>
            <a:pPr algn="l">
              <a:lnSpc>
                <a:spcPts val="1500"/>
              </a:lnSpc>
              <a:spcBef>
                <a:spcPts val="0"/>
              </a:spcBef>
              <a:spcAft>
                <a:spcPts val="0"/>
              </a:spcAft>
            </a:pPr>
            <a:r>
              <a:rPr sz="1200" b="0">
                <a:solidFill>
                  <a:srgbClr val="0E0E0E"/>
                </a:solidFill>
                <a:latin typeface="Arial"/>
                <a:ea typeface="Arial"/>
                <a:cs typeface="Arial"/>
              </a:rPr>
              <a:t>It is built from the registry, so only real tools, pages and steps are allowed.</a:t>
            </a:r>
          </a:p>
        </p:txBody>
      </p:sp>
      <p:sp>
        <p:nvSpPr>
          <p:cNvPr id="17" name="Arrow 02"/>
          <p:cNvSpPr txBox="1"/>
          <p:nvPr/>
        </p:nvSpPr>
        <p:spPr>
          <a:xfrm>
            <a:off x="3666392" y="3604846"/>
            <a:ext cx="263769" cy="298938"/>
          </a:xfrm>
          <a:prstGeom prst="rect">
            <a:avLst/>
          </a:prstGeom>
          <a:noFill/>
        </p:spPr>
        <p:txBody>
          <a:bodyPr wrap="square" lIns="0" tIns="0" rIns="0" bIns="0" anchor="t">
            <a:spAutoFit/>
          </a:bodyPr>
          <a:lstStyle/>
          <a:p>
            <a:pPr algn="ctr">
              <a:spcBef>
                <a:spcPts val="0"/>
              </a:spcBef>
              <a:spcAft>
                <a:spcPts val="0"/>
              </a:spcAft>
            </a:pPr>
            <a:r>
              <a:rPr sz="1800" b="0">
                <a:solidFill>
                  <a:srgbClr val="0E0E0E"/>
                </a:solidFill>
                <a:latin typeface="Arial"/>
                <a:ea typeface="Arial"/>
                <a:cs typeface="Arial"/>
              </a:rPr>
              <a:t>→</a:t>
            </a:r>
          </a:p>
        </p:txBody>
      </p:sp>
      <p:sp>
        <p:nvSpPr>
          <p:cNvPr id="18" name="Card 03"/>
          <p:cNvSpPr/>
          <p:nvPr/>
        </p:nvSpPr>
        <p:spPr>
          <a:xfrm>
            <a:off x="3894992" y="2787162"/>
            <a:ext cx="1503485" cy="2268415"/>
          </a:xfrm>
          <a:prstGeom prst="rect">
            <a:avLst/>
          </a:prstGeom>
          <a:solidFill>
            <a:srgbClr val="181818"/>
          </a:solidFill>
          <a:ln>
            <a:noFill/>
          </a:ln>
          <a:effectLst/>
        </p:spPr>
        <p:txBody>
          <a:bodyPr rtlCol="0" anchor="ctr"/>
          <a:lstStyle/>
          <a:p>
            <a:pPr algn="ctr"/>
            <a:endParaRPr/>
          </a:p>
        </p:txBody>
      </p:sp>
      <p:sp>
        <p:nvSpPr>
          <p:cNvPr id="19" name="Card 03 number"/>
          <p:cNvSpPr txBox="1"/>
          <p:nvPr/>
        </p:nvSpPr>
        <p:spPr>
          <a:xfrm>
            <a:off x="4062046" y="2971800"/>
            <a:ext cx="527538" cy="246185"/>
          </a:xfrm>
          <a:prstGeom prst="rect">
            <a:avLst/>
          </a:prstGeom>
          <a:noFill/>
        </p:spPr>
        <p:txBody>
          <a:bodyPr wrap="square" lIns="0" tIns="0" rIns="0" bIns="0" anchor="t">
            <a:spAutoFit/>
          </a:bodyPr>
          <a:lstStyle/>
          <a:p>
            <a:pPr algn="l">
              <a:spcBef>
                <a:spcPts val="0"/>
              </a:spcBef>
              <a:spcAft>
                <a:spcPts val="0"/>
              </a:spcAft>
            </a:pPr>
            <a:r>
              <a:rPr sz="1600" b="0">
                <a:solidFill>
                  <a:srgbClr val="F2F0EB"/>
                </a:solidFill>
                <a:latin typeface="Arial"/>
                <a:ea typeface="Arial"/>
                <a:cs typeface="Arial"/>
              </a:rPr>
              <a:t>03</a:t>
            </a:r>
          </a:p>
        </p:txBody>
      </p:sp>
      <p:cxnSp>
        <p:nvCxnSpPr>
          <p:cNvPr id="20" name="Card 03 rule"/>
          <p:cNvCxnSpPr/>
          <p:nvPr/>
        </p:nvCxnSpPr>
        <p:spPr>
          <a:xfrm>
            <a:off x="4062046" y="3297115"/>
            <a:ext cx="1204546" cy="0"/>
          </a:xfrm>
          <a:prstGeom prst="line">
            <a:avLst/>
          </a:prstGeom>
          <a:ln w="6350">
            <a:solidFill>
              <a:srgbClr val="6B6A66"/>
            </a:solidFill>
          </a:ln>
        </p:spPr>
      </p:cxnSp>
      <p:sp>
        <p:nvSpPr>
          <p:cNvPr id="21" name="Card 03 title"/>
          <p:cNvSpPr txBox="1"/>
          <p:nvPr/>
        </p:nvSpPr>
        <p:spPr>
          <a:xfrm>
            <a:off x="4062046" y="3402623"/>
            <a:ext cx="1239715" cy="246185"/>
          </a:xfrm>
          <a:prstGeom prst="rect">
            <a:avLst/>
          </a:prstGeom>
          <a:noFill/>
        </p:spPr>
        <p:txBody>
          <a:bodyPr wrap="square" lIns="0" tIns="0" rIns="0" bIns="0" anchor="t">
            <a:spAutoFit/>
          </a:bodyPr>
          <a:lstStyle/>
          <a:p>
            <a:pPr algn="l">
              <a:spcBef>
                <a:spcPts val="0"/>
              </a:spcBef>
              <a:spcAft>
                <a:spcPts val="0"/>
              </a:spcAft>
            </a:pPr>
            <a:r>
              <a:rPr sz="1450" b="1">
                <a:solidFill>
                  <a:srgbClr val="F2F0EB"/>
                </a:solidFill>
                <a:latin typeface="Arial"/>
                <a:ea typeface="Arial"/>
                <a:cs typeface="Arial"/>
              </a:rPr>
              <a:t>Router call</a:t>
            </a:r>
          </a:p>
        </p:txBody>
      </p:sp>
      <p:sp>
        <p:nvSpPr>
          <p:cNvPr id="22" name="Card 03 body"/>
          <p:cNvSpPr txBox="1"/>
          <p:nvPr/>
        </p:nvSpPr>
        <p:spPr>
          <a:xfrm>
            <a:off x="4062046" y="3719146"/>
            <a:ext cx="1222131" cy="1143000"/>
          </a:xfrm>
          <a:prstGeom prst="rect">
            <a:avLst/>
          </a:prstGeom>
          <a:noFill/>
        </p:spPr>
        <p:txBody>
          <a:bodyPr wrap="square" lIns="0" tIns="0" rIns="0" bIns="0" anchor="t">
            <a:spAutoFit/>
          </a:bodyPr>
          <a:lstStyle/>
          <a:p>
            <a:pPr algn="l">
              <a:lnSpc>
                <a:spcPts val="1500"/>
              </a:lnSpc>
              <a:spcBef>
                <a:spcPts val="0"/>
              </a:spcBef>
              <a:spcAft>
                <a:spcPts val="0"/>
              </a:spcAft>
            </a:pPr>
            <a:r>
              <a:rPr sz="1200" b="0">
                <a:solidFill>
                  <a:srgbClr val="F2F0EB"/>
                </a:solidFill>
                <a:latin typeface="Arial"/>
                <a:ea typeface="Arial"/>
                <a:cs typeface="Arial"/>
              </a:rPr>
              <a:t>The LLM returns JSON with the language, an English rewrite and 0 to 2 tool calls.</a:t>
            </a:r>
          </a:p>
        </p:txBody>
      </p:sp>
      <p:sp>
        <p:nvSpPr>
          <p:cNvPr id="23" name="Arrow 03"/>
          <p:cNvSpPr txBox="1"/>
          <p:nvPr/>
        </p:nvSpPr>
        <p:spPr>
          <a:xfrm>
            <a:off x="5451231" y="3604846"/>
            <a:ext cx="263769" cy="298938"/>
          </a:xfrm>
          <a:prstGeom prst="rect">
            <a:avLst/>
          </a:prstGeom>
          <a:noFill/>
        </p:spPr>
        <p:txBody>
          <a:bodyPr wrap="square" lIns="0" tIns="0" rIns="0" bIns="0" anchor="t">
            <a:spAutoFit/>
          </a:bodyPr>
          <a:lstStyle/>
          <a:p>
            <a:pPr algn="ctr">
              <a:spcBef>
                <a:spcPts val="0"/>
              </a:spcBef>
              <a:spcAft>
                <a:spcPts val="0"/>
              </a:spcAft>
            </a:pPr>
            <a:r>
              <a:rPr sz="1800" b="0">
                <a:solidFill>
                  <a:srgbClr val="0E0E0E"/>
                </a:solidFill>
                <a:latin typeface="Arial"/>
                <a:ea typeface="Arial"/>
                <a:cs typeface="Arial"/>
              </a:rPr>
              <a:t>→</a:t>
            </a:r>
          </a:p>
        </p:txBody>
      </p:sp>
      <p:sp>
        <p:nvSpPr>
          <p:cNvPr id="24" name="Card 04"/>
          <p:cNvSpPr/>
          <p:nvPr/>
        </p:nvSpPr>
        <p:spPr>
          <a:xfrm>
            <a:off x="5688623" y="2787162"/>
            <a:ext cx="1433146" cy="2268415"/>
          </a:xfrm>
          <a:prstGeom prst="rect">
            <a:avLst/>
          </a:prstGeom>
          <a:solidFill>
            <a:srgbClr val="EAE9E4"/>
          </a:solidFill>
          <a:ln>
            <a:noFill/>
          </a:ln>
          <a:effectLst/>
        </p:spPr>
        <p:txBody>
          <a:bodyPr rtlCol="0" anchor="ctr"/>
          <a:lstStyle/>
          <a:p>
            <a:pPr algn="ctr"/>
            <a:endParaRPr/>
          </a:p>
        </p:txBody>
      </p:sp>
      <p:sp>
        <p:nvSpPr>
          <p:cNvPr id="25" name="Card 04 number"/>
          <p:cNvSpPr txBox="1"/>
          <p:nvPr/>
        </p:nvSpPr>
        <p:spPr>
          <a:xfrm>
            <a:off x="5855677" y="2971800"/>
            <a:ext cx="527538" cy="246185"/>
          </a:xfrm>
          <a:prstGeom prst="rect">
            <a:avLst/>
          </a:prstGeom>
          <a:noFill/>
        </p:spPr>
        <p:txBody>
          <a:bodyPr wrap="square" lIns="0" tIns="0" rIns="0" bIns="0" anchor="t">
            <a:spAutoFit/>
          </a:bodyPr>
          <a:lstStyle/>
          <a:p>
            <a:pPr algn="l">
              <a:spcBef>
                <a:spcPts val="0"/>
              </a:spcBef>
              <a:spcAft>
                <a:spcPts val="0"/>
              </a:spcAft>
            </a:pPr>
            <a:r>
              <a:rPr sz="1600" b="0">
                <a:solidFill>
                  <a:srgbClr val="0E0E0E"/>
                </a:solidFill>
                <a:latin typeface="Arial"/>
                <a:ea typeface="Arial"/>
                <a:cs typeface="Arial"/>
              </a:rPr>
              <a:t>04</a:t>
            </a:r>
          </a:p>
        </p:txBody>
      </p:sp>
      <p:cxnSp>
        <p:nvCxnSpPr>
          <p:cNvPr id="26" name="Card 04 rule"/>
          <p:cNvCxnSpPr/>
          <p:nvPr/>
        </p:nvCxnSpPr>
        <p:spPr>
          <a:xfrm>
            <a:off x="5855677" y="3297115"/>
            <a:ext cx="1134208" cy="0"/>
          </a:xfrm>
          <a:prstGeom prst="line">
            <a:avLst/>
          </a:prstGeom>
          <a:ln w="6350">
            <a:solidFill>
              <a:srgbClr val="A9A8A3"/>
            </a:solidFill>
          </a:ln>
        </p:spPr>
      </p:cxnSp>
      <p:sp>
        <p:nvSpPr>
          <p:cNvPr id="27" name="Card 04 title"/>
          <p:cNvSpPr txBox="1"/>
          <p:nvPr/>
        </p:nvSpPr>
        <p:spPr>
          <a:xfrm>
            <a:off x="5855677" y="3402623"/>
            <a:ext cx="1169377" cy="246185"/>
          </a:xfrm>
          <a:prstGeom prst="rect">
            <a:avLst/>
          </a:prstGeom>
          <a:noFill/>
        </p:spPr>
        <p:txBody>
          <a:bodyPr wrap="square" lIns="0" tIns="0" rIns="0" bIns="0" anchor="t">
            <a:spAutoFit/>
          </a:bodyPr>
          <a:lstStyle/>
          <a:p>
            <a:pPr algn="l">
              <a:spcBef>
                <a:spcPts val="0"/>
              </a:spcBef>
              <a:spcAft>
                <a:spcPts val="0"/>
              </a:spcAft>
            </a:pPr>
            <a:r>
              <a:rPr sz="1450" b="1">
                <a:solidFill>
                  <a:srgbClr val="0E0E0E"/>
                </a:solidFill>
                <a:latin typeface="Arial"/>
                <a:ea typeface="Arial"/>
                <a:cs typeface="Arial"/>
              </a:rPr>
              <a:t>Validation</a:t>
            </a:r>
          </a:p>
        </p:txBody>
      </p:sp>
      <p:sp>
        <p:nvSpPr>
          <p:cNvPr id="28" name="Card 04 body"/>
          <p:cNvSpPr txBox="1"/>
          <p:nvPr/>
        </p:nvSpPr>
        <p:spPr>
          <a:xfrm>
            <a:off x="5855677" y="3719146"/>
            <a:ext cx="1151792" cy="1143000"/>
          </a:xfrm>
          <a:prstGeom prst="rect">
            <a:avLst/>
          </a:prstGeom>
          <a:noFill/>
        </p:spPr>
        <p:txBody>
          <a:bodyPr wrap="square" lIns="0" tIns="0" rIns="0" bIns="0" anchor="t">
            <a:spAutoFit/>
          </a:bodyPr>
          <a:lstStyle/>
          <a:p>
            <a:pPr algn="l">
              <a:lnSpc>
                <a:spcPts val="1500"/>
              </a:lnSpc>
              <a:spcBef>
                <a:spcPts val="0"/>
              </a:spcBef>
              <a:spcAft>
                <a:spcPts val="0"/>
              </a:spcAft>
            </a:pPr>
            <a:r>
              <a:rPr sz="1200" b="0">
                <a:solidFill>
                  <a:srgbClr val="0E0E0E"/>
                </a:solidFill>
                <a:latin typeface="Arial"/>
                <a:ea typeface="Arial"/>
                <a:cs typeface="Arial"/>
              </a:rPr>
              <a:t>The code cleans small slips and never overrides the choice.</a:t>
            </a:r>
          </a:p>
        </p:txBody>
      </p:sp>
      <p:sp>
        <p:nvSpPr>
          <p:cNvPr id="29" name="Arrow 04"/>
          <p:cNvSpPr txBox="1"/>
          <p:nvPr/>
        </p:nvSpPr>
        <p:spPr>
          <a:xfrm>
            <a:off x="7174523" y="3604846"/>
            <a:ext cx="263769" cy="298938"/>
          </a:xfrm>
          <a:prstGeom prst="rect">
            <a:avLst/>
          </a:prstGeom>
          <a:noFill/>
        </p:spPr>
        <p:txBody>
          <a:bodyPr wrap="square" lIns="0" tIns="0" rIns="0" bIns="0" anchor="t">
            <a:spAutoFit/>
          </a:bodyPr>
          <a:lstStyle/>
          <a:p>
            <a:pPr algn="ctr">
              <a:spcBef>
                <a:spcPts val="0"/>
              </a:spcBef>
              <a:spcAft>
                <a:spcPts val="0"/>
              </a:spcAft>
            </a:pPr>
            <a:r>
              <a:rPr sz="1800" b="0">
                <a:solidFill>
                  <a:srgbClr val="0E0E0E"/>
                </a:solidFill>
                <a:latin typeface="Arial"/>
                <a:ea typeface="Arial"/>
                <a:cs typeface="Arial"/>
              </a:rPr>
              <a:t>→</a:t>
            </a:r>
          </a:p>
        </p:txBody>
      </p:sp>
      <p:sp>
        <p:nvSpPr>
          <p:cNvPr id="30" name="Card 05"/>
          <p:cNvSpPr/>
          <p:nvPr/>
        </p:nvSpPr>
        <p:spPr>
          <a:xfrm>
            <a:off x="7411915" y="2787162"/>
            <a:ext cx="1485900" cy="2268415"/>
          </a:xfrm>
          <a:prstGeom prst="rect">
            <a:avLst/>
          </a:prstGeom>
          <a:solidFill>
            <a:srgbClr val="EAE9E4"/>
          </a:solidFill>
          <a:ln>
            <a:noFill/>
          </a:ln>
          <a:effectLst/>
        </p:spPr>
        <p:txBody>
          <a:bodyPr rtlCol="0" anchor="ctr"/>
          <a:lstStyle/>
          <a:p>
            <a:pPr algn="ctr"/>
            <a:endParaRPr/>
          </a:p>
        </p:txBody>
      </p:sp>
      <p:sp>
        <p:nvSpPr>
          <p:cNvPr id="31" name="Card 05 number"/>
          <p:cNvSpPr txBox="1"/>
          <p:nvPr/>
        </p:nvSpPr>
        <p:spPr>
          <a:xfrm>
            <a:off x="7578969" y="2971800"/>
            <a:ext cx="527538" cy="246185"/>
          </a:xfrm>
          <a:prstGeom prst="rect">
            <a:avLst/>
          </a:prstGeom>
          <a:noFill/>
        </p:spPr>
        <p:txBody>
          <a:bodyPr wrap="square" lIns="0" tIns="0" rIns="0" bIns="0" anchor="t">
            <a:spAutoFit/>
          </a:bodyPr>
          <a:lstStyle/>
          <a:p>
            <a:pPr algn="l">
              <a:spcBef>
                <a:spcPts val="0"/>
              </a:spcBef>
              <a:spcAft>
                <a:spcPts val="0"/>
              </a:spcAft>
            </a:pPr>
            <a:r>
              <a:rPr sz="1600" b="0">
                <a:solidFill>
                  <a:srgbClr val="0E0E0E"/>
                </a:solidFill>
                <a:latin typeface="Arial"/>
                <a:ea typeface="Arial"/>
                <a:cs typeface="Arial"/>
              </a:rPr>
              <a:t>05</a:t>
            </a:r>
          </a:p>
        </p:txBody>
      </p:sp>
      <p:cxnSp>
        <p:nvCxnSpPr>
          <p:cNvPr id="32" name="Card 05 rule"/>
          <p:cNvCxnSpPr/>
          <p:nvPr/>
        </p:nvCxnSpPr>
        <p:spPr>
          <a:xfrm>
            <a:off x="7578969" y="3297115"/>
            <a:ext cx="1186962" cy="0"/>
          </a:xfrm>
          <a:prstGeom prst="line">
            <a:avLst/>
          </a:prstGeom>
          <a:ln w="6350">
            <a:solidFill>
              <a:srgbClr val="A9A8A3"/>
            </a:solidFill>
          </a:ln>
        </p:spPr>
      </p:cxnSp>
      <p:sp>
        <p:nvSpPr>
          <p:cNvPr id="33" name="Card 05 title"/>
          <p:cNvSpPr txBox="1"/>
          <p:nvPr/>
        </p:nvSpPr>
        <p:spPr>
          <a:xfrm>
            <a:off x="7578969" y="3402623"/>
            <a:ext cx="1222131" cy="246185"/>
          </a:xfrm>
          <a:prstGeom prst="rect">
            <a:avLst/>
          </a:prstGeom>
          <a:noFill/>
        </p:spPr>
        <p:txBody>
          <a:bodyPr wrap="square" lIns="0" tIns="0" rIns="0" bIns="0" anchor="t">
            <a:spAutoFit/>
          </a:bodyPr>
          <a:lstStyle/>
          <a:p>
            <a:pPr algn="l">
              <a:spcBef>
                <a:spcPts val="0"/>
              </a:spcBef>
              <a:spcAft>
                <a:spcPts val="0"/>
              </a:spcAft>
            </a:pPr>
            <a:r>
              <a:rPr sz="1450" b="1">
                <a:solidFill>
                  <a:srgbClr val="0E0E0E"/>
                </a:solidFill>
                <a:latin typeface="Arial"/>
                <a:ea typeface="Arial"/>
                <a:cs typeface="Arial"/>
              </a:rPr>
              <a:t>Fallback</a:t>
            </a:r>
          </a:p>
        </p:txBody>
      </p:sp>
      <p:sp>
        <p:nvSpPr>
          <p:cNvPr id="34" name="Card 05 body"/>
          <p:cNvSpPr txBox="1"/>
          <p:nvPr/>
        </p:nvSpPr>
        <p:spPr>
          <a:xfrm>
            <a:off x="7578969" y="3719146"/>
            <a:ext cx="1204546" cy="1143000"/>
          </a:xfrm>
          <a:prstGeom prst="rect">
            <a:avLst/>
          </a:prstGeom>
          <a:noFill/>
        </p:spPr>
        <p:txBody>
          <a:bodyPr wrap="square" lIns="0" tIns="0" rIns="0" bIns="0" anchor="t">
            <a:spAutoFit/>
          </a:bodyPr>
          <a:lstStyle/>
          <a:p>
            <a:pPr algn="l">
              <a:lnSpc>
                <a:spcPts val="1500"/>
              </a:lnSpc>
              <a:spcBef>
                <a:spcPts val="0"/>
              </a:spcBef>
              <a:spcAft>
                <a:spcPts val="0"/>
              </a:spcAft>
            </a:pPr>
            <a:r>
              <a:rPr sz="1200" b="0">
                <a:solidFill>
                  <a:srgbClr val="0E0E0E"/>
                </a:solidFill>
                <a:latin typeface="Arial"/>
                <a:ea typeface="Arial"/>
                <a:cs typeface="Arial"/>
              </a:rPr>
              <a:t>Unusable output goes to a knowledge-base search, with no keyword rules.</a:t>
            </a:r>
          </a:p>
        </p:txBody>
      </p:sp>
      <p:sp>
        <p:nvSpPr>
          <p:cNvPr id="35" name="Arrow 05"/>
          <p:cNvSpPr txBox="1"/>
          <p:nvPr/>
        </p:nvSpPr>
        <p:spPr>
          <a:xfrm>
            <a:off x="8950569" y="3604846"/>
            <a:ext cx="263769" cy="298938"/>
          </a:xfrm>
          <a:prstGeom prst="rect">
            <a:avLst/>
          </a:prstGeom>
          <a:noFill/>
        </p:spPr>
        <p:txBody>
          <a:bodyPr wrap="square" lIns="0" tIns="0" rIns="0" bIns="0" anchor="t">
            <a:spAutoFit/>
          </a:bodyPr>
          <a:lstStyle/>
          <a:p>
            <a:pPr algn="ctr">
              <a:spcBef>
                <a:spcPts val="0"/>
              </a:spcBef>
              <a:spcAft>
                <a:spcPts val="0"/>
              </a:spcAft>
            </a:pPr>
            <a:r>
              <a:rPr sz="1800" b="0">
                <a:solidFill>
                  <a:srgbClr val="0E0E0E"/>
                </a:solidFill>
                <a:latin typeface="Arial"/>
                <a:ea typeface="Arial"/>
                <a:cs typeface="Arial"/>
              </a:rPr>
              <a:t>→</a:t>
            </a:r>
          </a:p>
        </p:txBody>
      </p:sp>
      <p:sp>
        <p:nvSpPr>
          <p:cNvPr id="36" name="Card 06"/>
          <p:cNvSpPr/>
          <p:nvPr/>
        </p:nvSpPr>
        <p:spPr>
          <a:xfrm>
            <a:off x="9196754" y="2787162"/>
            <a:ext cx="1459523" cy="2268415"/>
          </a:xfrm>
          <a:prstGeom prst="rect">
            <a:avLst/>
          </a:prstGeom>
          <a:solidFill>
            <a:srgbClr val="EAE9E4"/>
          </a:solidFill>
          <a:ln>
            <a:noFill/>
          </a:ln>
          <a:effectLst/>
        </p:spPr>
        <p:txBody>
          <a:bodyPr rtlCol="0" anchor="ctr"/>
          <a:lstStyle/>
          <a:p>
            <a:pPr algn="ctr"/>
            <a:endParaRPr/>
          </a:p>
        </p:txBody>
      </p:sp>
      <p:sp>
        <p:nvSpPr>
          <p:cNvPr id="37" name="Card 06 number"/>
          <p:cNvSpPr txBox="1"/>
          <p:nvPr/>
        </p:nvSpPr>
        <p:spPr>
          <a:xfrm>
            <a:off x="9363808" y="2971800"/>
            <a:ext cx="527538" cy="246185"/>
          </a:xfrm>
          <a:prstGeom prst="rect">
            <a:avLst/>
          </a:prstGeom>
          <a:noFill/>
        </p:spPr>
        <p:txBody>
          <a:bodyPr wrap="square" lIns="0" tIns="0" rIns="0" bIns="0" anchor="t">
            <a:spAutoFit/>
          </a:bodyPr>
          <a:lstStyle/>
          <a:p>
            <a:pPr algn="l">
              <a:spcBef>
                <a:spcPts val="0"/>
              </a:spcBef>
              <a:spcAft>
                <a:spcPts val="0"/>
              </a:spcAft>
            </a:pPr>
            <a:r>
              <a:rPr sz="1600" b="0">
                <a:solidFill>
                  <a:srgbClr val="0E0E0E"/>
                </a:solidFill>
                <a:latin typeface="Arial"/>
                <a:ea typeface="Arial"/>
                <a:cs typeface="Arial"/>
              </a:rPr>
              <a:t>06</a:t>
            </a:r>
          </a:p>
        </p:txBody>
      </p:sp>
      <p:cxnSp>
        <p:nvCxnSpPr>
          <p:cNvPr id="38" name="Card 06 rule"/>
          <p:cNvCxnSpPr/>
          <p:nvPr/>
        </p:nvCxnSpPr>
        <p:spPr>
          <a:xfrm>
            <a:off x="9363808" y="3297115"/>
            <a:ext cx="1160584" cy="0"/>
          </a:xfrm>
          <a:prstGeom prst="line">
            <a:avLst/>
          </a:prstGeom>
          <a:ln w="6350">
            <a:solidFill>
              <a:srgbClr val="A9A8A3"/>
            </a:solidFill>
          </a:ln>
        </p:spPr>
      </p:cxnSp>
      <p:sp>
        <p:nvSpPr>
          <p:cNvPr id="39" name="Card 06 title"/>
          <p:cNvSpPr txBox="1"/>
          <p:nvPr/>
        </p:nvSpPr>
        <p:spPr>
          <a:xfrm>
            <a:off x="9363808" y="3402623"/>
            <a:ext cx="1195754" cy="246185"/>
          </a:xfrm>
          <a:prstGeom prst="rect">
            <a:avLst/>
          </a:prstGeom>
          <a:noFill/>
        </p:spPr>
        <p:txBody>
          <a:bodyPr wrap="square" lIns="0" tIns="0" rIns="0" bIns="0" anchor="t">
            <a:spAutoFit/>
          </a:bodyPr>
          <a:lstStyle/>
          <a:p>
            <a:pPr algn="l">
              <a:spcBef>
                <a:spcPts val="0"/>
              </a:spcBef>
              <a:spcAft>
                <a:spcPts val="0"/>
              </a:spcAft>
            </a:pPr>
            <a:r>
              <a:rPr sz="1450" b="1">
                <a:solidFill>
                  <a:srgbClr val="0E0E0E"/>
                </a:solidFill>
                <a:latin typeface="Arial"/>
                <a:ea typeface="Arial"/>
                <a:cs typeface="Arial"/>
              </a:rPr>
              <a:t>Execution</a:t>
            </a:r>
          </a:p>
        </p:txBody>
      </p:sp>
      <p:sp>
        <p:nvSpPr>
          <p:cNvPr id="40" name="Card 06 body"/>
          <p:cNvSpPr txBox="1"/>
          <p:nvPr/>
        </p:nvSpPr>
        <p:spPr>
          <a:xfrm>
            <a:off x="9363808" y="3719146"/>
            <a:ext cx="1178169" cy="1143000"/>
          </a:xfrm>
          <a:prstGeom prst="rect">
            <a:avLst/>
          </a:prstGeom>
          <a:noFill/>
        </p:spPr>
        <p:txBody>
          <a:bodyPr wrap="square" lIns="0" tIns="0" rIns="0" bIns="0" anchor="t">
            <a:spAutoFit/>
          </a:bodyPr>
          <a:lstStyle/>
          <a:p>
            <a:pPr algn="l">
              <a:lnSpc>
                <a:spcPts val="1500"/>
              </a:lnSpc>
              <a:spcBef>
                <a:spcPts val="0"/>
              </a:spcBef>
              <a:spcAft>
                <a:spcPts val="0"/>
              </a:spcAft>
            </a:pPr>
            <a:r>
              <a:rPr sz="1200" b="0">
                <a:solidFill>
                  <a:srgbClr val="0E0E0E"/>
                </a:solidFill>
                <a:latin typeface="Arial"/>
                <a:ea typeface="Arial"/>
                <a:cs typeface="Arial"/>
              </a:rPr>
              <a:t>The chosen tools return a link, step text or retrieved passages.</a:t>
            </a:r>
          </a:p>
        </p:txBody>
      </p:sp>
      <p:sp>
        <p:nvSpPr>
          <p:cNvPr id="41" name="Arrow 06"/>
          <p:cNvSpPr txBox="1"/>
          <p:nvPr/>
        </p:nvSpPr>
        <p:spPr>
          <a:xfrm>
            <a:off x="10709031" y="3604846"/>
            <a:ext cx="263769" cy="298938"/>
          </a:xfrm>
          <a:prstGeom prst="rect">
            <a:avLst/>
          </a:prstGeom>
          <a:noFill/>
        </p:spPr>
        <p:txBody>
          <a:bodyPr wrap="square" lIns="0" tIns="0" rIns="0" bIns="0" anchor="t">
            <a:spAutoFit/>
          </a:bodyPr>
          <a:lstStyle/>
          <a:p>
            <a:pPr algn="ctr">
              <a:spcBef>
                <a:spcPts val="0"/>
              </a:spcBef>
              <a:spcAft>
                <a:spcPts val="0"/>
              </a:spcAft>
            </a:pPr>
            <a:r>
              <a:rPr sz="1800" b="0">
                <a:solidFill>
                  <a:srgbClr val="0E0E0E"/>
                </a:solidFill>
                <a:latin typeface="Arial"/>
                <a:ea typeface="Arial"/>
                <a:cs typeface="Arial"/>
              </a:rPr>
              <a:t>→</a:t>
            </a:r>
          </a:p>
        </p:txBody>
      </p:sp>
      <p:sp>
        <p:nvSpPr>
          <p:cNvPr id="42" name="Card 07"/>
          <p:cNvSpPr/>
          <p:nvPr/>
        </p:nvSpPr>
        <p:spPr>
          <a:xfrm>
            <a:off x="10946423" y="2787162"/>
            <a:ext cx="1512277" cy="2268415"/>
          </a:xfrm>
          <a:prstGeom prst="rect">
            <a:avLst/>
          </a:prstGeom>
          <a:solidFill>
            <a:srgbClr val="EAE9E4"/>
          </a:solidFill>
          <a:ln>
            <a:noFill/>
          </a:ln>
          <a:effectLst/>
        </p:spPr>
        <p:txBody>
          <a:bodyPr rtlCol="0" anchor="ctr"/>
          <a:lstStyle/>
          <a:p>
            <a:pPr algn="ctr"/>
            <a:endParaRPr/>
          </a:p>
        </p:txBody>
      </p:sp>
      <p:sp>
        <p:nvSpPr>
          <p:cNvPr id="43" name="Card 07 number"/>
          <p:cNvSpPr txBox="1"/>
          <p:nvPr/>
        </p:nvSpPr>
        <p:spPr>
          <a:xfrm>
            <a:off x="11113477" y="2971800"/>
            <a:ext cx="527538" cy="246185"/>
          </a:xfrm>
          <a:prstGeom prst="rect">
            <a:avLst/>
          </a:prstGeom>
          <a:noFill/>
        </p:spPr>
        <p:txBody>
          <a:bodyPr wrap="square" lIns="0" tIns="0" rIns="0" bIns="0" anchor="t">
            <a:spAutoFit/>
          </a:bodyPr>
          <a:lstStyle/>
          <a:p>
            <a:pPr algn="l">
              <a:spcBef>
                <a:spcPts val="0"/>
              </a:spcBef>
              <a:spcAft>
                <a:spcPts val="0"/>
              </a:spcAft>
            </a:pPr>
            <a:r>
              <a:rPr sz="1600" b="0">
                <a:solidFill>
                  <a:srgbClr val="0E0E0E"/>
                </a:solidFill>
                <a:latin typeface="Arial"/>
                <a:ea typeface="Arial"/>
                <a:cs typeface="Arial"/>
              </a:rPr>
              <a:t>07</a:t>
            </a:r>
          </a:p>
        </p:txBody>
      </p:sp>
      <p:cxnSp>
        <p:nvCxnSpPr>
          <p:cNvPr id="44" name="Card 07 rule"/>
          <p:cNvCxnSpPr/>
          <p:nvPr/>
        </p:nvCxnSpPr>
        <p:spPr>
          <a:xfrm>
            <a:off x="11113477" y="3297115"/>
            <a:ext cx="1213338" cy="0"/>
          </a:xfrm>
          <a:prstGeom prst="line">
            <a:avLst/>
          </a:prstGeom>
          <a:ln w="6350">
            <a:solidFill>
              <a:srgbClr val="A9A8A3"/>
            </a:solidFill>
          </a:ln>
        </p:spPr>
      </p:cxnSp>
      <p:sp>
        <p:nvSpPr>
          <p:cNvPr id="45" name="Card 07 title"/>
          <p:cNvSpPr txBox="1"/>
          <p:nvPr/>
        </p:nvSpPr>
        <p:spPr>
          <a:xfrm>
            <a:off x="11113477" y="3402623"/>
            <a:ext cx="1248508" cy="246185"/>
          </a:xfrm>
          <a:prstGeom prst="rect">
            <a:avLst/>
          </a:prstGeom>
          <a:noFill/>
        </p:spPr>
        <p:txBody>
          <a:bodyPr wrap="square" lIns="0" tIns="0" rIns="0" bIns="0" anchor="t">
            <a:spAutoFit/>
          </a:bodyPr>
          <a:lstStyle/>
          <a:p>
            <a:pPr algn="l">
              <a:spcBef>
                <a:spcPts val="0"/>
              </a:spcBef>
              <a:spcAft>
                <a:spcPts val="0"/>
              </a:spcAft>
            </a:pPr>
            <a:r>
              <a:rPr sz="1450" b="1">
                <a:solidFill>
                  <a:srgbClr val="0E0E0E"/>
                </a:solidFill>
                <a:latin typeface="Arial"/>
                <a:ea typeface="Arial"/>
                <a:cs typeface="Arial"/>
              </a:rPr>
              <a:t>Answer</a:t>
            </a:r>
          </a:p>
        </p:txBody>
      </p:sp>
      <p:sp>
        <p:nvSpPr>
          <p:cNvPr id="46" name="Card 07 body"/>
          <p:cNvSpPr txBox="1"/>
          <p:nvPr/>
        </p:nvSpPr>
        <p:spPr>
          <a:xfrm>
            <a:off x="11113477" y="3719146"/>
            <a:ext cx="1230923" cy="1143000"/>
          </a:xfrm>
          <a:prstGeom prst="rect">
            <a:avLst/>
          </a:prstGeom>
          <a:noFill/>
        </p:spPr>
        <p:txBody>
          <a:bodyPr wrap="square" lIns="0" tIns="0" rIns="0" bIns="0" anchor="t">
            <a:spAutoFit/>
          </a:bodyPr>
          <a:lstStyle/>
          <a:p>
            <a:pPr algn="l">
              <a:lnSpc>
                <a:spcPts val="1500"/>
              </a:lnSpc>
              <a:spcBef>
                <a:spcPts val="0"/>
              </a:spcBef>
              <a:spcAft>
                <a:spcPts val="0"/>
              </a:spcAft>
            </a:pPr>
            <a:r>
              <a:rPr sz="1200" b="0">
                <a:solidFill>
                  <a:srgbClr val="0E0E0E"/>
                </a:solidFill>
                <a:latin typeface="Arial"/>
                <a:ea typeface="Arial"/>
                <a:cs typeface="Arial"/>
              </a:rPr>
              <a:t>The LLM replies in the user's language, and a guardrail fixes any bad or missing links.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pic>
        <p:nvPicPr>
          <p:cNvPr id="2" name="Artwork 1" descr="Decorative artwork"/>
          <p:cNvPicPr>
            <a:picLocks noChangeAspect="1"/>
          </p:cNvPicPr>
          <p:nvPr/>
        </p:nvPicPr>
        <p:blipFill>
          <a:blip r:embed="rId2"/>
          <a:stretch>
            <a:fillRect/>
          </a:stretch>
        </p:blipFill>
        <p:spPr>
          <a:xfrm>
            <a:off x="0" y="4396154"/>
            <a:ext cx="8001000" cy="2804746"/>
          </a:xfrm>
          <a:prstGeom prst="rect">
            <a:avLst/>
          </a:prstGeom>
        </p:spPr>
      </p:pic>
      <p:sp>
        <p:nvSpPr>
          <p:cNvPr id="3" name="Title"/>
          <p:cNvSpPr txBox="1"/>
          <p:nvPr/>
        </p:nvSpPr>
        <p:spPr>
          <a:xfrm>
            <a:off x="457200" y="633046"/>
            <a:ext cx="10990385" cy="791308"/>
          </a:xfrm>
          <a:prstGeom prst="rect">
            <a:avLst/>
          </a:prstGeom>
          <a:noFill/>
        </p:spPr>
        <p:txBody>
          <a:bodyPr wrap="square" lIns="0" tIns="0" rIns="0" bIns="0" anchor="t">
            <a:spAutoFit/>
          </a:bodyPr>
          <a:lstStyle/>
          <a:p>
            <a:pPr algn="l">
              <a:spcBef>
                <a:spcPts val="0"/>
              </a:spcBef>
              <a:spcAft>
                <a:spcPts val="0"/>
              </a:spcAft>
            </a:pPr>
            <a:r>
              <a:rPr sz="4400" b="0">
                <a:solidFill>
                  <a:srgbClr val="F2F0EB"/>
                </a:solidFill>
                <a:latin typeface="Arial"/>
                <a:ea typeface="Arial"/>
                <a:cs typeface="Arial"/>
              </a:rPr>
              <a:t>Retrieval and Knowledge Grounding</a:t>
            </a:r>
          </a:p>
        </p:txBody>
      </p:sp>
      <p:sp>
        <p:nvSpPr>
          <p:cNvPr id="4" name="Column 01 number"/>
          <p:cNvSpPr txBox="1"/>
          <p:nvPr/>
        </p:nvSpPr>
        <p:spPr>
          <a:xfrm>
            <a:off x="465992" y="1688123"/>
            <a:ext cx="703385" cy="439615"/>
          </a:xfrm>
          <a:prstGeom prst="rect">
            <a:avLst/>
          </a:prstGeom>
          <a:noFill/>
        </p:spPr>
        <p:txBody>
          <a:bodyPr wrap="square" lIns="0" tIns="0" rIns="0" bIns="0" anchor="t">
            <a:spAutoFit/>
          </a:bodyPr>
          <a:lstStyle/>
          <a:p>
            <a:pPr algn="l">
              <a:spcBef>
                <a:spcPts val="0"/>
              </a:spcBef>
              <a:spcAft>
                <a:spcPts val="0"/>
              </a:spcAft>
            </a:pPr>
            <a:r>
              <a:rPr sz="3300" b="0">
                <a:solidFill>
                  <a:srgbClr val="F2F0EB"/>
                </a:solidFill>
                <a:latin typeface="Arial"/>
                <a:ea typeface="Arial"/>
                <a:cs typeface="Arial"/>
              </a:rPr>
              <a:t>01</a:t>
            </a:r>
          </a:p>
        </p:txBody>
      </p:sp>
      <p:sp>
        <p:nvSpPr>
          <p:cNvPr id="5" name="Column 01 heading"/>
          <p:cNvSpPr txBox="1"/>
          <p:nvPr/>
        </p:nvSpPr>
        <p:spPr>
          <a:xfrm>
            <a:off x="465992" y="2154115"/>
            <a:ext cx="1688123" cy="263769"/>
          </a:xfrm>
          <a:prstGeom prst="rect">
            <a:avLst/>
          </a:prstGeom>
          <a:noFill/>
        </p:spPr>
        <p:txBody>
          <a:bodyPr wrap="square" lIns="0" tIns="0" rIns="0" bIns="0" anchor="t">
            <a:spAutoFit/>
          </a:bodyPr>
          <a:lstStyle/>
          <a:p>
            <a:pPr algn="l">
              <a:spcBef>
                <a:spcPts val="0"/>
              </a:spcBef>
              <a:spcAft>
                <a:spcPts val="0"/>
              </a:spcAft>
            </a:pPr>
            <a:r>
              <a:rPr sz="1700" b="0">
                <a:solidFill>
                  <a:srgbClr val="F2F0EB"/>
                </a:solidFill>
                <a:latin typeface="Arial"/>
                <a:ea typeface="Arial"/>
                <a:cs typeface="Arial"/>
              </a:rPr>
              <a:t>Documents</a:t>
            </a:r>
          </a:p>
        </p:txBody>
      </p:sp>
      <p:sp>
        <p:nvSpPr>
          <p:cNvPr id="6" name="Column 01 body"/>
          <p:cNvSpPr txBox="1"/>
          <p:nvPr/>
        </p:nvSpPr>
        <p:spPr>
          <a:xfrm>
            <a:off x="465992" y="2505808"/>
            <a:ext cx="1512277" cy="1758462"/>
          </a:xfrm>
          <a:prstGeom prst="rect">
            <a:avLst/>
          </a:prstGeom>
          <a:noFill/>
        </p:spPr>
        <p:txBody>
          <a:bodyPr wrap="square" lIns="0" tIns="0" rIns="0" bIns="0" anchor="t">
            <a:spAutoFit/>
          </a:bodyPr>
          <a:lstStyle/>
          <a:p>
            <a:pPr algn="l">
              <a:lnSpc>
                <a:spcPts val="1580"/>
              </a:lnSpc>
              <a:spcBef>
                <a:spcPts val="0"/>
              </a:spcBef>
              <a:spcAft>
                <a:spcPts val="0"/>
              </a:spcAft>
            </a:pPr>
            <a:r>
              <a:rPr sz="1300" b="0">
                <a:solidFill>
                  <a:srgbClr val="F2F0EB"/>
                </a:solidFill>
                <a:latin typeface="Arial"/>
                <a:ea typeface="Arial"/>
                <a:cs typeface="Arial"/>
              </a:rPr>
              <a:t>The manual and knowledge base are split into labeled sections and chunks, each tagged with its source.</a:t>
            </a:r>
          </a:p>
        </p:txBody>
      </p:sp>
      <p:sp>
        <p:nvSpPr>
          <p:cNvPr id="7" name="Column 02 number"/>
          <p:cNvSpPr txBox="1"/>
          <p:nvPr/>
        </p:nvSpPr>
        <p:spPr>
          <a:xfrm>
            <a:off x="2347546" y="1688123"/>
            <a:ext cx="703385" cy="439615"/>
          </a:xfrm>
          <a:prstGeom prst="rect">
            <a:avLst/>
          </a:prstGeom>
          <a:noFill/>
        </p:spPr>
        <p:txBody>
          <a:bodyPr wrap="square" lIns="0" tIns="0" rIns="0" bIns="0" anchor="t">
            <a:spAutoFit/>
          </a:bodyPr>
          <a:lstStyle/>
          <a:p>
            <a:pPr algn="l">
              <a:spcBef>
                <a:spcPts val="0"/>
              </a:spcBef>
              <a:spcAft>
                <a:spcPts val="0"/>
              </a:spcAft>
            </a:pPr>
            <a:r>
              <a:rPr sz="3300" b="0">
                <a:solidFill>
                  <a:srgbClr val="F2F0EB"/>
                </a:solidFill>
                <a:latin typeface="Arial"/>
                <a:ea typeface="Arial"/>
                <a:cs typeface="Arial"/>
              </a:rPr>
              <a:t>02</a:t>
            </a:r>
          </a:p>
        </p:txBody>
      </p:sp>
      <p:sp>
        <p:nvSpPr>
          <p:cNvPr id="8" name="Column 02 heading"/>
          <p:cNvSpPr txBox="1"/>
          <p:nvPr/>
        </p:nvSpPr>
        <p:spPr>
          <a:xfrm>
            <a:off x="2347546" y="2154115"/>
            <a:ext cx="1565031" cy="263769"/>
          </a:xfrm>
          <a:prstGeom prst="rect">
            <a:avLst/>
          </a:prstGeom>
          <a:noFill/>
        </p:spPr>
        <p:txBody>
          <a:bodyPr wrap="square" lIns="0" tIns="0" rIns="0" bIns="0" anchor="t">
            <a:spAutoFit/>
          </a:bodyPr>
          <a:lstStyle/>
          <a:p>
            <a:pPr algn="l">
              <a:spcBef>
                <a:spcPts val="0"/>
              </a:spcBef>
              <a:spcAft>
                <a:spcPts val="0"/>
              </a:spcAft>
            </a:pPr>
            <a:r>
              <a:rPr sz="1700" b="0">
                <a:solidFill>
                  <a:srgbClr val="F2F0EB"/>
                </a:solidFill>
                <a:latin typeface="Arial"/>
                <a:ea typeface="Arial"/>
                <a:cs typeface="Arial"/>
              </a:rPr>
              <a:t>Search</a:t>
            </a:r>
          </a:p>
        </p:txBody>
      </p:sp>
      <p:sp>
        <p:nvSpPr>
          <p:cNvPr id="9" name="Column 02 body"/>
          <p:cNvSpPr txBox="1"/>
          <p:nvPr/>
        </p:nvSpPr>
        <p:spPr>
          <a:xfrm>
            <a:off x="2347546" y="2505808"/>
            <a:ext cx="1389185" cy="1758462"/>
          </a:xfrm>
          <a:prstGeom prst="rect">
            <a:avLst/>
          </a:prstGeom>
          <a:noFill/>
        </p:spPr>
        <p:txBody>
          <a:bodyPr wrap="square" lIns="0" tIns="0" rIns="0" bIns="0" anchor="t">
            <a:spAutoFit/>
          </a:bodyPr>
          <a:lstStyle/>
          <a:p>
            <a:pPr algn="l">
              <a:lnSpc>
                <a:spcPts val="1580"/>
              </a:lnSpc>
              <a:spcBef>
                <a:spcPts val="0"/>
              </a:spcBef>
              <a:spcAft>
                <a:spcPts val="0"/>
              </a:spcAft>
            </a:pPr>
            <a:r>
              <a:rPr sz="1300" b="0">
                <a:solidFill>
                  <a:srgbClr val="F2F0EB"/>
                </a:solidFill>
                <a:latin typeface="Arial"/>
                <a:ea typeface="Arial"/>
                <a:cs typeface="Arial"/>
              </a:rPr>
              <a:t>BM25 keyword scoring, plus multilingual embeddings when installed, find the best chunks. The embeddings are cached on disk.</a:t>
            </a:r>
          </a:p>
        </p:txBody>
      </p:sp>
      <p:cxnSp>
        <p:nvCxnSpPr>
          <p:cNvPr id="10" name="Column rule 1"/>
          <p:cNvCxnSpPr/>
          <p:nvPr/>
        </p:nvCxnSpPr>
        <p:spPr>
          <a:xfrm>
            <a:off x="2136531" y="1740877"/>
            <a:ext cx="0" cy="2435469"/>
          </a:xfrm>
          <a:prstGeom prst="line">
            <a:avLst/>
          </a:prstGeom>
          <a:ln w="9525">
            <a:solidFill>
              <a:srgbClr val="6A6A6A"/>
            </a:solidFill>
          </a:ln>
        </p:spPr>
      </p:cxnSp>
      <p:sp>
        <p:nvSpPr>
          <p:cNvPr id="11" name="Column 03 number"/>
          <p:cNvSpPr txBox="1"/>
          <p:nvPr/>
        </p:nvSpPr>
        <p:spPr>
          <a:xfrm>
            <a:off x="4070838" y="1688123"/>
            <a:ext cx="703385" cy="439615"/>
          </a:xfrm>
          <a:prstGeom prst="rect">
            <a:avLst/>
          </a:prstGeom>
          <a:noFill/>
        </p:spPr>
        <p:txBody>
          <a:bodyPr wrap="square" lIns="0" tIns="0" rIns="0" bIns="0" anchor="t">
            <a:spAutoFit/>
          </a:bodyPr>
          <a:lstStyle/>
          <a:p>
            <a:pPr algn="l">
              <a:spcBef>
                <a:spcPts val="0"/>
              </a:spcBef>
              <a:spcAft>
                <a:spcPts val="0"/>
              </a:spcAft>
            </a:pPr>
            <a:r>
              <a:rPr sz="3300" b="0">
                <a:solidFill>
                  <a:srgbClr val="F2F0EB"/>
                </a:solidFill>
                <a:latin typeface="Arial"/>
                <a:ea typeface="Arial"/>
                <a:cs typeface="Arial"/>
              </a:rPr>
              <a:t>03</a:t>
            </a:r>
          </a:p>
        </p:txBody>
      </p:sp>
      <p:sp>
        <p:nvSpPr>
          <p:cNvPr id="12" name="Column 03 heading"/>
          <p:cNvSpPr txBox="1"/>
          <p:nvPr/>
        </p:nvSpPr>
        <p:spPr>
          <a:xfrm>
            <a:off x="4070838" y="2154115"/>
            <a:ext cx="1652954" cy="263769"/>
          </a:xfrm>
          <a:prstGeom prst="rect">
            <a:avLst/>
          </a:prstGeom>
          <a:noFill/>
        </p:spPr>
        <p:txBody>
          <a:bodyPr wrap="square" lIns="0" tIns="0" rIns="0" bIns="0" anchor="t">
            <a:spAutoFit/>
          </a:bodyPr>
          <a:lstStyle/>
          <a:p>
            <a:pPr algn="l">
              <a:spcBef>
                <a:spcPts val="0"/>
              </a:spcBef>
              <a:spcAft>
                <a:spcPts val="0"/>
              </a:spcAft>
            </a:pPr>
            <a:r>
              <a:rPr sz="1700" b="0">
                <a:solidFill>
                  <a:srgbClr val="F2F0EB"/>
                </a:solidFill>
                <a:latin typeface="Arial"/>
                <a:ea typeface="Arial"/>
                <a:cs typeface="Arial"/>
              </a:rPr>
              <a:t>Context</a:t>
            </a:r>
          </a:p>
        </p:txBody>
      </p:sp>
      <p:sp>
        <p:nvSpPr>
          <p:cNvPr id="13" name="Column 03 body"/>
          <p:cNvSpPr txBox="1"/>
          <p:nvPr/>
        </p:nvSpPr>
        <p:spPr>
          <a:xfrm>
            <a:off x="4070838" y="2505808"/>
            <a:ext cx="1477108" cy="1758462"/>
          </a:xfrm>
          <a:prstGeom prst="rect">
            <a:avLst/>
          </a:prstGeom>
          <a:noFill/>
        </p:spPr>
        <p:txBody>
          <a:bodyPr wrap="square" lIns="0" tIns="0" rIns="0" bIns="0" anchor="t">
            <a:spAutoFit/>
          </a:bodyPr>
          <a:lstStyle/>
          <a:p>
            <a:pPr algn="l">
              <a:lnSpc>
                <a:spcPts val="1580"/>
              </a:lnSpc>
              <a:spcBef>
                <a:spcPts val="0"/>
              </a:spcBef>
              <a:spcAft>
                <a:spcPts val="0"/>
              </a:spcAft>
            </a:pPr>
            <a:r>
              <a:rPr sz="1300" b="0">
                <a:solidFill>
                  <a:srgbClr val="F2F0EB"/>
                </a:solidFill>
                <a:latin typeface="Arial"/>
                <a:ea typeface="Arial"/>
                <a:cs typeface="Arial"/>
              </a:rPr>
              <a:t>The top chunks, plus the rest of the best chunk's section, go to the LLM with their source labels.</a:t>
            </a:r>
          </a:p>
        </p:txBody>
      </p:sp>
      <p:cxnSp>
        <p:nvCxnSpPr>
          <p:cNvPr id="14" name="Column rule 2"/>
          <p:cNvCxnSpPr/>
          <p:nvPr/>
        </p:nvCxnSpPr>
        <p:spPr>
          <a:xfrm>
            <a:off x="3859823" y="1740877"/>
            <a:ext cx="0" cy="2435469"/>
          </a:xfrm>
          <a:prstGeom prst="line">
            <a:avLst/>
          </a:prstGeom>
          <a:ln w="9525">
            <a:solidFill>
              <a:srgbClr val="6A6A6A"/>
            </a:solidFill>
          </a:ln>
        </p:spPr>
      </p:cxnSp>
      <p:sp>
        <p:nvSpPr>
          <p:cNvPr id="15" name="Column 04 number"/>
          <p:cNvSpPr txBox="1"/>
          <p:nvPr/>
        </p:nvSpPr>
        <p:spPr>
          <a:xfrm>
            <a:off x="5890846" y="1688123"/>
            <a:ext cx="703385" cy="439615"/>
          </a:xfrm>
          <a:prstGeom prst="rect">
            <a:avLst/>
          </a:prstGeom>
          <a:noFill/>
        </p:spPr>
        <p:txBody>
          <a:bodyPr wrap="square" lIns="0" tIns="0" rIns="0" bIns="0" anchor="t">
            <a:spAutoFit/>
          </a:bodyPr>
          <a:lstStyle/>
          <a:p>
            <a:pPr algn="l">
              <a:spcBef>
                <a:spcPts val="0"/>
              </a:spcBef>
              <a:spcAft>
                <a:spcPts val="0"/>
              </a:spcAft>
            </a:pPr>
            <a:r>
              <a:rPr sz="3300" b="0">
                <a:solidFill>
                  <a:srgbClr val="F2F0EB"/>
                </a:solidFill>
                <a:latin typeface="Arial"/>
                <a:ea typeface="Arial"/>
                <a:cs typeface="Arial"/>
              </a:rPr>
              <a:t>04</a:t>
            </a:r>
          </a:p>
        </p:txBody>
      </p:sp>
      <p:sp>
        <p:nvSpPr>
          <p:cNvPr id="16" name="Column 04 heading"/>
          <p:cNvSpPr txBox="1"/>
          <p:nvPr/>
        </p:nvSpPr>
        <p:spPr>
          <a:xfrm>
            <a:off x="5890846" y="2154115"/>
            <a:ext cx="1600200" cy="263769"/>
          </a:xfrm>
          <a:prstGeom prst="rect">
            <a:avLst/>
          </a:prstGeom>
          <a:noFill/>
        </p:spPr>
        <p:txBody>
          <a:bodyPr wrap="square" lIns="0" tIns="0" rIns="0" bIns="0" anchor="t">
            <a:spAutoFit/>
          </a:bodyPr>
          <a:lstStyle/>
          <a:p>
            <a:pPr algn="l">
              <a:spcBef>
                <a:spcPts val="0"/>
              </a:spcBef>
              <a:spcAft>
                <a:spcPts val="0"/>
              </a:spcAft>
            </a:pPr>
            <a:r>
              <a:rPr sz="1700" b="0">
                <a:solidFill>
                  <a:srgbClr val="F2F0EB"/>
                </a:solidFill>
                <a:latin typeface="Arial"/>
                <a:ea typeface="Arial"/>
                <a:cs typeface="Arial"/>
              </a:rPr>
              <a:t>Abstention</a:t>
            </a:r>
          </a:p>
        </p:txBody>
      </p:sp>
      <p:sp>
        <p:nvSpPr>
          <p:cNvPr id="17" name="Column 04 body"/>
          <p:cNvSpPr txBox="1"/>
          <p:nvPr/>
        </p:nvSpPr>
        <p:spPr>
          <a:xfrm>
            <a:off x="5890846" y="2505808"/>
            <a:ext cx="1424354" cy="1758462"/>
          </a:xfrm>
          <a:prstGeom prst="rect">
            <a:avLst/>
          </a:prstGeom>
          <a:noFill/>
        </p:spPr>
        <p:txBody>
          <a:bodyPr wrap="square" lIns="0" tIns="0" rIns="0" bIns="0" anchor="t">
            <a:spAutoFit/>
          </a:bodyPr>
          <a:lstStyle/>
          <a:p>
            <a:pPr algn="l">
              <a:lnSpc>
                <a:spcPts val="1580"/>
              </a:lnSpc>
              <a:spcBef>
                <a:spcPts val="0"/>
              </a:spcBef>
              <a:spcAft>
                <a:spcPts val="0"/>
              </a:spcAft>
            </a:pPr>
            <a:r>
              <a:rPr sz="1300" b="0">
                <a:solidFill>
                  <a:srgbClr val="F2F0EB"/>
                </a:solidFill>
                <a:latin typeface="Arial"/>
                <a:ea typeface="Arial"/>
                <a:cs typeface="Arial"/>
              </a:rPr>
              <a:t>A coverage score checks how many of the question's terms the chunks contain. A low score flags “no relevant information”.</a:t>
            </a:r>
          </a:p>
        </p:txBody>
      </p:sp>
      <p:cxnSp>
        <p:nvCxnSpPr>
          <p:cNvPr id="18" name="Column rule 3"/>
          <p:cNvCxnSpPr/>
          <p:nvPr/>
        </p:nvCxnSpPr>
        <p:spPr>
          <a:xfrm>
            <a:off x="5679831" y="1740877"/>
            <a:ext cx="0" cy="2435469"/>
          </a:xfrm>
          <a:prstGeom prst="line">
            <a:avLst/>
          </a:prstGeom>
          <a:ln w="9525">
            <a:solidFill>
              <a:srgbClr val="6A6A6A"/>
            </a:solidFill>
          </a:ln>
        </p:spPr>
      </p:cxnSp>
      <p:sp>
        <p:nvSpPr>
          <p:cNvPr id="19" name="Column 05 number"/>
          <p:cNvSpPr txBox="1"/>
          <p:nvPr/>
        </p:nvSpPr>
        <p:spPr>
          <a:xfrm>
            <a:off x="7675685" y="1688123"/>
            <a:ext cx="703385" cy="439615"/>
          </a:xfrm>
          <a:prstGeom prst="rect">
            <a:avLst/>
          </a:prstGeom>
          <a:noFill/>
        </p:spPr>
        <p:txBody>
          <a:bodyPr wrap="square" lIns="0" tIns="0" rIns="0" bIns="0" anchor="t">
            <a:spAutoFit/>
          </a:bodyPr>
          <a:lstStyle/>
          <a:p>
            <a:pPr algn="l">
              <a:spcBef>
                <a:spcPts val="0"/>
              </a:spcBef>
              <a:spcAft>
                <a:spcPts val="0"/>
              </a:spcAft>
            </a:pPr>
            <a:r>
              <a:rPr sz="3300" b="0">
                <a:solidFill>
                  <a:srgbClr val="F2F0EB"/>
                </a:solidFill>
                <a:latin typeface="Arial"/>
                <a:ea typeface="Arial"/>
                <a:cs typeface="Arial"/>
              </a:rPr>
              <a:t>05</a:t>
            </a:r>
          </a:p>
        </p:txBody>
      </p:sp>
      <p:sp>
        <p:nvSpPr>
          <p:cNvPr id="20" name="Column 05 heading"/>
          <p:cNvSpPr txBox="1"/>
          <p:nvPr/>
        </p:nvSpPr>
        <p:spPr>
          <a:xfrm>
            <a:off x="7675685" y="2154115"/>
            <a:ext cx="1758462" cy="263769"/>
          </a:xfrm>
          <a:prstGeom prst="rect">
            <a:avLst/>
          </a:prstGeom>
          <a:noFill/>
        </p:spPr>
        <p:txBody>
          <a:bodyPr wrap="square" lIns="0" tIns="0" rIns="0" bIns="0" anchor="t">
            <a:spAutoFit/>
          </a:bodyPr>
          <a:lstStyle/>
          <a:p>
            <a:pPr algn="l">
              <a:spcBef>
                <a:spcPts val="0"/>
              </a:spcBef>
              <a:spcAft>
                <a:spcPts val="0"/>
              </a:spcAft>
            </a:pPr>
            <a:r>
              <a:rPr sz="1700" b="0">
                <a:solidFill>
                  <a:srgbClr val="F2F0EB"/>
                </a:solidFill>
                <a:latin typeface="Arial"/>
                <a:ea typeface="Arial"/>
                <a:cs typeface="Arial"/>
              </a:rPr>
              <a:t>Grounded answer</a:t>
            </a:r>
          </a:p>
        </p:txBody>
      </p:sp>
      <p:sp>
        <p:nvSpPr>
          <p:cNvPr id="21" name="Column 05 body"/>
          <p:cNvSpPr txBox="1"/>
          <p:nvPr/>
        </p:nvSpPr>
        <p:spPr>
          <a:xfrm>
            <a:off x="7675685" y="2505808"/>
            <a:ext cx="1582615" cy="1758462"/>
          </a:xfrm>
          <a:prstGeom prst="rect">
            <a:avLst/>
          </a:prstGeom>
          <a:noFill/>
        </p:spPr>
        <p:txBody>
          <a:bodyPr wrap="square" lIns="0" tIns="0" rIns="0" bIns="0" anchor="t">
            <a:spAutoFit/>
          </a:bodyPr>
          <a:lstStyle/>
          <a:p>
            <a:pPr algn="l">
              <a:lnSpc>
                <a:spcPts val="1580"/>
              </a:lnSpc>
              <a:spcBef>
                <a:spcPts val="0"/>
              </a:spcBef>
              <a:spcAft>
                <a:spcPts val="0"/>
              </a:spcAft>
            </a:pPr>
            <a:r>
              <a:rPr sz="1300" b="0">
                <a:solidFill>
                  <a:srgbClr val="F2F0EB"/>
                </a:solidFill>
                <a:latin typeface="Arial"/>
                <a:ea typeface="Arial"/>
                <a:cs typeface="Arial"/>
              </a:rPr>
              <a:t>The LLM must answer only from that context and say when it doesn't have the information.</a:t>
            </a:r>
          </a:p>
        </p:txBody>
      </p:sp>
      <p:cxnSp>
        <p:nvCxnSpPr>
          <p:cNvPr id="22" name="Column rule 4"/>
          <p:cNvCxnSpPr/>
          <p:nvPr/>
        </p:nvCxnSpPr>
        <p:spPr>
          <a:xfrm>
            <a:off x="7464669" y="1740877"/>
            <a:ext cx="0" cy="2435469"/>
          </a:xfrm>
          <a:prstGeom prst="line">
            <a:avLst/>
          </a:prstGeom>
          <a:ln w="9525">
            <a:solidFill>
              <a:srgbClr val="6A6A6A"/>
            </a:solidFill>
          </a:ln>
        </p:spPr>
      </p:cxnSp>
      <p:sp>
        <p:nvSpPr>
          <p:cNvPr id="23" name="Column 06 number"/>
          <p:cNvSpPr txBox="1"/>
          <p:nvPr/>
        </p:nvSpPr>
        <p:spPr>
          <a:xfrm>
            <a:off x="9627577" y="1688123"/>
            <a:ext cx="703385" cy="439615"/>
          </a:xfrm>
          <a:prstGeom prst="rect">
            <a:avLst/>
          </a:prstGeom>
          <a:noFill/>
        </p:spPr>
        <p:txBody>
          <a:bodyPr wrap="square" lIns="0" tIns="0" rIns="0" bIns="0" anchor="t">
            <a:spAutoFit/>
          </a:bodyPr>
          <a:lstStyle/>
          <a:p>
            <a:pPr algn="l">
              <a:spcBef>
                <a:spcPts val="0"/>
              </a:spcBef>
              <a:spcAft>
                <a:spcPts val="0"/>
              </a:spcAft>
            </a:pPr>
            <a:r>
              <a:rPr sz="3300" b="0">
                <a:solidFill>
                  <a:srgbClr val="F2F0EB"/>
                </a:solidFill>
                <a:latin typeface="Arial"/>
                <a:ea typeface="Arial"/>
                <a:cs typeface="Arial"/>
              </a:rPr>
              <a:t>06</a:t>
            </a:r>
          </a:p>
        </p:txBody>
      </p:sp>
      <p:sp>
        <p:nvSpPr>
          <p:cNvPr id="24" name="Column 06 heading"/>
          <p:cNvSpPr txBox="1"/>
          <p:nvPr/>
        </p:nvSpPr>
        <p:spPr>
          <a:xfrm>
            <a:off x="9627577" y="2154115"/>
            <a:ext cx="1406769" cy="263769"/>
          </a:xfrm>
          <a:prstGeom prst="rect">
            <a:avLst/>
          </a:prstGeom>
          <a:noFill/>
        </p:spPr>
        <p:txBody>
          <a:bodyPr wrap="square" lIns="0" tIns="0" rIns="0" bIns="0" anchor="t">
            <a:spAutoFit/>
          </a:bodyPr>
          <a:lstStyle/>
          <a:p>
            <a:pPr algn="l">
              <a:spcBef>
                <a:spcPts val="0"/>
              </a:spcBef>
              <a:spcAft>
                <a:spcPts val="0"/>
              </a:spcAft>
            </a:pPr>
            <a:r>
              <a:rPr sz="1700" b="0">
                <a:solidFill>
                  <a:srgbClr val="F2F0EB"/>
                </a:solidFill>
                <a:latin typeface="Arial"/>
                <a:ea typeface="Arial"/>
                <a:cs typeface="Arial"/>
              </a:rPr>
              <a:t>Guardrail</a:t>
            </a:r>
          </a:p>
        </p:txBody>
      </p:sp>
      <p:sp>
        <p:nvSpPr>
          <p:cNvPr id="25" name="Column 06 body"/>
          <p:cNvSpPr txBox="1"/>
          <p:nvPr/>
        </p:nvSpPr>
        <p:spPr>
          <a:xfrm>
            <a:off x="9627577" y="2505808"/>
            <a:ext cx="1230923" cy="1758462"/>
          </a:xfrm>
          <a:prstGeom prst="rect">
            <a:avLst/>
          </a:prstGeom>
          <a:noFill/>
        </p:spPr>
        <p:txBody>
          <a:bodyPr wrap="square" lIns="0" tIns="0" rIns="0" bIns="0" anchor="t">
            <a:spAutoFit/>
          </a:bodyPr>
          <a:lstStyle/>
          <a:p>
            <a:pPr algn="l">
              <a:lnSpc>
                <a:spcPts val="1580"/>
              </a:lnSpc>
              <a:spcBef>
                <a:spcPts val="0"/>
              </a:spcBef>
              <a:spcAft>
                <a:spcPts val="0"/>
              </a:spcAft>
            </a:pPr>
            <a:r>
              <a:rPr sz="1300" b="0">
                <a:solidFill>
                  <a:srgbClr val="F2F0EB"/>
                </a:solidFill>
                <a:latin typeface="Arial"/>
                <a:ea typeface="Arial"/>
                <a:cs typeface="Arial"/>
              </a:rPr>
              <a:t>Invented URLs are removed and required links are added.</a:t>
            </a:r>
          </a:p>
        </p:txBody>
      </p:sp>
      <p:cxnSp>
        <p:nvCxnSpPr>
          <p:cNvPr id="26" name="Column rule 5"/>
          <p:cNvCxnSpPr/>
          <p:nvPr/>
        </p:nvCxnSpPr>
        <p:spPr>
          <a:xfrm>
            <a:off x="9416562" y="1740877"/>
            <a:ext cx="0" cy="2435469"/>
          </a:xfrm>
          <a:prstGeom prst="line">
            <a:avLst/>
          </a:prstGeom>
          <a:ln w="9525">
            <a:solidFill>
              <a:srgbClr val="6A6A6A"/>
            </a:solidFill>
          </a:ln>
        </p:spPr>
      </p:cxnSp>
      <p:sp>
        <p:nvSpPr>
          <p:cNvPr id="27" name="Column 07 number"/>
          <p:cNvSpPr txBox="1"/>
          <p:nvPr/>
        </p:nvSpPr>
        <p:spPr>
          <a:xfrm>
            <a:off x="11148646" y="1688123"/>
            <a:ext cx="703385" cy="439615"/>
          </a:xfrm>
          <a:prstGeom prst="rect">
            <a:avLst/>
          </a:prstGeom>
          <a:noFill/>
        </p:spPr>
        <p:txBody>
          <a:bodyPr wrap="square" lIns="0" tIns="0" rIns="0" bIns="0" anchor="t">
            <a:spAutoFit/>
          </a:bodyPr>
          <a:lstStyle/>
          <a:p>
            <a:pPr algn="l">
              <a:spcBef>
                <a:spcPts val="0"/>
              </a:spcBef>
              <a:spcAft>
                <a:spcPts val="0"/>
              </a:spcAft>
            </a:pPr>
            <a:r>
              <a:rPr sz="3300" b="0">
                <a:solidFill>
                  <a:srgbClr val="F2F0EB"/>
                </a:solidFill>
                <a:latin typeface="Arial"/>
                <a:ea typeface="Arial"/>
                <a:cs typeface="Arial"/>
              </a:rPr>
              <a:t>07</a:t>
            </a:r>
          </a:p>
        </p:txBody>
      </p:sp>
      <p:sp>
        <p:nvSpPr>
          <p:cNvPr id="28" name="Column 07 heading"/>
          <p:cNvSpPr txBox="1"/>
          <p:nvPr/>
        </p:nvSpPr>
        <p:spPr>
          <a:xfrm>
            <a:off x="11148646" y="2154115"/>
            <a:ext cx="1714500" cy="263769"/>
          </a:xfrm>
          <a:prstGeom prst="rect">
            <a:avLst/>
          </a:prstGeom>
          <a:noFill/>
        </p:spPr>
        <p:txBody>
          <a:bodyPr wrap="square" lIns="0" tIns="0" rIns="0" bIns="0" anchor="t">
            <a:spAutoFit/>
          </a:bodyPr>
          <a:lstStyle/>
          <a:p>
            <a:pPr algn="l">
              <a:spcBef>
                <a:spcPts val="0"/>
              </a:spcBef>
              <a:spcAft>
                <a:spcPts val="0"/>
              </a:spcAft>
            </a:pPr>
            <a:r>
              <a:rPr sz="1700" b="0">
                <a:solidFill>
                  <a:srgbClr val="F2F0EB"/>
                </a:solidFill>
                <a:latin typeface="Arial"/>
                <a:ea typeface="Arial"/>
                <a:cs typeface="Arial"/>
              </a:rPr>
              <a:t>Offline fallback</a:t>
            </a:r>
          </a:p>
        </p:txBody>
      </p:sp>
      <p:sp>
        <p:nvSpPr>
          <p:cNvPr id="29" name="Column 07 body"/>
          <p:cNvSpPr txBox="1"/>
          <p:nvPr/>
        </p:nvSpPr>
        <p:spPr>
          <a:xfrm>
            <a:off x="11148646" y="2505808"/>
            <a:ext cx="1538654" cy="1758462"/>
          </a:xfrm>
          <a:prstGeom prst="rect">
            <a:avLst/>
          </a:prstGeom>
          <a:noFill/>
        </p:spPr>
        <p:txBody>
          <a:bodyPr wrap="square" lIns="0" tIns="0" rIns="0" bIns="0" anchor="t">
            <a:spAutoFit/>
          </a:bodyPr>
          <a:lstStyle/>
          <a:p>
            <a:pPr algn="l">
              <a:lnSpc>
                <a:spcPts val="1580"/>
              </a:lnSpc>
              <a:spcBef>
                <a:spcPts val="0"/>
              </a:spcBef>
              <a:spcAft>
                <a:spcPts val="0"/>
              </a:spcAft>
            </a:pPr>
            <a:r>
              <a:rPr sz="1300" b="0">
                <a:solidFill>
                  <a:srgbClr val="F2F0EB"/>
                </a:solidFill>
                <a:latin typeface="Arial"/>
                <a:ea typeface="Arial"/>
                <a:cs typeface="Arial"/>
              </a:rPr>
              <a:t>If the model is down, the user gets the retrieved text.</a:t>
            </a:r>
          </a:p>
        </p:txBody>
      </p:sp>
      <p:cxnSp>
        <p:nvCxnSpPr>
          <p:cNvPr id="30" name="Column rule 6"/>
          <p:cNvCxnSpPr/>
          <p:nvPr/>
        </p:nvCxnSpPr>
        <p:spPr>
          <a:xfrm>
            <a:off x="10937631" y="1740877"/>
            <a:ext cx="0" cy="2435469"/>
          </a:xfrm>
          <a:prstGeom prst="line">
            <a:avLst/>
          </a:prstGeom>
          <a:ln w="9525">
            <a:solidFill>
              <a:srgbClr val="6A6A6A"/>
            </a:solidFill>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3EE"/>
        </a:solidFill>
        <a:effectLst/>
      </p:bgPr>
    </p:bg>
    <p:spTree>
      <p:nvGrpSpPr>
        <p:cNvPr id="1" name=""/>
        <p:cNvGrpSpPr/>
        <p:nvPr/>
      </p:nvGrpSpPr>
      <p:grpSpPr>
        <a:xfrm>
          <a:off x="0" y="0"/>
          <a:ext cx="0" cy="0"/>
          <a:chOff x="0" y="0"/>
          <a:chExt cx="0" cy="0"/>
        </a:xfrm>
      </p:grpSpPr>
      <p:pic>
        <p:nvPicPr>
          <p:cNvPr id="2" name="Artwork 1" descr="Decorative artwork"/>
          <p:cNvPicPr>
            <a:picLocks noChangeAspect="1"/>
          </p:cNvPicPr>
          <p:nvPr/>
        </p:nvPicPr>
        <p:blipFill>
          <a:blip r:embed="rId2"/>
          <a:stretch>
            <a:fillRect/>
          </a:stretch>
        </p:blipFill>
        <p:spPr>
          <a:xfrm>
            <a:off x="9082454" y="0"/>
            <a:ext cx="3719146" cy="7200900"/>
          </a:xfrm>
          <a:prstGeom prst="rect">
            <a:avLst/>
          </a:prstGeom>
        </p:spPr>
      </p:pic>
      <p:sp>
        <p:nvSpPr>
          <p:cNvPr id="3" name="Big number"/>
          <p:cNvSpPr txBox="1"/>
          <p:nvPr/>
        </p:nvSpPr>
        <p:spPr>
          <a:xfrm>
            <a:off x="351692" y="351692"/>
            <a:ext cx="3341077" cy="2901462"/>
          </a:xfrm>
          <a:prstGeom prst="rect">
            <a:avLst/>
          </a:prstGeom>
          <a:noFill/>
        </p:spPr>
        <p:txBody>
          <a:bodyPr wrap="square" lIns="0" tIns="0" rIns="0" bIns="0" anchor="t">
            <a:spAutoFit/>
          </a:bodyPr>
          <a:lstStyle/>
          <a:p>
            <a:pPr algn="l">
              <a:lnSpc>
                <a:spcPts val="20500"/>
              </a:lnSpc>
              <a:spcBef>
                <a:spcPts val="0"/>
              </a:spcBef>
              <a:spcAft>
                <a:spcPts val="0"/>
              </a:spcAft>
            </a:pPr>
            <a:r>
              <a:rPr sz="20500" b="0">
                <a:solidFill>
                  <a:srgbClr val="0E0E0E"/>
                </a:solidFill>
                <a:latin typeface="Impact"/>
                <a:ea typeface="Impact"/>
                <a:cs typeface="Impact"/>
              </a:rPr>
              <a:t>76</a:t>
            </a:r>
          </a:p>
        </p:txBody>
      </p:sp>
      <p:sp>
        <p:nvSpPr>
          <p:cNvPr id="4" name="Title"/>
          <p:cNvSpPr txBox="1"/>
          <p:nvPr/>
        </p:nvSpPr>
        <p:spPr>
          <a:xfrm>
            <a:off x="3798277" y="685800"/>
            <a:ext cx="4923692" cy="1143000"/>
          </a:xfrm>
          <a:prstGeom prst="rect">
            <a:avLst/>
          </a:prstGeom>
          <a:noFill/>
        </p:spPr>
        <p:txBody>
          <a:bodyPr wrap="square" lIns="0" tIns="0" rIns="0" bIns="0" anchor="t">
            <a:spAutoFit/>
          </a:bodyPr>
          <a:lstStyle/>
          <a:p>
            <a:pPr algn="l">
              <a:lnSpc>
                <a:spcPts val="5200"/>
              </a:lnSpc>
              <a:spcBef>
                <a:spcPts val="0"/>
              </a:spcBef>
              <a:spcAft>
                <a:spcPts val="0"/>
              </a:spcAft>
            </a:pPr>
            <a:r>
              <a:rPr sz="4300" b="0">
                <a:solidFill>
                  <a:srgbClr val="0E0E0E"/>
                </a:solidFill>
                <a:latin typeface="Impact"/>
                <a:ea typeface="Impact"/>
                <a:cs typeface="Impact"/>
              </a:rPr>
              <a:t>Benchmark Dataset</a:t>
            </a:r>
          </a:p>
          <a:p>
            <a:pPr algn="l">
              <a:lnSpc>
                <a:spcPts val="5200"/>
              </a:lnSpc>
              <a:spcBef>
                <a:spcPts val="0"/>
              </a:spcBef>
              <a:spcAft>
                <a:spcPts val="0"/>
              </a:spcAft>
            </a:pPr>
            <a:r>
              <a:rPr sz="4300" b="0">
                <a:solidFill>
                  <a:srgbClr val="0E0E0E"/>
                </a:solidFill>
                <a:latin typeface="Impact"/>
                <a:ea typeface="Impact"/>
                <a:cs typeface="Impact"/>
              </a:rPr>
              <a:t>and Evaluation</a:t>
            </a:r>
          </a:p>
        </p:txBody>
      </p:sp>
      <p:sp>
        <p:nvSpPr>
          <p:cNvPr id="5" name="Description"/>
          <p:cNvSpPr txBox="1"/>
          <p:nvPr/>
        </p:nvSpPr>
        <p:spPr>
          <a:xfrm>
            <a:off x="3798277" y="1890346"/>
            <a:ext cx="4923692" cy="1318846"/>
          </a:xfrm>
          <a:prstGeom prst="rect">
            <a:avLst/>
          </a:prstGeom>
          <a:noFill/>
        </p:spPr>
        <p:txBody>
          <a:bodyPr wrap="square" lIns="0" tIns="0" rIns="0" bIns="0" anchor="t">
            <a:spAutoFit/>
          </a:bodyPr>
          <a:lstStyle/>
          <a:p>
            <a:pPr algn="l">
              <a:lnSpc>
                <a:spcPts val="2350"/>
              </a:lnSpc>
              <a:spcBef>
                <a:spcPts val="0"/>
              </a:spcBef>
              <a:spcAft>
                <a:spcPts val="0"/>
              </a:spcAft>
            </a:pPr>
            <a:r>
              <a:rPr sz="1950" b="0">
                <a:solidFill>
                  <a:srgbClr val="0E0E0E"/>
                </a:solidFill>
                <a:latin typeface="Arial"/>
                <a:ea typeface="Arial"/>
                <a:cs typeface="Arial"/>
              </a:rPr>
              <a:t>questions written from the NCAIR manual and knowledge base, covering links, steps, policies, out-of-scope questions and four Nigerian languages.</a:t>
            </a:r>
          </a:p>
        </p:txBody>
      </p:sp>
      <p:cxnSp>
        <p:nvCxnSpPr>
          <p:cNvPr id="6" name="Divider A"/>
          <p:cNvCxnSpPr/>
          <p:nvPr/>
        </p:nvCxnSpPr>
        <p:spPr>
          <a:xfrm>
            <a:off x="536331" y="3341077"/>
            <a:ext cx="0" cy="923192"/>
          </a:xfrm>
          <a:prstGeom prst="line">
            <a:avLst/>
          </a:prstGeom>
          <a:ln w="9525">
            <a:solidFill>
              <a:srgbClr val="0E0E0E"/>
            </a:solidFill>
          </a:ln>
        </p:spPr>
      </p:cxnSp>
      <p:sp>
        <p:nvSpPr>
          <p:cNvPr id="8" name="Labels heading"/>
          <p:cNvSpPr txBox="1"/>
          <p:nvPr/>
        </p:nvSpPr>
        <p:spPr>
          <a:xfrm>
            <a:off x="835269" y="3323492"/>
            <a:ext cx="2637692" cy="211015"/>
          </a:xfrm>
          <a:prstGeom prst="rect">
            <a:avLst/>
          </a:prstGeom>
          <a:noFill/>
        </p:spPr>
        <p:txBody>
          <a:bodyPr wrap="square" lIns="0" tIns="0" rIns="0" bIns="0" anchor="t">
            <a:spAutoFit/>
          </a:bodyPr>
          <a:lstStyle/>
          <a:p>
            <a:pPr algn="l">
              <a:spcBef>
                <a:spcPts val="0"/>
              </a:spcBef>
              <a:spcAft>
                <a:spcPts val="0"/>
              </a:spcAft>
            </a:pPr>
            <a:r>
              <a:rPr sz="1400" b="1" spc="300">
                <a:solidFill>
                  <a:srgbClr val="0E0E0E"/>
                </a:solidFill>
                <a:latin typeface="Courier New"/>
                <a:ea typeface="Courier New"/>
                <a:cs typeface="Courier New"/>
              </a:rPr>
              <a:t>LABELS</a:t>
            </a:r>
          </a:p>
        </p:txBody>
      </p:sp>
      <p:sp>
        <p:nvSpPr>
          <p:cNvPr id="9" name="Labels body"/>
          <p:cNvSpPr txBox="1"/>
          <p:nvPr/>
        </p:nvSpPr>
        <p:spPr>
          <a:xfrm>
            <a:off x="835269" y="3604846"/>
            <a:ext cx="3780692" cy="791308"/>
          </a:xfrm>
          <a:prstGeom prst="rect">
            <a:avLst/>
          </a:prstGeom>
          <a:noFill/>
        </p:spPr>
        <p:txBody>
          <a:bodyPr wrap="square" lIns="0" tIns="0" rIns="0" bIns="0" anchor="t">
            <a:spAutoFit/>
          </a:bodyPr>
          <a:lstStyle/>
          <a:p>
            <a:pPr algn="l">
              <a:lnSpc>
                <a:spcPts val="1800"/>
              </a:lnSpc>
              <a:spcBef>
                <a:spcPts val="0"/>
              </a:spcBef>
              <a:spcAft>
                <a:spcPts val="0"/>
              </a:spcAft>
            </a:pPr>
            <a:r>
              <a:rPr sz="1400" b="0">
                <a:solidFill>
                  <a:srgbClr val="0E0E0E"/>
                </a:solidFill>
                <a:latin typeface="Arial"/>
                <a:ea typeface="Arial"/>
                <a:cs typeface="Arial"/>
              </a:rPr>
              <a:t>each question has the expected tool, required facts, links, gold sources and a reference answer.</a:t>
            </a:r>
          </a:p>
        </p:txBody>
      </p:sp>
      <p:cxnSp>
        <p:nvCxnSpPr>
          <p:cNvPr id="12" name="Rule 1"/>
          <p:cNvCxnSpPr/>
          <p:nvPr/>
        </p:nvCxnSpPr>
        <p:spPr>
          <a:xfrm>
            <a:off x="536331" y="4528038"/>
            <a:ext cx="8229600" cy="0"/>
          </a:xfrm>
          <a:prstGeom prst="line">
            <a:avLst/>
          </a:prstGeom>
          <a:ln w="9525">
            <a:solidFill>
              <a:srgbClr val="C4C3BE"/>
            </a:solidFill>
          </a:ln>
        </p:spPr>
      </p:cxnSp>
      <p:cxnSp>
        <p:nvCxnSpPr>
          <p:cNvPr id="13" name="Divider C"/>
          <p:cNvCxnSpPr/>
          <p:nvPr/>
        </p:nvCxnSpPr>
        <p:spPr>
          <a:xfrm>
            <a:off x="3341077" y="4800600"/>
            <a:ext cx="0" cy="914400"/>
          </a:xfrm>
          <a:prstGeom prst="line">
            <a:avLst/>
          </a:prstGeom>
          <a:ln w="9525">
            <a:solidFill>
              <a:srgbClr val="0E0E0E"/>
            </a:solidFill>
          </a:ln>
        </p:spPr>
      </p:cxnSp>
      <p:cxnSp>
        <p:nvCxnSpPr>
          <p:cNvPr id="14" name="Divider D"/>
          <p:cNvCxnSpPr/>
          <p:nvPr/>
        </p:nvCxnSpPr>
        <p:spPr>
          <a:xfrm>
            <a:off x="6392008" y="4800600"/>
            <a:ext cx="0" cy="914400"/>
          </a:xfrm>
          <a:prstGeom prst="line">
            <a:avLst/>
          </a:prstGeom>
          <a:ln w="9525">
            <a:solidFill>
              <a:srgbClr val="0E0E0E"/>
            </a:solidFill>
          </a:ln>
        </p:spPr>
      </p:cxnSp>
      <p:sp>
        <p:nvSpPr>
          <p:cNvPr id="15" name="Check 1 heading"/>
          <p:cNvSpPr txBox="1"/>
          <p:nvPr/>
        </p:nvSpPr>
        <p:spPr>
          <a:xfrm>
            <a:off x="536331" y="4783015"/>
            <a:ext cx="2813538" cy="211015"/>
          </a:xfrm>
          <a:prstGeom prst="rect">
            <a:avLst/>
          </a:prstGeom>
          <a:noFill/>
        </p:spPr>
        <p:txBody>
          <a:bodyPr wrap="square" lIns="0" tIns="0" rIns="0" bIns="0" anchor="t">
            <a:spAutoFit/>
          </a:bodyPr>
          <a:lstStyle/>
          <a:p>
            <a:pPr algn="l">
              <a:spcBef>
                <a:spcPts val="0"/>
              </a:spcBef>
              <a:spcAft>
                <a:spcPts val="0"/>
              </a:spcAft>
            </a:pPr>
            <a:r>
              <a:rPr sz="1400" b="1" spc="300">
                <a:solidFill>
                  <a:srgbClr val="0E0E0E"/>
                </a:solidFill>
                <a:latin typeface="Courier New"/>
                <a:ea typeface="Courier New"/>
                <a:cs typeface="Courier New"/>
              </a:rPr>
              <a:t>RETRIEVAL CHECK</a:t>
            </a:r>
          </a:p>
        </p:txBody>
      </p:sp>
      <p:sp>
        <p:nvSpPr>
          <p:cNvPr id="16" name="Check 1 body"/>
          <p:cNvSpPr txBox="1"/>
          <p:nvPr/>
        </p:nvSpPr>
        <p:spPr>
          <a:xfrm>
            <a:off x="536331" y="5055577"/>
            <a:ext cx="2637692" cy="791308"/>
          </a:xfrm>
          <a:prstGeom prst="rect">
            <a:avLst/>
          </a:prstGeom>
          <a:noFill/>
        </p:spPr>
        <p:txBody>
          <a:bodyPr wrap="square" lIns="0" tIns="0" rIns="0" bIns="0" anchor="t">
            <a:spAutoFit/>
          </a:bodyPr>
          <a:lstStyle/>
          <a:p>
            <a:pPr algn="l">
              <a:lnSpc>
                <a:spcPts val="1800"/>
              </a:lnSpc>
              <a:spcBef>
                <a:spcPts val="0"/>
              </a:spcBef>
              <a:spcAft>
                <a:spcPts val="0"/>
              </a:spcAft>
            </a:pPr>
            <a:r>
              <a:rPr sz="1400" b="0" dirty="0" err="1">
                <a:solidFill>
                  <a:srgbClr val="0E0E0E"/>
                </a:solidFill>
                <a:latin typeface="Arial"/>
                <a:ea typeface="Arial"/>
                <a:cs typeface="Arial"/>
              </a:rPr>
              <a:t>hit@k</a:t>
            </a:r>
            <a:r>
              <a:rPr sz="1400" b="0" dirty="0">
                <a:solidFill>
                  <a:srgbClr val="0E0E0E"/>
                </a:solidFill>
                <a:latin typeface="Arial"/>
                <a:ea typeface="Arial"/>
                <a:cs typeface="Arial"/>
              </a:rPr>
              <a:t>, MRR and out-of-scope detection, with no model needed.</a:t>
            </a:r>
          </a:p>
        </p:txBody>
      </p:sp>
      <p:sp>
        <p:nvSpPr>
          <p:cNvPr id="17" name="Check 2 heading"/>
          <p:cNvSpPr txBox="1"/>
          <p:nvPr/>
        </p:nvSpPr>
        <p:spPr>
          <a:xfrm>
            <a:off x="3683977" y="4783015"/>
            <a:ext cx="2813538" cy="211015"/>
          </a:xfrm>
          <a:prstGeom prst="rect">
            <a:avLst/>
          </a:prstGeom>
          <a:noFill/>
        </p:spPr>
        <p:txBody>
          <a:bodyPr wrap="square" lIns="0" tIns="0" rIns="0" bIns="0" anchor="t">
            <a:spAutoFit/>
          </a:bodyPr>
          <a:lstStyle/>
          <a:p>
            <a:pPr algn="l">
              <a:spcBef>
                <a:spcPts val="0"/>
              </a:spcBef>
              <a:spcAft>
                <a:spcPts val="0"/>
              </a:spcAft>
            </a:pPr>
            <a:r>
              <a:rPr sz="1400" b="1" spc="300">
                <a:solidFill>
                  <a:srgbClr val="0E0E0E"/>
                </a:solidFill>
                <a:latin typeface="Courier New"/>
                <a:ea typeface="Courier New"/>
                <a:cs typeface="Courier New"/>
              </a:rPr>
              <a:t>ROUTER CHECK</a:t>
            </a:r>
          </a:p>
        </p:txBody>
      </p:sp>
      <p:sp>
        <p:nvSpPr>
          <p:cNvPr id="18" name="Check 2 body"/>
          <p:cNvSpPr txBox="1"/>
          <p:nvPr/>
        </p:nvSpPr>
        <p:spPr>
          <a:xfrm>
            <a:off x="3683977" y="5055577"/>
            <a:ext cx="2505808" cy="791308"/>
          </a:xfrm>
          <a:prstGeom prst="rect">
            <a:avLst/>
          </a:prstGeom>
          <a:noFill/>
        </p:spPr>
        <p:txBody>
          <a:bodyPr wrap="square" lIns="0" tIns="0" rIns="0" bIns="0" anchor="t">
            <a:spAutoFit/>
          </a:bodyPr>
          <a:lstStyle/>
          <a:p>
            <a:pPr algn="l">
              <a:lnSpc>
                <a:spcPts val="1800"/>
              </a:lnSpc>
              <a:spcBef>
                <a:spcPts val="0"/>
              </a:spcBef>
              <a:spcAft>
                <a:spcPts val="0"/>
              </a:spcAft>
            </a:pPr>
            <a:r>
              <a:rPr sz="1400" b="0">
                <a:solidFill>
                  <a:srgbClr val="0E0E0E"/>
                </a:solidFill>
                <a:latin typeface="Arial"/>
                <a:ea typeface="Arial"/>
                <a:cs typeface="Arial"/>
              </a:rPr>
              <a:t>the chosen tool, page and step are compared with the expected ones.</a:t>
            </a:r>
          </a:p>
        </p:txBody>
      </p:sp>
      <p:sp>
        <p:nvSpPr>
          <p:cNvPr id="19" name="Check 3 heading"/>
          <p:cNvSpPr txBox="1"/>
          <p:nvPr/>
        </p:nvSpPr>
        <p:spPr>
          <a:xfrm>
            <a:off x="6682154" y="4783015"/>
            <a:ext cx="2813538" cy="211015"/>
          </a:xfrm>
          <a:prstGeom prst="rect">
            <a:avLst/>
          </a:prstGeom>
          <a:noFill/>
        </p:spPr>
        <p:txBody>
          <a:bodyPr wrap="square" lIns="0" tIns="0" rIns="0" bIns="0" anchor="t">
            <a:spAutoFit/>
          </a:bodyPr>
          <a:lstStyle/>
          <a:p>
            <a:pPr algn="l">
              <a:spcBef>
                <a:spcPts val="0"/>
              </a:spcBef>
              <a:spcAft>
                <a:spcPts val="0"/>
              </a:spcAft>
            </a:pPr>
            <a:r>
              <a:rPr sz="1400" b="1" spc="300">
                <a:solidFill>
                  <a:srgbClr val="0E0E0E"/>
                </a:solidFill>
                <a:latin typeface="Courier New"/>
                <a:ea typeface="Courier New"/>
                <a:cs typeface="Courier New"/>
              </a:rPr>
              <a:t>ANSWER CHECK</a:t>
            </a:r>
          </a:p>
        </p:txBody>
      </p:sp>
      <p:sp>
        <p:nvSpPr>
          <p:cNvPr id="20" name="Check 3 body"/>
          <p:cNvSpPr txBox="1"/>
          <p:nvPr/>
        </p:nvSpPr>
        <p:spPr>
          <a:xfrm>
            <a:off x="6682154" y="5055577"/>
            <a:ext cx="2110154" cy="791308"/>
          </a:xfrm>
          <a:prstGeom prst="rect">
            <a:avLst/>
          </a:prstGeom>
          <a:noFill/>
        </p:spPr>
        <p:txBody>
          <a:bodyPr wrap="square" lIns="0" tIns="0" rIns="0" bIns="0" anchor="t">
            <a:spAutoFit/>
          </a:bodyPr>
          <a:lstStyle/>
          <a:p>
            <a:pPr algn="l">
              <a:lnSpc>
                <a:spcPts val="1800"/>
              </a:lnSpc>
              <a:spcBef>
                <a:spcPts val="0"/>
              </a:spcBef>
              <a:spcAft>
                <a:spcPts val="0"/>
              </a:spcAft>
            </a:pPr>
            <a:r>
              <a:rPr sz="1400" b="0">
                <a:solidFill>
                  <a:srgbClr val="0E0E0E"/>
                </a:solidFill>
                <a:latin typeface="Arial"/>
                <a:ea typeface="Arial"/>
                <a:cs typeface="Arial"/>
              </a:rPr>
              <a:t>required facts, correct links and correct refusals, matched as plain text.</a:t>
            </a:r>
          </a:p>
        </p:txBody>
      </p:sp>
      <p:cxnSp>
        <p:nvCxnSpPr>
          <p:cNvPr id="21" name="Rule 2"/>
          <p:cNvCxnSpPr/>
          <p:nvPr/>
        </p:nvCxnSpPr>
        <p:spPr>
          <a:xfrm>
            <a:off x="536331" y="5987562"/>
            <a:ext cx="8229600" cy="0"/>
          </a:xfrm>
          <a:prstGeom prst="line">
            <a:avLst/>
          </a:prstGeom>
          <a:ln w="9525">
            <a:solidFill>
              <a:srgbClr val="C4C3BE"/>
            </a:solidFill>
          </a:ln>
        </p:spPr>
      </p:cxnSp>
      <p:sp>
        <p:nvSpPr>
          <p:cNvPr id="22" name="Comparison heading"/>
          <p:cNvSpPr txBox="1"/>
          <p:nvPr/>
        </p:nvSpPr>
        <p:spPr>
          <a:xfrm>
            <a:off x="536331" y="6180992"/>
            <a:ext cx="3516923" cy="263769"/>
          </a:xfrm>
          <a:prstGeom prst="rect">
            <a:avLst/>
          </a:prstGeom>
          <a:noFill/>
        </p:spPr>
        <p:txBody>
          <a:bodyPr wrap="square" lIns="0" tIns="0" rIns="0" bIns="0" anchor="t">
            <a:spAutoFit/>
          </a:bodyPr>
          <a:lstStyle/>
          <a:p>
            <a:pPr algn="l">
              <a:spcBef>
                <a:spcPts val="0"/>
              </a:spcBef>
              <a:spcAft>
                <a:spcPts val="0"/>
              </a:spcAft>
            </a:pPr>
            <a:r>
              <a:rPr sz="1700" b="1" spc="350">
                <a:solidFill>
                  <a:srgbClr val="0E0E0E"/>
                </a:solidFill>
                <a:latin typeface="Courier New"/>
                <a:ea typeface="Courier New"/>
                <a:cs typeface="Courier New"/>
              </a:rPr>
              <a:t>OLD VERSUS NEW</a:t>
            </a:r>
          </a:p>
        </p:txBody>
      </p:sp>
      <p:sp>
        <p:nvSpPr>
          <p:cNvPr id="23" name="Comparison body"/>
          <p:cNvSpPr txBox="1"/>
          <p:nvPr/>
        </p:nvSpPr>
        <p:spPr>
          <a:xfrm>
            <a:off x="536331" y="6523892"/>
            <a:ext cx="7913077" cy="263769"/>
          </a:xfrm>
          <a:prstGeom prst="rect">
            <a:avLst/>
          </a:prstGeom>
          <a:noFill/>
        </p:spPr>
        <p:txBody>
          <a:bodyPr wrap="square" lIns="0" tIns="0" rIns="0" bIns="0" anchor="t">
            <a:spAutoFit/>
          </a:bodyPr>
          <a:lstStyle/>
          <a:p>
            <a:pPr algn="l">
              <a:spcBef>
                <a:spcPts val="0"/>
              </a:spcBef>
              <a:spcAft>
                <a:spcPts val="0"/>
              </a:spcAft>
            </a:pPr>
            <a:r>
              <a:rPr sz="1450" b="0">
                <a:solidFill>
                  <a:srgbClr val="3A3936"/>
                </a:solidFill>
                <a:latin typeface="Arial"/>
                <a:ea typeface="Arial"/>
                <a:cs typeface="Arial"/>
              </a:rPr>
              <a:t>compare_old_new.py runs both versions on the same questions.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pic>
        <p:nvPicPr>
          <p:cNvPr id="2" name="Artwork 1" descr="Decorative artwork"/>
          <p:cNvPicPr>
            <a:picLocks noChangeAspect="1"/>
          </p:cNvPicPr>
          <p:nvPr/>
        </p:nvPicPr>
        <p:blipFill>
          <a:blip r:embed="rId2"/>
          <a:stretch>
            <a:fillRect/>
          </a:stretch>
        </p:blipFill>
        <p:spPr>
          <a:xfrm>
            <a:off x="0" y="0"/>
            <a:ext cx="3824654" cy="7200900"/>
          </a:xfrm>
          <a:prstGeom prst="rect">
            <a:avLst/>
          </a:prstGeom>
        </p:spPr>
      </p:pic>
      <p:sp>
        <p:nvSpPr>
          <p:cNvPr id="3" name="Title"/>
          <p:cNvSpPr txBox="1"/>
          <p:nvPr/>
        </p:nvSpPr>
        <p:spPr>
          <a:xfrm>
            <a:off x="4290646" y="703385"/>
            <a:ext cx="7033846" cy="703385"/>
          </a:xfrm>
          <a:prstGeom prst="rect">
            <a:avLst/>
          </a:prstGeom>
          <a:noFill/>
        </p:spPr>
        <p:txBody>
          <a:bodyPr wrap="square" lIns="0" tIns="0" rIns="0" bIns="0" anchor="t">
            <a:spAutoFit/>
          </a:bodyPr>
          <a:lstStyle/>
          <a:p>
            <a:pPr algn="l">
              <a:lnSpc>
                <a:spcPts val="5200"/>
              </a:lnSpc>
              <a:spcBef>
                <a:spcPts val="0"/>
              </a:spcBef>
              <a:spcAft>
                <a:spcPts val="0"/>
              </a:spcAft>
            </a:pPr>
            <a:r>
              <a:rPr sz="4700" b="0">
                <a:solidFill>
                  <a:srgbClr val="F2F0EB"/>
                </a:solidFill>
                <a:latin typeface="Impact"/>
                <a:ea typeface="Impact"/>
                <a:cs typeface="Impact"/>
              </a:rPr>
              <a:t>Recorded Results</a:t>
            </a:r>
          </a:p>
        </p:txBody>
      </p:sp>
      <p:sp>
        <p:nvSpPr>
          <p:cNvPr id="4" name="Setup"/>
          <p:cNvSpPr txBox="1"/>
          <p:nvPr/>
        </p:nvSpPr>
        <p:spPr>
          <a:xfrm>
            <a:off x="4290646" y="1406769"/>
            <a:ext cx="8001000" cy="263769"/>
          </a:xfrm>
          <a:prstGeom prst="rect">
            <a:avLst/>
          </a:prstGeom>
          <a:noFill/>
        </p:spPr>
        <p:txBody>
          <a:bodyPr wrap="square" lIns="0" tIns="0" rIns="0" bIns="0" anchor="t">
            <a:spAutoFit/>
          </a:bodyPr>
          <a:lstStyle/>
          <a:p>
            <a:pPr algn="l">
              <a:spcBef>
                <a:spcPts val="0"/>
              </a:spcBef>
              <a:spcAft>
                <a:spcPts val="0"/>
              </a:spcAft>
            </a:pPr>
            <a:r>
              <a:rPr sz="1550" b="0">
                <a:solidFill>
                  <a:srgbClr val="F2F0EB"/>
                </a:solidFill>
                <a:latin typeface="Arial"/>
                <a:ea typeface="Arial"/>
                <a:cs typeface="Arial"/>
              </a:rPr>
              <a:t>Setup: all 76 cases, same questions for both versions. OLD is the keyword router.</a:t>
            </a:r>
          </a:p>
        </p:txBody>
      </p:sp>
      <p:graphicFrame>
        <p:nvGraphicFramePr>
          <p:cNvPr id="5" name="Results table"/>
          <p:cNvGraphicFramePr>
            <a:graphicFrameLocks noGrp="1"/>
          </p:cNvGraphicFramePr>
          <p:nvPr>
            <p:extLst>
              <p:ext uri="{D42A27DB-BD31-4B8C-83A1-F6EECF244321}">
                <p14:modId xmlns:p14="http://schemas.microsoft.com/office/powerpoint/2010/main" val="4114855630"/>
              </p:ext>
            </p:extLst>
          </p:nvPr>
        </p:nvGraphicFramePr>
        <p:xfrm>
          <a:off x="4308231" y="1846385"/>
          <a:ext cx="8009792" cy="3631809"/>
        </p:xfrm>
        <a:graphic>
          <a:graphicData uri="http://schemas.openxmlformats.org/drawingml/2006/table">
            <a:tbl>
              <a:tblPr>
                <a:tableStyleId>{5C22544A-7EE6-4342-B048-85BDC9FD1C3A}</a:tableStyleId>
              </a:tblPr>
              <a:tblGrid>
                <a:gridCol w="1318846">
                  <a:extLst>
                    <a:ext uri="{9D8B030D-6E8A-4147-A177-3AD203B41FA5}">
                      <a16:colId xmlns:a16="http://schemas.microsoft.com/office/drawing/2014/main" val="20000"/>
                    </a:ext>
                  </a:extLst>
                </a:gridCol>
                <a:gridCol w="3877408">
                  <a:extLst>
                    <a:ext uri="{9D8B030D-6E8A-4147-A177-3AD203B41FA5}">
                      <a16:colId xmlns:a16="http://schemas.microsoft.com/office/drawing/2014/main" val="20001"/>
                    </a:ext>
                  </a:extLst>
                </a:gridCol>
                <a:gridCol w="1406769">
                  <a:extLst>
                    <a:ext uri="{9D8B030D-6E8A-4147-A177-3AD203B41FA5}">
                      <a16:colId xmlns:a16="http://schemas.microsoft.com/office/drawing/2014/main" val="20002"/>
                    </a:ext>
                  </a:extLst>
                </a:gridCol>
                <a:gridCol w="1406769">
                  <a:extLst>
                    <a:ext uri="{9D8B030D-6E8A-4147-A177-3AD203B41FA5}">
                      <a16:colId xmlns:a16="http://schemas.microsoft.com/office/drawing/2014/main" val="20003"/>
                    </a:ext>
                  </a:extLst>
                </a:gridCol>
              </a:tblGrid>
              <a:tr h="404446">
                <a:tc>
                  <a:txBody>
                    <a:bodyPr/>
                    <a:lstStyle/>
                    <a:p>
                      <a:pPr algn="l"/>
                      <a:r>
                        <a:rPr sz="1300" b="1">
                          <a:solidFill>
                            <a:srgbClr val="F2F0EB"/>
                          </a:solidFill>
                          <a:latin typeface="Arial"/>
                          <a:ea typeface="Arial"/>
                          <a:cs typeface="Arial"/>
                        </a:rPr>
                        <a:t>Objective</a:t>
                      </a:r>
                    </a:p>
                  </a:txBody>
                  <a:tcPr marL="140677" marR="140677" marT="43962" marB="43962" anchor="ctr">
                    <a:lnL w="9525" cap="flat" cmpd="sng">
                      <a:solidFill>
                        <a:srgbClr val="4B4B49"/>
                      </a:solidFill>
                      <a:prstDash val="solid"/>
                    </a:lnL>
                    <a:lnR w="9525" cap="flat" cmpd="sng">
                      <a:solidFill>
                        <a:srgbClr val="4B4B49"/>
                      </a:solidFill>
                      <a:prstDash val="solid"/>
                    </a:lnR>
                    <a:lnT w="9525" cap="flat" cmpd="sng">
                      <a:solidFill>
                        <a:srgbClr val="4B4B49"/>
                      </a:solidFill>
                      <a:prstDash val="solid"/>
                    </a:lnT>
                    <a:lnB w="9525" cap="flat" cmpd="sng">
                      <a:solidFill>
                        <a:srgbClr val="4B4B49"/>
                      </a:solidFill>
                      <a:prstDash val="solid"/>
                    </a:lnB>
                    <a:solidFill>
                      <a:srgbClr val="2D2D2B"/>
                    </a:solidFill>
                  </a:tcPr>
                </a:tc>
                <a:tc>
                  <a:txBody>
                    <a:bodyPr/>
                    <a:lstStyle/>
                    <a:p>
                      <a:pPr algn="l"/>
                      <a:r>
                        <a:rPr sz="1300" b="1">
                          <a:solidFill>
                            <a:srgbClr val="F2F0EB"/>
                          </a:solidFill>
                          <a:latin typeface="Arial"/>
                          <a:ea typeface="Arial"/>
                          <a:cs typeface="Arial"/>
                        </a:rPr>
                        <a:t>Metric</a:t>
                      </a:r>
                    </a:p>
                  </a:txBody>
                  <a:tcPr marL="140677" marR="140677" marT="43962" marB="43962" anchor="ctr">
                    <a:lnL w="9525" cap="flat" cmpd="sng">
                      <a:solidFill>
                        <a:srgbClr val="4B4B49"/>
                      </a:solidFill>
                      <a:prstDash val="solid"/>
                    </a:lnL>
                    <a:lnR w="9525" cap="flat" cmpd="sng">
                      <a:solidFill>
                        <a:srgbClr val="4B4B49"/>
                      </a:solidFill>
                      <a:prstDash val="solid"/>
                    </a:lnR>
                    <a:lnT w="9525" cap="flat" cmpd="sng">
                      <a:solidFill>
                        <a:srgbClr val="4B4B49"/>
                      </a:solidFill>
                      <a:prstDash val="solid"/>
                    </a:lnT>
                    <a:lnB w="9525" cap="flat" cmpd="sng">
                      <a:solidFill>
                        <a:srgbClr val="4B4B49"/>
                      </a:solidFill>
                      <a:prstDash val="solid"/>
                    </a:lnB>
                    <a:solidFill>
                      <a:srgbClr val="2D2D2B"/>
                    </a:solidFill>
                  </a:tcPr>
                </a:tc>
                <a:tc>
                  <a:txBody>
                    <a:bodyPr/>
                    <a:lstStyle/>
                    <a:p>
                      <a:pPr algn="ctr"/>
                      <a:r>
                        <a:rPr sz="1300" b="1">
                          <a:solidFill>
                            <a:srgbClr val="F2F0EB"/>
                          </a:solidFill>
                          <a:latin typeface="Arial"/>
                          <a:ea typeface="Arial"/>
                          <a:cs typeface="Arial"/>
                        </a:rPr>
                        <a:t>OLD</a:t>
                      </a:r>
                    </a:p>
                  </a:txBody>
                  <a:tcPr marL="140677" marR="140677" marT="43962" marB="43962" anchor="ctr">
                    <a:lnL w="9525" cap="flat" cmpd="sng">
                      <a:solidFill>
                        <a:srgbClr val="4B4B49"/>
                      </a:solidFill>
                      <a:prstDash val="solid"/>
                    </a:lnL>
                    <a:lnR w="9525" cap="flat" cmpd="sng">
                      <a:solidFill>
                        <a:srgbClr val="4B4B49"/>
                      </a:solidFill>
                      <a:prstDash val="solid"/>
                    </a:lnR>
                    <a:lnT w="9525" cap="flat" cmpd="sng">
                      <a:solidFill>
                        <a:srgbClr val="4B4B49"/>
                      </a:solidFill>
                      <a:prstDash val="solid"/>
                    </a:lnT>
                    <a:lnB w="9525" cap="flat" cmpd="sng">
                      <a:solidFill>
                        <a:srgbClr val="4B4B49"/>
                      </a:solidFill>
                      <a:prstDash val="solid"/>
                    </a:lnB>
                    <a:solidFill>
                      <a:srgbClr val="2D2D2B"/>
                    </a:solidFill>
                  </a:tcPr>
                </a:tc>
                <a:tc>
                  <a:txBody>
                    <a:bodyPr/>
                    <a:lstStyle/>
                    <a:p>
                      <a:pPr algn="ctr"/>
                      <a:r>
                        <a:rPr sz="1300" b="1">
                          <a:solidFill>
                            <a:srgbClr val="F2F0EB"/>
                          </a:solidFill>
                          <a:latin typeface="Arial"/>
                          <a:ea typeface="Arial"/>
                          <a:cs typeface="Arial"/>
                        </a:rPr>
                        <a:t>NEW</a:t>
                      </a:r>
                    </a:p>
                  </a:txBody>
                  <a:tcPr marL="140677" marR="140677" marT="43962" marB="43962" anchor="ctr">
                    <a:lnL w="9525" cap="flat" cmpd="sng">
                      <a:solidFill>
                        <a:srgbClr val="4B4B49"/>
                      </a:solidFill>
                      <a:prstDash val="solid"/>
                    </a:lnL>
                    <a:lnR w="9525" cap="flat" cmpd="sng">
                      <a:solidFill>
                        <a:srgbClr val="4B4B49"/>
                      </a:solidFill>
                      <a:prstDash val="solid"/>
                    </a:lnR>
                    <a:lnT w="9525" cap="flat" cmpd="sng">
                      <a:solidFill>
                        <a:srgbClr val="4B4B49"/>
                      </a:solidFill>
                      <a:prstDash val="solid"/>
                    </a:lnT>
                    <a:lnB w="9525" cap="flat" cmpd="sng">
                      <a:solidFill>
                        <a:srgbClr val="4B4B49"/>
                      </a:solidFill>
                      <a:prstDash val="solid"/>
                    </a:lnB>
                    <a:solidFill>
                      <a:srgbClr val="2D2D2B"/>
                    </a:solidFill>
                  </a:tcPr>
                </a:tc>
                <a:extLst>
                  <a:ext uri="{0D108BD9-81ED-4DB2-BD59-A6C34878D82A}">
                    <a16:rowId xmlns:a16="http://schemas.microsoft.com/office/drawing/2014/main" val="10000"/>
                  </a:ext>
                </a:extLst>
              </a:tr>
              <a:tr h="439615">
                <a:tc>
                  <a:txBody>
                    <a:bodyPr/>
                    <a:lstStyle/>
                    <a:p>
                      <a:pPr algn="l"/>
                      <a:r>
                        <a:rPr sz="1400" b="0">
                          <a:solidFill>
                            <a:srgbClr val="F2F0EB"/>
                          </a:solidFill>
                          <a:latin typeface="Arial"/>
                          <a:ea typeface="Arial"/>
                          <a:cs typeface="Arial"/>
                        </a:rPr>
                        <a:t>Router</a:t>
                      </a:r>
                    </a:p>
                  </a:txBody>
                  <a:tcPr marL="140677" marR="140677" marT="43962" marB="43962" anchor="ctr">
                    <a:lnL w="9525" cap="flat" cmpd="sng">
                      <a:solidFill>
                        <a:srgbClr val="4B4B49"/>
                      </a:solidFill>
                      <a:prstDash val="solid"/>
                    </a:lnL>
                    <a:lnR w="9525" cap="flat" cmpd="sng">
                      <a:solidFill>
                        <a:srgbClr val="4B4B49"/>
                      </a:solidFill>
                      <a:prstDash val="solid"/>
                    </a:lnR>
                    <a:lnT w="9525" cap="flat" cmpd="sng">
                      <a:solidFill>
                        <a:srgbClr val="4B4B49"/>
                      </a:solidFill>
                      <a:prstDash val="solid"/>
                    </a:lnT>
                    <a:lnB w="9525" cap="flat" cmpd="sng">
                      <a:solidFill>
                        <a:srgbClr val="4B4B49"/>
                      </a:solidFill>
                      <a:prstDash val="solid"/>
                    </a:lnB>
                    <a:solidFill>
                      <a:srgbClr val="1B1B1B"/>
                    </a:solidFill>
                  </a:tcPr>
                </a:tc>
                <a:tc>
                  <a:txBody>
                    <a:bodyPr/>
                    <a:lstStyle/>
                    <a:p>
                      <a:pPr algn="l"/>
                      <a:r>
                        <a:rPr sz="1400" b="0">
                          <a:solidFill>
                            <a:srgbClr val="F2F0EB"/>
                          </a:solidFill>
                          <a:latin typeface="Arial"/>
                          <a:ea typeface="Arial"/>
                          <a:cs typeface="Arial"/>
                        </a:rPr>
                        <a:t>Right tool</a:t>
                      </a:r>
                    </a:p>
                  </a:txBody>
                  <a:tcPr marL="140677" marR="140677" marT="43962" marB="43962" anchor="ctr">
                    <a:lnL w="9525" cap="flat" cmpd="sng">
                      <a:solidFill>
                        <a:srgbClr val="4B4B49"/>
                      </a:solidFill>
                      <a:prstDash val="solid"/>
                    </a:lnL>
                    <a:lnR w="9525" cap="flat" cmpd="sng">
                      <a:solidFill>
                        <a:srgbClr val="4B4B49"/>
                      </a:solidFill>
                      <a:prstDash val="solid"/>
                    </a:lnR>
                    <a:lnT w="9525" cap="flat" cmpd="sng">
                      <a:solidFill>
                        <a:srgbClr val="4B4B49"/>
                      </a:solidFill>
                      <a:prstDash val="solid"/>
                    </a:lnT>
                    <a:lnB w="9525" cap="flat" cmpd="sng">
                      <a:solidFill>
                        <a:srgbClr val="4B4B49"/>
                      </a:solidFill>
                      <a:prstDash val="solid"/>
                    </a:lnB>
                    <a:solidFill>
                      <a:srgbClr val="1B1B1B"/>
                    </a:solidFill>
                  </a:tcPr>
                </a:tc>
                <a:tc>
                  <a:txBody>
                    <a:bodyPr/>
                    <a:lstStyle/>
                    <a:p>
                      <a:pPr algn="ctr"/>
                      <a:r>
                        <a:rPr sz="1600" b="0">
                          <a:solidFill>
                            <a:srgbClr val="F2F0EB"/>
                          </a:solidFill>
                          <a:latin typeface="Arial"/>
                          <a:ea typeface="Arial"/>
                          <a:cs typeface="Arial"/>
                        </a:rPr>
                        <a:t>72.4%</a:t>
                      </a:r>
                    </a:p>
                  </a:txBody>
                  <a:tcPr marL="140677" marR="140677" marT="43962" marB="43962" anchor="ctr">
                    <a:lnL w="9525" cap="flat" cmpd="sng">
                      <a:solidFill>
                        <a:srgbClr val="4B4B49"/>
                      </a:solidFill>
                      <a:prstDash val="solid"/>
                    </a:lnL>
                    <a:lnR w="9525" cap="flat" cmpd="sng">
                      <a:solidFill>
                        <a:srgbClr val="4B4B49"/>
                      </a:solidFill>
                      <a:prstDash val="solid"/>
                    </a:lnR>
                    <a:lnT w="9525" cap="flat" cmpd="sng">
                      <a:solidFill>
                        <a:srgbClr val="4B4B49"/>
                      </a:solidFill>
                      <a:prstDash val="solid"/>
                    </a:lnT>
                    <a:lnB w="9525" cap="flat" cmpd="sng">
                      <a:solidFill>
                        <a:srgbClr val="4B4B49"/>
                      </a:solidFill>
                      <a:prstDash val="solid"/>
                    </a:lnB>
                    <a:solidFill>
                      <a:srgbClr val="1B1B1B"/>
                    </a:solidFill>
                  </a:tcPr>
                </a:tc>
                <a:tc>
                  <a:txBody>
                    <a:bodyPr/>
                    <a:lstStyle/>
                    <a:p>
                      <a:pPr algn="ctr"/>
                      <a:r>
                        <a:rPr sz="1600" b="1">
                          <a:solidFill>
                            <a:srgbClr val="F2F0EB"/>
                          </a:solidFill>
                          <a:latin typeface="Arial"/>
                          <a:ea typeface="Arial"/>
                          <a:cs typeface="Arial"/>
                        </a:rPr>
                        <a:t>85.5%</a:t>
                      </a:r>
                    </a:p>
                  </a:txBody>
                  <a:tcPr marL="140677" marR="140677" marT="43962" marB="43962" anchor="ctr">
                    <a:lnL w="9525" cap="flat" cmpd="sng">
                      <a:solidFill>
                        <a:srgbClr val="4B4B49"/>
                      </a:solidFill>
                      <a:prstDash val="solid"/>
                    </a:lnL>
                    <a:lnR w="9525" cap="flat" cmpd="sng">
                      <a:solidFill>
                        <a:srgbClr val="4B4B49"/>
                      </a:solidFill>
                      <a:prstDash val="solid"/>
                    </a:lnR>
                    <a:lnT w="9525" cap="flat" cmpd="sng">
                      <a:solidFill>
                        <a:srgbClr val="4B4B49"/>
                      </a:solidFill>
                      <a:prstDash val="solid"/>
                    </a:lnT>
                    <a:lnB w="9525" cap="flat" cmpd="sng">
                      <a:solidFill>
                        <a:srgbClr val="4B4B49"/>
                      </a:solidFill>
                      <a:prstDash val="solid"/>
                    </a:lnB>
                    <a:solidFill>
                      <a:srgbClr val="1B1B1B"/>
                    </a:solidFill>
                  </a:tcPr>
                </a:tc>
                <a:extLst>
                  <a:ext uri="{0D108BD9-81ED-4DB2-BD59-A6C34878D82A}">
                    <a16:rowId xmlns:a16="http://schemas.microsoft.com/office/drawing/2014/main" val="10001"/>
                  </a:ext>
                </a:extLst>
              </a:tr>
              <a:tr h="439615">
                <a:tc>
                  <a:txBody>
                    <a:bodyPr/>
                    <a:lstStyle/>
                    <a:p>
                      <a:pPr algn="l"/>
                      <a:r>
                        <a:rPr sz="1400" b="0">
                          <a:solidFill>
                            <a:srgbClr val="F2F0EB"/>
                          </a:solidFill>
                          <a:latin typeface="Arial"/>
                          <a:ea typeface="Arial"/>
                          <a:cs typeface="Arial"/>
                        </a:rPr>
                        <a:t>Answers</a:t>
                      </a:r>
                    </a:p>
                  </a:txBody>
                  <a:tcPr marL="140677" marR="140677" marT="43962" marB="43962" anchor="ctr">
                    <a:lnL w="9525" cap="flat" cmpd="sng">
                      <a:solidFill>
                        <a:srgbClr val="4B4B49"/>
                      </a:solidFill>
                      <a:prstDash val="solid"/>
                    </a:lnL>
                    <a:lnR w="9525" cap="flat" cmpd="sng">
                      <a:solidFill>
                        <a:srgbClr val="4B4B49"/>
                      </a:solidFill>
                      <a:prstDash val="solid"/>
                    </a:lnR>
                    <a:lnT w="9525" cap="flat" cmpd="sng">
                      <a:solidFill>
                        <a:srgbClr val="4B4B49"/>
                      </a:solidFill>
                      <a:prstDash val="solid"/>
                    </a:lnT>
                    <a:lnB w="9525" cap="flat" cmpd="sng">
                      <a:solidFill>
                        <a:srgbClr val="4B4B49"/>
                      </a:solidFill>
                      <a:prstDash val="solid"/>
                    </a:lnB>
                    <a:solidFill>
                      <a:srgbClr val="1B1B1B"/>
                    </a:solidFill>
                  </a:tcPr>
                </a:tc>
                <a:tc>
                  <a:txBody>
                    <a:bodyPr/>
                    <a:lstStyle/>
                    <a:p>
                      <a:pPr algn="l"/>
                      <a:r>
                        <a:rPr sz="1400" b="0">
                          <a:solidFill>
                            <a:srgbClr val="F2F0EB"/>
                          </a:solidFill>
                          <a:latin typeface="Arial"/>
                          <a:ea typeface="Arial"/>
                          <a:cs typeface="Arial"/>
                        </a:rPr>
                        <a:t>All facts present</a:t>
                      </a:r>
                    </a:p>
                  </a:txBody>
                  <a:tcPr marL="140677" marR="140677" marT="43962" marB="43962" anchor="ctr">
                    <a:lnL w="9525" cap="flat" cmpd="sng">
                      <a:solidFill>
                        <a:srgbClr val="4B4B49"/>
                      </a:solidFill>
                      <a:prstDash val="solid"/>
                    </a:lnL>
                    <a:lnR w="9525" cap="flat" cmpd="sng">
                      <a:solidFill>
                        <a:srgbClr val="4B4B49"/>
                      </a:solidFill>
                      <a:prstDash val="solid"/>
                    </a:lnR>
                    <a:lnT w="9525" cap="flat" cmpd="sng">
                      <a:solidFill>
                        <a:srgbClr val="4B4B49"/>
                      </a:solidFill>
                      <a:prstDash val="solid"/>
                    </a:lnT>
                    <a:lnB w="9525" cap="flat" cmpd="sng">
                      <a:solidFill>
                        <a:srgbClr val="4B4B49"/>
                      </a:solidFill>
                      <a:prstDash val="solid"/>
                    </a:lnB>
                    <a:solidFill>
                      <a:srgbClr val="1B1B1B"/>
                    </a:solidFill>
                  </a:tcPr>
                </a:tc>
                <a:tc>
                  <a:txBody>
                    <a:bodyPr/>
                    <a:lstStyle/>
                    <a:p>
                      <a:pPr algn="ctr"/>
                      <a:r>
                        <a:rPr sz="1600" b="0">
                          <a:solidFill>
                            <a:srgbClr val="F2F0EB"/>
                          </a:solidFill>
                          <a:latin typeface="Arial"/>
                          <a:ea typeface="Arial"/>
                          <a:cs typeface="Arial"/>
                        </a:rPr>
                        <a:t>61.9%</a:t>
                      </a:r>
                    </a:p>
                  </a:txBody>
                  <a:tcPr marL="140677" marR="140677" marT="43962" marB="43962" anchor="ctr">
                    <a:lnL w="9525" cap="flat" cmpd="sng">
                      <a:solidFill>
                        <a:srgbClr val="4B4B49"/>
                      </a:solidFill>
                      <a:prstDash val="solid"/>
                    </a:lnL>
                    <a:lnR w="9525" cap="flat" cmpd="sng">
                      <a:solidFill>
                        <a:srgbClr val="4B4B49"/>
                      </a:solidFill>
                      <a:prstDash val="solid"/>
                    </a:lnR>
                    <a:lnT w="9525" cap="flat" cmpd="sng">
                      <a:solidFill>
                        <a:srgbClr val="4B4B49"/>
                      </a:solidFill>
                      <a:prstDash val="solid"/>
                    </a:lnT>
                    <a:lnB w="9525" cap="flat" cmpd="sng">
                      <a:solidFill>
                        <a:srgbClr val="4B4B49"/>
                      </a:solidFill>
                      <a:prstDash val="solid"/>
                    </a:lnB>
                    <a:solidFill>
                      <a:srgbClr val="1B1B1B"/>
                    </a:solidFill>
                  </a:tcPr>
                </a:tc>
                <a:tc>
                  <a:txBody>
                    <a:bodyPr/>
                    <a:lstStyle/>
                    <a:p>
                      <a:pPr algn="ctr"/>
                      <a:r>
                        <a:rPr sz="1600" b="1">
                          <a:solidFill>
                            <a:srgbClr val="F2F0EB"/>
                          </a:solidFill>
                          <a:latin typeface="Arial"/>
                          <a:ea typeface="Arial"/>
                          <a:cs typeface="Arial"/>
                        </a:rPr>
                        <a:t>76.2%</a:t>
                      </a:r>
                    </a:p>
                  </a:txBody>
                  <a:tcPr marL="140677" marR="140677" marT="43962" marB="43962" anchor="ctr">
                    <a:lnL w="9525" cap="flat" cmpd="sng">
                      <a:solidFill>
                        <a:srgbClr val="4B4B49"/>
                      </a:solidFill>
                      <a:prstDash val="solid"/>
                    </a:lnL>
                    <a:lnR w="9525" cap="flat" cmpd="sng">
                      <a:solidFill>
                        <a:srgbClr val="4B4B49"/>
                      </a:solidFill>
                      <a:prstDash val="solid"/>
                    </a:lnR>
                    <a:lnT w="9525" cap="flat" cmpd="sng">
                      <a:solidFill>
                        <a:srgbClr val="4B4B49"/>
                      </a:solidFill>
                      <a:prstDash val="solid"/>
                    </a:lnT>
                    <a:lnB w="9525" cap="flat" cmpd="sng">
                      <a:solidFill>
                        <a:srgbClr val="4B4B49"/>
                      </a:solidFill>
                      <a:prstDash val="solid"/>
                    </a:lnB>
                    <a:solidFill>
                      <a:srgbClr val="1B1B1B"/>
                    </a:solidFill>
                  </a:tcPr>
                </a:tc>
                <a:extLst>
                  <a:ext uri="{0D108BD9-81ED-4DB2-BD59-A6C34878D82A}">
                    <a16:rowId xmlns:a16="http://schemas.microsoft.com/office/drawing/2014/main" val="10002"/>
                  </a:ext>
                </a:extLst>
              </a:tr>
              <a:tr h="439615">
                <a:tc>
                  <a:txBody>
                    <a:bodyPr/>
                    <a:lstStyle/>
                    <a:p>
                      <a:pPr algn="l"/>
                      <a:r>
                        <a:rPr sz="1400" b="0">
                          <a:solidFill>
                            <a:srgbClr val="F2F0EB"/>
                          </a:solidFill>
                          <a:latin typeface="Arial"/>
                          <a:ea typeface="Arial"/>
                          <a:cs typeface="Arial"/>
                        </a:rPr>
                        <a:t>Links</a:t>
                      </a:r>
                    </a:p>
                  </a:txBody>
                  <a:tcPr marL="140677" marR="140677" marT="43962" marB="43962" anchor="ctr">
                    <a:lnL w="9525" cap="flat" cmpd="sng">
                      <a:solidFill>
                        <a:srgbClr val="4B4B49"/>
                      </a:solidFill>
                      <a:prstDash val="solid"/>
                    </a:lnL>
                    <a:lnR w="9525" cap="flat" cmpd="sng">
                      <a:solidFill>
                        <a:srgbClr val="4B4B49"/>
                      </a:solidFill>
                      <a:prstDash val="solid"/>
                    </a:lnR>
                    <a:lnT w="9525" cap="flat" cmpd="sng">
                      <a:solidFill>
                        <a:srgbClr val="4B4B49"/>
                      </a:solidFill>
                      <a:prstDash val="solid"/>
                    </a:lnT>
                    <a:lnB w="9525" cap="flat" cmpd="sng">
                      <a:solidFill>
                        <a:srgbClr val="4B4B49"/>
                      </a:solidFill>
                      <a:prstDash val="solid"/>
                    </a:lnB>
                    <a:solidFill>
                      <a:srgbClr val="1B1B1B"/>
                    </a:solidFill>
                  </a:tcPr>
                </a:tc>
                <a:tc>
                  <a:txBody>
                    <a:bodyPr/>
                    <a:lstStyle/>
                    <a:p>
                      <a:pPr algn="l"/>
                      <a:r>
                        <a:rPr sz="1400" b="0">
                          <a:solidFill>
                            <a:srgbClr val="F2F0EB"/>
                          </a:solidFill>
                          <a:latin typeface="Arial"/>
                          <a:ea typeface="Arial"/>
                          <a:cs typeface="Arial"/>
                        </a:rPr>
                        <a:t>Right page</a:t>
                      </a:r>
                    </a:p>
                  </a:txBody>
                  <a:tcPr marL="140677" marR="140677" marT="43962" marB="43962" anchor="ctr">
                    <a:lnL w="9525" cap="flat" cmpd="sng">
                      <a:solidFill>
                        <a:srgbClr val="4B4B49"/>
                      </a:solidFill>
                      <a:prstDash val="solid"/>
                    </a:lnL>
                    <a:lnR w="9525" cap="flat" cmpd="sng">
                      <a:solidFill>
                        <a:srgbClr val="4B4B49"/>
                      </a:solidFill>
                      <a:prstDash val="solid"/>
                    </a:lnR>
                    <a:lnT w="9525" cap="flat" cmpd="sng">
                      <a:solidFill>
                        <a:srgbClr val="4B4B49"/>
                      </a:solidFill>
                      <a:prstDash val="solid"/>
                    </a:lnT>
                    <a:lnB w="9525" cap="flat" cmpd="sng">
                      <a:solidFill>
                        <a:srgbClr val="4B4B49"/>
                      </a:solidFill>
                      <a:prstDash val="solid"/>
                    </a:lnB>
                    <a:solidFill>
                      <a:srgbClr val="1B1B1B"/>
                    </a:solidFill>
                  </a:tcPr>
                </a:tc>
                <a:tc>
                  <a:txBody>
                    <a:bodyPr/>
                    <a:lstStyle/>
                    <a:p>
                      <a:pPr algn="ctr"/>
                      <a:r>
                        <a:rPr sz="1600" b="0">
                          <a:solidFill>
                            <a:srgbClr val="F2F0EB"/>
                          </a:solidFill>
                          <a:latin typeface="Arial"/>
                          <a:ea typeface="Arial"/>
                          <a:cs typeface="Arial"/>
                        </a:rPr>
                        <a:t>45.0%</a:t>
                      </a:r>
                    </a:p>
                  </a:txBody>
                  <a:tcPr marL="140677" marR="140677" marT="43962" marB="43962" anchor="ctr">
                    <a:lnL w="9525" cap="flat" cmpd="sng">
                      <a:solidFill>
                        <a:srgbClr val="4B4B49"/>
                      </a:solidFill>
                      <a:prstDash val="solid"/>
                    </a:lnL>
                    <a:lnR w="9525" cap="flat" cmpd="sng">
                      <a:solidFill>
                        <a:srgbClr val="4B4B49"/>
                      </a:solidFill>
                      <a:prstDash val="solid"/>
                    </a:lnR>
                    <a:lnT w="9525" cap="flat" cmpd="sng">
                      <a:solidFill>
                        <a:srgbClr val="4B4B49"/>
                      </a:solidFill>
                      <a:prstDash val="solid"/>
                    </a:lnT>
                    <a:lnB w="9525" cap="flat" cmpd="sng">
                      <a:solidFill>
                        <a:srgbClr val="4B4B49"/>
                      </a:solidFill>
                      <a:prstDash val="solid"/>
                    </a:lnB>
                    <a:solidFill>
                      <a:srgbClr val="1B1B1B"/>
                    </a:solidFill>
                  </a:tcPr>
                </a:tc>
                <a:tc>
                  <a:txBody>
                    <a:bodyPr/>
                    <a:lstStyle/>
                    <a:p>
                      <a:pPr algn="ctr"/>
                      <a:r>
                        <a:rPr sz="1600" b="1">
                          <a:solidFill>
                            <a:srgbClr val="F2F0EB"/>
                          </a:solidFill>
                          <a:latin typeface="Arial"/>
                          <a:ea typeface="Arial"/>
                          <a:cs typeface="Arial"/>
                        </a:rPr>
                        <a:t>85.0%</a:t>
                      </a:r>
                    </a:p>
                  </a:txBody>
                  <a:tcPr marL="140677" marR="140677" marT="43962" marB="43962" anchor="ctr">
                    <a:lnL w="9525" cap="flat" cmpd="sng">
                      <a:solidFill>
                        <a:srgbClr val="4B4B49"/>
                      </a:solidFill>
                      <a:prstDash val="solid"/>
                    </a:lnL>
                    <a:lnR w="9525" cap="flat" cmpd="sng">
                      <a:solidFill>
                        <a:srgbClr val="4B4B49"/>
                      </a:solidFill>
                      <a:prstDash val="solid"/>
                    </a:lnR>
                    <a:lnT w="9525" cap="flat" cmpd="sng">
                      <a:solidFill>
                        <a:srgbClr val="4B4B49"/>
                      </a:solidFill>
                      <a:prstDash val="solid"/>
                    </a:lnT>
                    <a:lnB w="9525" cap="flat" cmpd="sng">
                      <a:solidFill>
                        <a:srgbClr val="4B4B49"/>
                      </a:solidFill>
                      <a:prstDash val="solid"/>
                    </a:lnB>
                    <a:solidFill>
                      <a:srgbClr val="1B1B1B"/>
                    </a:solidFill>
                  </a:tcPr>
                </a:tc>
                <a:extLst>
                  <a:ext uri="{0D108BD9-81ED-4DB2-BD59-A6C34878D82A}">
                    <a16:rowId xmlns:a16="http://schemas.microsoft.com/office/drawing/2014/main" val="10003"/>
                  </a:ext>
                </a:extLst>
              </a:tr>
              <a:tr h="439615">
                <a:tc>
                  <a:txBody>
                    <a:bodyPr/>
                    <a:lstStyle/>
                    <a:p>
                      <a:pPr algn="l"/>
                      <a:r>
                        <a:rPr sz="1400" b="0">
                          <a:solidFill>
                            <a:srgbClr val="F2F0EB"/>
                          </a:solidFill>
                          <a:latin typeface="Arial"/>
                          <a:ea typeface="Arial"/>
                          <a:cs typeface="Arial"/>
                        </a:rPr>
                        <a:t>Retrieval</a:t>
                      </a:r>
                    </a:p>
                  </a:txBody>
                  <a:tcPr marL="140677" marR="140677" marT="43962" marB="43962" anchor="ctr">
                    <a:lnL w="9525" cap="flat" cmpd="sng">
                      <a:solidFill>
                        <a:srgbClr val="4B4B49"/>
                      </a:solidFill>
                      <a:prstDash val="solid"/>
                    </a:lnL>
                    <a:lnR w="9525" cap="flat" cmpd="sng">
                      <a:solidFill>
                        <a:srgbClr val="4B4B49"/>
                      </a:solidFill>
                      <a:prstDash val="solid"/>
                    </a:lnR>
                    <a:lnT w="9525" cap="flat" cmpd="sng">
                      <a:solidFill>
                        <a:srgbClr val="4B4B49"/>
                      </a:solidFill>
                      <a:prstDash val="solid"/>
                    </a:lnT>
                    <a:lnB w="9525" cap="flat" cmpd="sng">
                      <a:solidFill>
                        <a:srgbClr val="4B4B49"/>
                      </a:solidFill>
                      <a:prstDash val="solid"/>
                    </a:lnB>
                    <a:solidFill>
                      <a:srgbClr val="1B1B1B"/>
                    </a:solidFill>
                  </a:tcPr>
                </a:tc>
                <a:tc>
                  <a:txBody>
                    <a:bodyPr/>
                    <a:lstStyle/>
                    <a:p>
                      <a:pPr algn="l"/>
                      <a:r>
                        <a:rPr sz="1400" b="0">
                          <a:solidFill>
                            <a:srgbClr val="F2F0EB"/>
                          </a:solidFill>
                          <a:latin typeface="Arial"/>
                          <a:ea typeface="Arial"/>
                          <a:cs typeface="Arial"/>
                        </a:rPr>
                        <a:t>Facts retrieved</a:t>
                      </a:r>
                    </a:p>
                  </a:txBody>
                  <a:tcPr marL="140677" marR="140677" marT="43962" marB="43962" anchor="ctr">
                    <a:lnL w="9525" cap="flat" cmpd="sng">
                      <a:solidFill>
                        <a:srgbClr val="4B4B49"/>
                      </a:solidFill>
                      <a:prstDash val="solid"/>
                    </a:lnL>
                    <a:lnR w="9525" cap="flat" cmpd="sng">
                      <a:solidFill>
                        <a:srgbClr val="4B4B49"/>
                      </a:solidFill>
                      <a:prstDash val="solid"/>
                    </a:lnR>
                    <a:lnT w="9525" cap="flat" cmpd="sng">
                      <a:solidFill>
                        <a:srgbClr val="4B4B49"/>
                      </a:solidFill>
                      <a:prstDash val="solid"/>
                    </a:lnT>
                    <a:lnB w="9525" cap="flat" cmpd="sng">
                      <a:solidFill>
                        <a:srgbClr val="4B4B49"/>
                      </a:solidFill>
                      <a:prstDash val="solid"/>
                    </a:lnB>
                    <a:solidFill>
                      <a:srgbClr val="1B1B1B"/>
                    </a:solidFill>
                  </a:tcPr>
                </a:tc>
                <a:tc>
                  <a:txBody>
                    <a:bodyPr/>
                    <a:lstStyle/>
                    <a:p>
                      <a:pPr algn="ctr"/>
                      <a:r>
                        <a:rPr sz="1600" b="0">
                          <a:solidFill>
                            <a:srgbClr val="F2F0EB"/>
                          </a:solidFill>
                          <a:latin typeface="Arial"/>
                          <a:ea typeface="Arial"/>
                          <a:cs typeface="Arial"/>
                        </a:rPr>
                        <a:t>82.8%</a:t>
                      </a:r>
                    </a:p>
                  </a:txBody>
                  <a:tcPr marL="140677" marR="140677" marT="43962" marB="43962" anchor="ctr">
                    <a:lnL w="9525" cap="flat" cmpd="sng">
                      <a:solidFill>
                        <a:srgbClr val="4B4B49"/>
                      </a:solidFill>
                      <a:prstDash val="solid"/>
                    </a:lnL>
                    <a:lnR w="9525" cap="flat" cmpd="sng">
                      <a:solidFill>
                        <a:srgbClr val="4B4B49"/>
                      </a:solidFill>
                      <a:prstDash val="solid"/>
                    </a:lnR>
                    <a:lnT w="9525" cap="flat" cmpd="sng">
                      <a:solidFill>
                        <a:srgbClr val="4B4B49"/>
                      </a:solidFill>
                      <a:prstDash val="solid"/>
                    </a:lnT>
                    <a:lnB w="9525" cap="flat" cmpd="sng">
                      <a:solidFill>
                        <a:srgbClr val="4B4B49"/>
                      </a:solidFill>
                      <a:prstDash val="solid"/>
                    </a:lnB>
                    <a:solidFill>
                      <a:srgbClr val="1B1B1B"/>
                    </a:solidFill>
                  </a:tcPr>
                </a:tc>
                <a:tc>
                  <a:txBody>
                    <a:bodyPr/>
                    <a:lstStyle/>
                    <a:p>
                      <a:pPr algn="ctr"/>
                      <a:r>
                        <a:rPr sz="1600" b="1">
                          <a:solidFill>
                            <a:srgbClr val="F2F0EB"/>
                          </a:solidFill>
                          <a:latin typeface="Arial"/>
                          <a:ea typeface="Arial"/>
                          <a:cs typeface="Arial"/>
                        </a:rPr>
                        <a:t>93.1%</a:t>
                      </a:r>
                    </a:p>
                  </a:txBody>
                  <a:tcPr marL="140677" marR="140677" marT="43962" marB="43962" anchor="ctr">
                    <a:lnL w="9525" cap="flat" cmpd="sng">
                      <a:solidFill>
                        <a:srgbClr val="4B4B49"/>
                      </a:solidFill>
                      <a:prstDash val="solid"/>
                    </a:lnL>
                    <a:lnR w="9525" cap="flat" cmpd="sng">
                      <a:solidFill>
                        <a:srgbClr val="4B4B49"/>
                      </a:solidFill>
                      <a:prstDash val="solid"/>
                    </a:lnR>
                    <a:lnT w="9525" cap="flat" cmpd="sng">
                      <a:solidFill>
                        <a:srgbClr val="4B4B49"/>
                      </a:solidFill>
                      <a:prstDash val="solid"/>
                    </a:lnT>
                    <a:lnB w="9525" cap="flat" cmpd="sng">
                      <a:solidFill>
                        <a:srgbClr val="4B4B49"/>
                      </a:solidFill>
                      <a:prstDash val="solid"/>
                    </a:lnB>
                    <a:solidFill>
                      <a:srgbClr val="1B1B1B"/>
                    </a:solidFill>
                  </a:tcPr>
                </a:tc>
                <a:extLst>
                  <a:ext uri="{0D108BD9-81ED-4DB2-BD59-A6C34878D82A}">
                    <a16:rowId xmlns:a16="http://schemas.microsoft.com/office/drawing/2014/main" val="10004"/>
                  </a:ext>
                </a:extLst>
              </a:tr>
              <a:tr h="439615">
                <a:tc>
                  <a:txBody>
                    <a:bodyPr/>
                    <a:lstStyle/>
                    <a:p>
                      <a:pPr algn="l"/>
                      <a:r>
                        <a:rPr sz="1400" b="0">
                          <a:solidFill>
                            <a:srgbClr val="F2F0EB"/>
                          </a:solidFill>
                          <a:latin typeface="Arial"/>
                          <a:ea typeface="Arial"/>
                          <a:cs typeface="Arial"/>
                        </a:rPr>
                        <a:t>Grounding</a:t>
                      </a:r>
                    </a:p>
                  </a:txBody>
                  <a:tcPr marL="140677" marR="140677" marT="43962" marB="43962" anchor="ctr">
                    <a:lnL w="9525" cap="flat" cmpd="sng">
                      <a:solidFill>
                        <a:srgbClr val="4B4B49"/>
                      </a:solidFill>
                      <a:prstDash val="solid"/>
                    </a:lnL>
                    <a:lnR w="9525" cap="flat" cmpd="sng">
                      <a:solidFill>
                        <a:srgbClr val="4B4B49"/>
                      </a:solidFill>
                      <a:prstDash val="solid"/>
                    </a:lnR>
                    <a:lnT w="9525" cap="flat" cmpd="sng">
                      <a:solidFill>
                        <a:srgbClr val="4B4B49"/>
                      </a:solidFill>
                      <a:prstDash val="solid"/>
                    </a:lnT>
                    <a:lnB w="9525" cap="flat" cmpd="sng">
                      <a:solidFill>
                        <a:srgbClr val="4B4B49"/>
                      </a:solidFill>
                      <a:prstDash val="solid"/>
                    </a:lnB>
                    <a:solidFill>
                      <a:srgbClr val="1B1B1B"/>
                    </a:solidFill>
                  </a:tcPr>
                </a:tc>
                <a:tc>
                  <a:txBody>
                    <a:bodyPr/>
                    <a:lstStyle/>
                    <a:p>
                      <a:pPr algn="l"/>
                      <a:r>
                        <a:rPr sz="1400" b="0">
                          <a:solidFill>
                            <a:srgbClr val="F2F0EB"/>
                          </a:solidFill>
                          <a:latin typeface="Arial"/>
                          <a:ea typeface="Arial"/>
                          <a:cs typeface="Arial"/>
                        </a:rPr>
                        <a:t>Wrongly refuses answerable questions (lower is better)</a:t>
                      </a:r>
                    </a:p>
                  </a:txBody>
                  <a:tcPr marL="140677" marR="140677" marT="43962" marB="43962" anchor="ctr">
                    <a:lnL w="9525" cap="flat" cmpd="sng">
                      <a:solidFill>
                        <a:srgbClr val="4B4B49"/>
                      </a:solidFill>
                      <a:prstDash val="solid"/>
                    </a:lnL>
                    <a:lnR w="9525" cap="flat" cmpd="sng">
                      <a:solidFill>
                        <a:srgbClr val="4B4B49"/>
                      </a:solidFill>
                      <a:prstDash val="solid"/>
                    </a:lnR>
                    <a:lnT w="9525" cap="flat" cmpd="sng">
                      <a:solidFill>
                        <a:srgbClr val="4B4B49"/>
                      </a:solidFill>
                      <a:prstDash val="solid"/>
                    </a:lnT>
                    <a:lnB w="9525" cap="flat" cmpd="sng">
                      <a:solidFill>
                        <a:srgbClr val="4B4B49"/>
                      </a:solidFill>
                      <a:prstDash val="solid"/>
                    </a:lnB>
                    <a:solidFill>
                      <a:srgbClr val="1B1B1B"/>
                    </a:solidFill>
                  </a:tcPr>
                </a:tc>
                <a:tc>
                  <a:txBody>
                    <a:bodyPr/>
                    <a:lstStyle/>
                    <a:p>
                      <a:pPr algn="ctr"/>
                      <a:r>
                        <a:rPr sz="1600" b="0">
                          <a:solidFill>
                            <a:srgbClr val="F2F0EB"/>
                          </a:solidFill>
                          <a:latin typeface="Arial"/>
                          <a:ea typeface="Arial"/>
                          <a:cs typeface="Arial"/>
                        </a:rPr>
                        <a:t>9.5%</a:t>
                      </a:r>
                    </a:p>
                  </a:txBody>
                  <a:tcPr marL="140677" marR="140677" marT="43962" marB="43962" anchor="ctr">
                    <a:lnL w="9525" cap="flat" cmpd="sng">
                      <a:solidFill>
                        <a:srgbClr val="4B4B49"/>
                      </a:solidFill>
                      <a:prstDash val="solid"/>
                    </a:lnL>
                    <a:lnR w="9525" cap="flat" cmpd="sng">
                      <a:solidFill>
                        <a:srgbClr val="4B4B49"/>
                      </a:solidFill>
                      <a:prstDash val="solid"/>
                    </a:lnR>
                    <a:lnT w="9525" cap="flat" cmpd="sng">
                      <a:solidFill>
                        <a:srgbClr val="4B4B49"/>
                      </a:solidFill>
                      <a:prstDash val="solid"/>
                    </a:lnT>
                    <a:lnB w="9525" cap="flat" cmpd="sng">
                      <a:solidFill>
                        <a:srgbClr val="4B4B49"/>
                      </a:solidFill>
                      <a:prstDash val="solid"/>
                    </a:lnB>
                    <a:solidFill>
                      <a:srgbClr val="1B1B1B"/>
                    </a:solidFill>
                  </a:tcPr>
                </a:tc>
                <a:tc>
                  <a:txBody>
                    <a:bodyPr/>
                    <a:lstStyle/>
                    <a:p>
                      <a:pPr algn="ctr"/>
                      <a:r>
                        <a:rPr sz="1600" b="1">
                          <a:solidFill>
                            <a:srgbClr val="F2F0EB"/>
                          </a:solidFill>
                          <a:latin typeface="Arial"/>
                          <a:ea typeface="Arial"/>
                          <a:cs typeface="Arial"/>
                        </a:rPr>
                        <a:t>16.7%</a:t>
                      </a:r>
                    </a:p>
                  </a:txBody>
                  <a:tcPr marL="140677" marR="140677" marT="43962" marB="43962" anchor="ctr">
                    <a:lnL w="9525" cap="flat" cmpd="sng">
                      <a:solidFill>
                        <a:srgbClr val="4B4B49"/>
                      </a:solidFill>
                      <a:prstDash val="solid"/>
                    </a:lnL>
                    <a:lnR w="9525" cap="flat" cmpd="sng">
                      <a:solidFill>
                        <a:srgbClr val="4B4B49"/>
                      </a:solidFill>
                      <a:prstDash val="solid"/>
                    </a:lnR>
                    <a:lnT w="9525" cap="flat" cmpd="sng">
                      <a:solidFill>
                        <a:srgbClr val="4B4B49"/>
                      </a:solidFill>
                      <a:prstDash val="solid"/>
                    </a:lnT>
                    <a:lnB w="9525" cap="flat" cmpd="sng">
                      <a:solidFill>
                        <a:srgbClr val="4B4B49"/>
                      </a:solidFill>
                      <a:prstDash val="solid"/>
                    </a:lnB>
                    <a:solidFill>
                      <a:srgbClr val="1B1B1B"/>
                    </a:solidFill>
                  </a:tcPr>
                </a:tc>
                <a:extLst>
                  <a:ext uri="{0D108BD9-81ED-4DB2-BD59-A6C34878D82A}">
                    <a16:rowId xmlns:a16="http://schemas.microsoft.com/office/drawing/2014/main" val="10005"/>
                  </a:ext>
                </a:extLst>
              </a:tr>
              <a:tr h="439615">
                <a:tc>
                  <a:txBody>
                    <a:bodyPr/>
                    <a:lstStyle/>
                    <a:p>
                      <a:pPr algn="l"/>
                      <a:r>
                        <a:rPr sz="1400" b="0" dirty="0">
                          <a:solidFill>
                            <a:srgbClr val="F2F0EB"/>
                          </a:solidFill>
                          <a:latin typeface="Arial"/>
                          <a:ea typeface="Arial"/>
                          <a:cs typeface="Arial"/>
                        </a:rPr>
                        <a:t>Speed</a:t>
                      </a:r>
                      <a:r>
                        <a:rPr lang="en-US" sz="1400" b="0" dirty="0">
                          <a:solidFill>
                            <a:srgbClr val="F2F0EB"/>
                          </a:solidFill>
                          <a:latin typeface="Arial"/>
                          <a:ea typeface="Arial"/>
                          <a:cs typeface="Arial"/>
                        </a:rPr>
                        <a:t> (Relative)</a:t>
                      </a:r>
                      <a:endParaRPr sz="1400" b="0" dirty="0">
                        <a:solidFill>
                          <a:srgbClr val="F2F0EB"/>
                        </a:solidFill>
                        <a:latin typeface="Arial"/>
                        <a:ea typeface="Arial"/>
                        <a:cs typeface="Arial"/>
                      </a:endParaRPr>
                    </a:p>
                  </a:txBody>
                  <a:tcPr marL="140677" marR="140677" marT="43962" marB="43962" anchor="ctr">
                    <a:lnL w="9525" cap="flat" cmpd="sng">
                      <a:solidFill>
                        <a:srgbClr val="4B4B49"/>
                      </a:solidFill>
                      <a:prstDash val="solid"/>
                    </a:lnL>
                    <a:lnR w="9525" cap="flat" cmpd="sng">
                      <a:solidFill>
                        <a:srgbClr val="4B4B49"/>
                      </a:solidFill>
                      <a:prstDash val="solid"/>
                    </a:lnR>
                    <a:lnT w="9525" cap="flat" cmpd="sng">
                      <a:solidFill>
                        <a:srgbClr val="4B4B49"/>
                      </a:solidFill>
                      <a:prstDash val="solid"/>
                    </a:lnT>
                    <a:lnB w="9525" cap="flat" cmpd="sng">
                      <a:solidFill>
                        <a:srgbClr val="4B4B49"/>
                      </a:solidFill>
                      <a:prstDash val="solid"/>
                    </a:lnB>
                    <a:solidFill>
                      <a:srgbClr val="1B1B1B"/>
                    </a:solidFill>
                  </a:tcPr>
                </a:tc>
                <a:tc>
                  <a:txBody>
                    <a:bodyPr/>
                    <a:lstStyle/>
                    <a:p>
                      <a:pPr algn="l"/>
                      <a:r>
                        <a:rPr sz="1400" b="0">
                          <a:solidFill>
                            <a:srgbClr val="F2F0EB"/>
                          </a:solidFill>
                          <a:latin typeface="Arial"/>
                          <a:ea typeface="Arial"/>
                          <a:cs typeface="Arial"/>
                        </a:rPr>
                        <a:t>Time per answer (lower is better)</a:t>
                      </a:r>
                    </a:p>
                  </a:txBody>
                  <a:tcPr marL="140677" marR="140677" marT="43962" marB="43962" anchor="ctr">
                    <a:lnL w="9525" cap="flat" cmpd="sng">
                      <a:solidFill>
                        <a:srgbClr val="4B4B49"/>
                      </a:solidFill>
                      <a:prstDash val="solid"/>
                    </a:lnL>
                    <a:lnR w="9525" cap="flat" cmpd="sng">
                      <a:solidFill>
                        <a:srgbClr val="4B4B49"/>
                      </a:solidFill>
                      <a:prstDash val="solid"/>
                    </a:lnR>
                    <a:lnT w="9525" cap="flat" cmpd="sng">
                      <a:solidFill>
                        <a:srgbClr val="4B4B49"/>
                      </a:solidFill>
                      <a:prstDash val="solid"/>
                    </a:lnT>
                    <a:lnB w="9525" cap="flat" cmpd="sng">
                      <a:solidFill>
                        <a:srgbClr val="4B4B49"/>
                      </a:solidFill>
                      <a:prstDash val="solid"/>
                    </a:lnB>
                    <a:solidFill>
                      <a:srgbClr val="1B1B1B"/>
                    </a:solidFill>
                  </a:tcPr>
                </a:tc>
                <a:tc>
                  <a:txBody>
                    <a:bodyPr/>
                    <a:lstStyle/>
                    <a:p>
                      <a:pPr algn="ctr"/>
                      <a:r>
                        <a:rPr sz="1600" b="0">
                          <a:solidFill>
                            <a:srgbClr val="F2F0EB"/>
                          </a:solidFill>
                          <a:latin typeface="Arial"/>
                          <a:ea typeface="Arial"/>
                          <a:cs typeface="Arial"/>
                        </a:rPr>
                        <a:t>2.7 s</a:t>
                      </a:r>
                    </a:p>
                  </a:txBody>
                  <a:tcPr marL="140677" marR="140677" marT="43962" marB="43962" anchor="ctr">
                    <a:lnL w="9525" cap="flat" cmpd="sng">
                      <a:solidFill>
                        <a:srgbClr val="4B4B49"/>
                      </a:solidFill>
                      <a:prstDash val="solid"/>
                    </a:lnL>
                    <a:lnR w="9525" cap="flat" cmpd="sng">
                      <a:solidFill>
                        <a:srgbClr val="4B4B49"/>
                      </a:solidFill>
                      <a:prstDash val="solid"/>
                    </a:lnR>
                    <a:lnT w="9525" cap="flat" cmpd="sng">
                      <a:solidFill>
                        <a:srgbClr val="4B4B49"/>
                      </a:solidFill>
                      <a:prstDash val="solid"/>
                    </a:lnT>
                    <a:lnB w="9525" cap="flat" cmpd="sng">
                      <a:solidFill>
                        <a:srgbClr val="4B4B49"/>
                      </a:solidFill>
                      <a:prstDash val="solid"/>
                    </a:lnB>
                    <a:solidFill>
                      <a:srgbClr val="1B1B1B"/>
                    </a:solidFill>
                  </a:tcPr>
                </a:tc>
                <a:tc>
                  <a:txBody>
                    <a:bodyPr/>
                    <a:lstStyle/>
                    <a:p>
                      <a:pPr algn="ctr"/>
                      <a:r>
                        <a:rPr sz="1600" b="1">
                          <a:solidFill>
                            <a:srgbClr val="F2F0EB"/>
                          </a:solidFill>
                          <a:latin typeface="Arial"/>
                          <a:ea typeface="Arial"/>
                          <a:cs typeface="Arial"/>
                        </a:rPr>
                        <a:t>6.0 s</a:t>
                      </a:r>
                    </a:p>
                  </a:txBody>
                  <a:tcPr marL="140677" marR="140677" marT="43962" marB="43962" anchor="ctr">
                    <a:lnL w="9525" cap="flat" cmpd="sng">
                      <a:solidFill>
                        <a:srgbClr val="4B4B49"/>
                      </a:solidFill>
                      <a:prstDash val="solid"/>
                    </a:lnL>
                    <a:lnR w="9525" cap="flat" cmpd="sng">
                      <a:solidFill>
                        <a:srgbClr val="4B4B49"/>
                      </a:solidFill>
                      <a:prstDash val="solid"/>
                    </a:lnR>
                    <a:lnT w="9525" cap="flat" cmpd="sng">
                      <a:solidFill>
                        <a:srgbClr val="4B4B49"/>
                      </a:solidFill>
                      <a:prstDash val="solid"/>
                    </a:lnT>
                    <a:lnB w="9525" cap="flat" cmpd="sng">
                      <a:solidFill>
                        <a:srgbClr val="4B4B49"/>
                      </a:solidFill>
                      <a:prstDash val="solid"/>
                    </a:lnB>
                    <a:solidFill>
                      <a:srgbClr val="1B1B1B"/>
                    </a:solidFill>
                  </a:tcPr>
                </a:tc>
                <a:extLst>
                  <a:ext uri="{0D108BD9-81ED-4DB2-BD59-A6C34878D82A}">
                    <a16:rowId xmlns:a16="http://schemas.microsoft.com/office/drawing/2014/main" val="10006"/>
                  </a:ext>
                </a:extLst>
              </a:tr>
              <a:tr h="439615">
                <a:tc>
                  <a:txBody>
                    <a:bodyPr/>
                    <a:lstStyle/>
                    <a:p>
                      <a:pPr algn="l"/>
                      <a:r>
                        <a:rPr sz="1400" b="0">
                          <a:solidFill>
                            <a:srgbClr val="F2F0EB"/>
                          </a:solidFill>
                          <a:latin typeface="Arial"/>
                          <a:ea typeface="Arial"/>
                          <a:cs typeface="Arial"/>
                        </a:rPr>
                        <a:t>N-ATLaS</a:t>
                      </a:r>
                    </a:p>
                  </a:txBody>
                  <a:tcPr marL="140677" marR="140677" marT="43962" marB="43962" anchor="ctr">
                    <a:lnL w="9525" cap="flat" cmpd="sng">
                      <a:solidFill>
                        <a:srgbClr val="4B4B49"/>
                      </a:solidFill>
                      <a:prstDash val="solid"/>
                    </a:lnL>
                    <a:lnR w="9525" cap="flat" cmpd="sng">
                      <a:solidFill>
                        <a:srgbClr val="4B4B49"/>
                      </a:solidFill>
                      <a:prstDash val="solid"/>
                    </a:lnR>
                    <a:lnT w="9525" cap="flat" cmpd="sng">
                      <a:solidFill>
                        <a:srgbClr val="4B4B49"/>
                      </a:solidFill>
                      <a:prstDash val="solid"/>
                    </a:lnT>
                    <a:lnB w="9525" cap="flat" cmpd="sng">
                      <a:solidFill>
                        <a:srgbClr val="4B4B49"/>
                      </a:solidFill>
                      <a:prstDash val="solid"/>
                    </a:lnB>
                    <a:solidFill>
                      <a:srgbClr val="1B1B1B"/>
                    </a:solidFill>
                  </a:tcPr>
                </a:tc>
                <a:tc>
                  <a:txBody>
                    <a:bodyPr/>
                    <a:lstStyle/>
                    <a:p>
                      <a:pPr algn="l"/>
                      <a:r>
                        <a:rPr sz="1400" b="0">
                          <a:solidFill>
                            <a:srgbClr val="F2F0EB"/>
                          </a:solidFill>
                          <a:latin typeface="Arial"/>
                          <a:ea typeface="Arial"/>
                          <a:cs typeface="Arial"/>
                        </a:rPr>
                        <a:t>Multilingual cases passed (9; not in OLD)</a:t>
                      </a:r>
                    </a:p>
                  </a:txBody>
                  <a:tcPr marL="140677" marR="140677" marT="43962" marB="43962" anchor="ctr">
                    <a:lnL w="9525" cap="flat" cmpd="sng">
                      <a:solidFill>
                        <a:srgbClr val="4B4B49"/>
                      </a:solidFill>
                      <a:prstDash val="solid"/>
                    </a:lnL>
                    <a:lnR w="9525" cap="flat" cmpd="sng">
                      <a:solidFill>
                        <a:srgbClr val="4B4B49"/>
                      </a:solidFill>
                      <a:prstDash val="solid"/>
                    </a:lnR>
                    <a:lnT w="9525" cap="flat" cmpd="sng">
                      <a:solidFill>
                        <a:srgbClr val="4B4B49"/>
                      </a:solidFill>
                      <a:prstDash val="solid"/>
                    </a:lnT>
                    <a:lnB w="9525" cap="flat" cmpd="sng">
                      <a:solidFill>
                        <a:srgbClr val="4B4B49"/>
                      </a:solidFill>
                      <a:prstDash val="solid"/>
                    </a:lnB>
                    <a:solidFill>
                      <a:srgbClr val="1B1B1B"/>
                    </a:solidFill>
                  </a:tcPr>
                </a:tc>
                <a:tc>
                  <a:txBody>
                    <a:bodyPr/>
                    <a:lstStyle/>
                    <a:p>
                      <a:pPr algn="ctr"/>
                      <a:r>
                        <a:rPr sz="1600" b="0">
                          <a:solidFill>
                            <a:srgbClr val="F2F0EB"/>
                          </a:solidFill>
                          <a:latin typeface="Arial"/>
                          <a:ea typeface="Arial"/>
                          <a:cs typeface="Arial"/>
                        </a:rPr>
                        <a:t>–</a:t>
                      </a:r>
                    </a:p>
                  </a:txBody>
                  <a:tcPr marL="140677" marR="140677" marT="43962" marB="43962" anchor="ctr">
                    <a:lnL w="9525" cap="flat" cmpd="sng">
                      <a:solidFill>
                        <a:srgbClr val="4B4B49"/>
                      </a:solidFill>
                      <a:prstDash val="solid"/>
                    </a:lnL>
                    <a:lnR w="9525" cap="flat" cmpd="sng">
                      <a:solidFill>
                        <a:srgbClr val="4B4B49"/>
                      </a:solidFill>
                      <a:prstDash val="solid"/>
                    </a:lnR>
                    <a:lnT w="9525" cap="flat" cmpd="sng">
                      <a:solidFill>
                        <a:srgbClr val="4B4B49"/>
                      </a:solidFill>
                      <a:prstDash val="solid"/>
                    </a:lnT>
                    <a:lnB w="9525" cap="flat" cmpd="sng">
                      <a:solidFill>
                        <a:srgbClr val="4B4B49"/>
                      </a:solidFill>
                      <a:prstDash val="solid"/>
                    </a:lnB>
                    <a:solidFill>
                      <a:srgbClr val="1B1B1B"/>
                    </a:solidFill>
                  </a:tcPr>
                </a:tc>
                <a:tc>
                  <a:txBody>
                    <a:bodyPr/>
                    <a:lstStyle/>
                    <a:p>
                      <a:pPr algn="ctr"/>
                      <a:r>
                        <a:rPr sz="1600" b="1" dirty="0">
                          <a:solidFill>
                            <a:srgbClr val="F2F0EB"/>
                          </a:solidFill>
                          <a:latin typeface="Arial"/>
                          <a:ea typeface="Arial"/>
                          <a:cs typeface="Arial"/>
                        </a:rPr>
                        <a:t>55.6%</a:t>
                      </a:r>
                    </a:p>
                  </a:txBody>
                  <a:tcPr marL="140677" marR="140677" marT="43962" marB="43962" anchor="ctr">
                    <a:lnL w="9525" cap="flat" cmpd="sng">
                      <a:solidFill>
                        <a:srgbClr val="4B4B49"/>
                      </a:solidFill>
                      <a:prstDash val="solid"/>
                    </a:lnL>
                    <a:lnR w="9525" cap="flat" cmpd="sng">
                      <a:solidFill>
                        <a:srgbClr val="4B4B49"/>
                      </a:solidFill>
                      <a:prstDash val="solid"/>
                    </a:lnR>
                    <a:lnT w="9525" cap="flat" cmpd="sng">
                      <a:solidFill>
                        <a:srgbClr val="4B4B49"/>
                      </a:solidFill>
                      <a:prstDash val="solid"/>
                    </a:lnT>
                    <a:lnB w="9525" cap="flat" cmpd="sng">
                      <a:solidFill>
                        <a:srgbClr val="4B4B49"/>
                      </a:solidFill>
                      <a:prstDash val="solid"/>
                    </a:lnB>
                    <a:solidFill>
                      <a:srgbClr val="1B1B1B"/>
                    </a:solidFill>
                  </a:tcPr>
                </a:tc>
                <a:extLst>
                  <a:ext uri="{0D108BD9-81ED-4DB2-BD59-A6C34878D82A}">
                    <a16:rowId xmlns:a16="http://schemas.microsoft.com/office/drawing/2014/main" val="10007"/>
                  </a:ext>
                </a:extLst>
              </a:tr>
            </a:tbl>
          </a:graphicData>
        </a:graphic>
      </p:graphicFrame>
      <p:cxnSp>
        <p:nvCxnSpPr>
          <p:cNvPr id="6" name="Rule"/>
          <p:cNvCxnSpPr/>
          <p:nvPr/>
        </p:nvCxnSpPr>
        <p:spPr>
          <a:xfrm>
            <a:off x="4308231" y="5627077"/>
            <a:ext cx="509954" cy="0"/>
          </a:xfrm>
          <a:prstGeom prst="line">
            <a:avLst/>
          </a:prstGeom>
          <a:ln w="15875">
            <a:solidFill>
              <a:srgbClr val="F2F0EB"/>
            </a:solidFill>
          </a:ln>
        </p:spPr>
      </p:cxnSp>
      <p:sp>
        <p:nvSpPr>
          <p:cNvPr id="7" name="Summary"/>
          <p:cNvSpPr txBox="1"/>
          <p:nvPr/>
        </p:nvSpPr>
        <p:spPr>
          <a:xfrm>
            <a:off x="4308231" y="5732585"/>
            <a:ext cx="8001000" cy="527538"/>
          </a:xfrm>
          <a:prstGeom prst="rect">
            <a:avLst/>
          </a:prstGeom>
          <a:noFill/>
        </p:spPr>
        <p:txBody>
          <a:bodyPr wrap="square" lIns="0" tIns="0" rIns="0" bIns="0" anchor="t">
            <a:spAutoFit/>
          </a:bodyPr>
          <a:lstStyle/>
          <a:p>
            <a:pPr algn="l">
              <a:lnSpc>
                <a:spcPts val="2000"/>
              </a:lnSpc>
              <a:spcBef>
                <a:spcPts val="0"/>
              </a:spcBef>
              <a:spcAft>
                <a:spcPts val="0"/>
              </a:spcAft>
            </a:pPr>
            <a:r>
              <a:rPr sz="1550" b="0">
                <a:solidFill>
                  <a:srgbClr val="F2F0EB"/>
                </a:solidFill>
                <a:latin typeface="Arial"/>
                <a:ea typeface="Arial"/>
                <a:cs typeface="Arial"/>
              </a:rPr>
              <a:t>NEW is better on routing, answers, links and retrieval. It is slower and wrongly refuses more answerable questions.</a:t>
            </a:r>
          </a:p>
        </p:txBody>
      </p:sp>
      <p:sp>
        <p:nvSpPr>
          <p:cNvPr id="8" name="Notes"/>
          <p:cNvSpPr txBox="1"/>
          <p:nvPr/>
        </p:nvSpPr>
        <p:spPr>
          <a:xfrm>
            <a:off x="4308231" y="6348046"/>
            <a:ext cx="8001000" cy="527538"/>
          </a:xfrm>
          <a:prstGeom prst="rect">
            <a:avLst/>
          </a:prstGeom>
          <a:noFill/>
        </p:spPr>
        <p:txBody>
          <a:bodyPr wrap="square" lIns="0" tIns="0" rIns="0" bIns="0" anchor="t">
            <a:spAutoFit/>
          </a:bodyPr>
          <a:lstStyle/>
          <a:p>
            <a:pPr algn="l">
              <a:lnSpc>
                <a:spcPts val="1500"/>
              </a:lnSpc>
              <a:spcBef>
                <a:spcPts val="0"/>
              </a:spcBef>
              <a:spcAft>
                <a:spcPts val="0"/>
              </a:spcAft>
            </a:pPr>
            <a:r>
              <a:rPr sz="1100" b="0">
                <a:solidFill>
                  <a:srgbClr val="B9B7B1"/>
                </a:solidFill>
                <a:latin typeface="Arial"/>
                <a:ea typeface="Arial"/>
                <a:cs typeface="Arial"/>
              </a:rPr>
              <a:t>Retrieval on English-only questions (27) is level: 88.9% for both versions.</a:t>
            </a:r>
          </a:p>
          <a:p>
            <a:pPr algn="l">
              <a:lnSpc>
                <a:spcPts val="1500"/>
              </a:lnSpc>
              <a:spcBef>
                <a:spcPts val="0"/>
              </a:spcBef>
              <a:spcAft>
                <a:spcPts val="0"/>
              </a:spcAft>
            </a:pPr>
            <a:r>
              <a:rPr sz="1100" b="0">
                <a:solidFill>
                  <a:srgbClr val="B9B7B1"/>
                </a:solidFill>
                <a:latin typeface="Arial"/>
                <a:ea typeface="Arial"/>
                <a:cs typeface="Arial"/>
              </a:rPr>
              <a:t>N-ATLaS: 9 Hausa/Yorùbá/Igbo cases. Written by N-ATLaS 9/9, right tool 7/9, right link 7/9, language detected 4/9.</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3EE"/>
        </a:solidFill>
        <a:effectLst/>
      </p:bgPr>
    </p:bg>
    <p:spTree>
      <p:nvGrpSpPr>
        <p:cNvPr id="1" name=""/>
        <p:cNvGrpSpPr/>
        <p:nvPr/>
      </p:nvGrpSpPr>
      <p:grpSpPr>
        <a:xfrm>
          <a:off x="0" y="0"/>
          <a:ext cx="0" cy="0"/>
          <a:chOff x="0" y="0"/>
          <a:chExt cx="0" cy="0"/>
        </a:xfrm>
      </p:grpSpPr>
      <p:pic>
        <p:nvPicPr>
          <p:cNvPr id="2" name="Artwork 1" descr="Decorative artwork"/>
          <p:cNvPicPr>
            <a:picLocks noChangeAspect="1"/>
          </p:cNvPicPr>
          <p:nvPr/>
        </p:nvPicPr>
        <p:blipFill>
          <a:blip r:embed="rId2"/>
          <a:stretch>
            <a:fillRect/>
          </a:stretch>
        </p:blipFill>
        <p:spPr>
          <a:xfrm>
            <a:off x="4123592" y="0"/>
            <a:ext cx="2206869" cy="7200900"/>
          </a:xfrm>
          <a:prstGeom prst="rect">
            <a:avLst/>
          </a:prstGeom>
        </p:spPr>
      </p:pic>
      <p:pic>
        <p:nvPicPr>
          <p:cNvPr id="3" name="Artwork 2" descr="Decorative artwork"/>
          <p:cNvPicPr>
            <a:picLocks noChangeAspect="1"/>
          </p:cNvPicPr>
          <p:nvPr/>
        </p:nvPicPr>
        <p:blipFill>
          <a:blip r:embed="rId3"/>
          <a:stretch>
            <a:fillRect/>
          </a:stretch>
        </p:blipFill>
        <p:spPr>
          <a:xfrm>
            <a:off x="11684977" y="0"/>
            <a:ext cx="1116623" cy="7200900"/>
          </a:xfrm>
          <a:prstGeom prst="rect">
            <a:avLst/>
          </a:prstGeom>
        </p:spPr>
      </p:pic>
      <p:sp>
        <p:nvSpPr>
          <p:cNvPr id="4" name="Title"/>
          <p:cNvSpPr txBox="1"/>
          <p:nvPr/>
        </p:nvSpPr>
        <p:spPr>
          <a:xfrm>
            <a:off x="422031" y="1450731"/>
            <a:ext cx="3780692" cy="2373923"/>
          </a:xfrm>
          <a:prstGeom prst="rect">
            <a:avLst/>
          </a:prstGeom>
          <a:noFill/>
        </p:spPr>
        <p:txBody>
          <a:bodyPr wrap="square" lIns="0" tIns="0" rIns="0" bIns="0" anchor="t">
            <a:spAutoFit/>
          </a:bodyPr>
          <a:lstStyle/>
          <a:p>
            <a:pPr algn="l">
              <a:lnSpc>
                <a:spcPts val="5400"/>
              </a:lnSpc>
              <a:spcBef>
                <a:spcPts val="0"/>
              </a:spcBef>
              <a:spcAft>
                <a:spcPts val="0"/>
              </a:spcAft>
            </a:pPr>
            <a:r>
              <a:rPr sz="4800" b="0">
                <a:solidFill>
                  <a:srgbClr val="0E0E0E"/>
                </a:solidFill>
                <a:latin typeface="Impact"/>
                <a:ea typeface="Impact"/>
                <a:cs typeface="Impact"/>
              </a:rPr>
              <a:t>N-ATLaS:</a:t>
            </a:r>
          </a:p>
          <a:p>
            <a:pPr algn="l">
              <a:lnSpc>
                <a:spcPts val="5400"/>
              </a:lnSpc>
              <a:spcBef>
                <a:spcPts val="0"/>
              </a:spcBef>
              <a:spcAft>
                <a:spcPts val="0"/>
              </a:spcAft>
            </a:pPr>
            <a:r>
              <a:rPr sz="4800" b="0">
                <a:solidFill>
                  <a:srgbClr val="0E0E0E"/>
                </a:solidFill>
                <a:latin typeface="Impact"/>
                <a:ea typeface="Impact"/>
                <a:cs typeface="Impact"/>
              </a:rPr>
              <a:t>Multilingual</a:t>
            </a:r>
          </a:p>
          <a:p>
            <a:pPr algn="l">
              <a:lnSpc>
                <a:spcPts val="5400"/>
              </a:lnSpc>
              <a:spcBef>
                <a:spcPts val="0"/>
              </a:spcBef>
              <a:spcAft>
                <a:spcPts val="0"/>
              </a:spcAft>
            </a:pPr>
            <a:r>
              <a:rPr sz="4800" b="0">
                <a:solidFill>
                  <a:srgbClr val="0E0E0E"/>
                </a:solidFill>
                <a:latin typeface="Impact"/>
                <a:ea typeface="Impact"/>
                <a:cs typeface="Impact"/>
              </a:rPr>
              <a:t>Experiment</a:t>
            </a:r>
          </a:p>
        </p:txBody>
      </p:sp>
      <p:cxnSp>
        <p:nvCxnSpPr>
          <p:cNvPr id="5" name="Rule"/>
          <p:cNvCxnSpPr/>
          <p:nvPr/>
        </p:nvCxnSpPr>
        <p:spPr>
          <a:xfrm>
            <a:off x="430823" y="4018085"/>
            <a:ext cx="483577" cy="0"/>
          </a:xfrm>
          <a:prstGeom prst="line">
            <a:avLst/>
          </a:prstGeom>
          <a:ln w="19050">
            <a:solidFill>
              <a:srgbClr val="0E0E0E"/>
            </a:solidFill>
          </a:ln>
        </p:spPr>
      </p:cxnSp>
      <p:sp>
        <p:nvSpPr>
          <p:cNvPr id="6" name="Number 01"/>
          <p:cNvSpPr txBox="1"/>
          <p:nvPr/>
        </p:nvSpPr>
        <p:spPr>
          <a:xfrm>
            <a:off x="6849208" y="931985"/>
            <a:ext cx="703385" cy="386862"/>
          </a:xfrm>
          <a:prstGeom prst="rect">
            <a:avLst/>
          </a:prstGeom>
          <a:noFill/>
        </p:spPr>
        <p:txBody>
          <a:bodyPr wrap="square" lIns="0" tIns="0" rIns="0" bIns="0" anchor="t">
            <a:spAutoFit/>
          </a:bodyPr>
          <a:lstStyle/>
          <a:p>
            <a:pPr algn="l">
              <a:spcBef>
                <a:spcPts val="0"/>
              </a:spcBef>
              <a:spcAft>
                <a:spcPts val="0"/>
              </a:spcAft>
            </a:pPr>
            <a:r>
              <a:rPr sz="3300" b="0">
                <a:solidFill>
                  <a:srgbClr val="0E0E0E"/>
                </a:solidFill>
                <a:latin typeface="Arial"/>
                <a:ea typeface="Arial"/>
                <a:cs typeface="Arial"/>
              </a:rPr>
              <a:t>01</a:t>
            </a:r>
          </a:p>
        </p:txBody>
      </p:sp>
      <p:cxnSp>
        <p:nvCxnSpPr>
          <p:cNvPr id="7" name="Divider 01"/>
          <p:cNvCxnSpPr/>
          <p:nvPr/>
        </p:nvCxnSpPr>
        <p:spPr>
          <a:xfrm>
            <a:off x="7517423" y="914400"/>
            <a:ext cx="0" cy="703385"/>
          </a:xfrm>
          <a:prstGeom prst="line">
            <a:avLst/>
          </a:prstGeom>
          <a:ln w="9525">
            <a:solidFill>
              <a:srgbClr val="55534F"/>
            </a:solidFill>
          </a:ln>
        </p:spPr>
      </p:cxnSp>
      <p:sp>
        <p:nvSpPr>
          <p:cNvPr id="8" name="Item 01 text"/>
          <p:cNvSpPr txBox="1"/>
          <p:nvPr/>
        </p:nvSpPr>
        <p:spPr>
          <a:xfrm>
            <a:off x="7860323" y="861646"/>
            <a:ext cx="3604846" cy="984738"/>
          </a:xfrm>
          <a:prstGeom prst="rect">
            <a:avLst/>
          </a:prstGeom>
          <a:noFill/>
        </p:spPr>
        <p:txBody>
          <a:bodyPr wrap="square" lIns="0" tIns="0" rIns="0" bIns="0" anchor="t">
            <a:spAutoFit/>
          </a:bodyPr>
          <a:lstStyle/>
          <a:p>
            <a:pPr algn="l">
              <a:lnSpc>
                <a:spcPts val="1750"/>
              </a:lnSpc>
              <a:spcBef>
                <a:spcPts val="0"/>
              </a:spcBef>
              <a:spcAft>
                <a:spcPts val="0"/>
              </a:spcAft>
            </a:pPr>
            <a:r>
              <a:rPr sz="1900" b="1">
                <a:solidFill>
                  <a:srgbClr val="0E0E0E"/>
                </a:solidFill>
                <a:latin typeface="Arial"/>
                <a:ea typeface="Arial"/>
                <a:cs typeface="Arial"/>
              </a:rPr>
              <a:t>What it is</a:t>
            </a:r>
          </a:p>
          <a:p>
            <a:pPr algn="l">
              <a:lnSpc>
                <a:spcPts val="1750"/>
              </a:lnSpc>
              <a:spcBef>
                <a:spcPts val="0"/>
              </a:spcBef>
              <a:spcAft>
                <a:spcPts val="0"/>
              </a:spcAft>
            </a:pPr>
            <a:r>
              <a:rPr sz="1400" b="0">
                <a:solidFill>
                  <a:srgbClr val="0E0E0E"/>
                </a:solidFill>
                <a:latin typeface="Arial"/>
                <a:ea typeface="Arial"/>
                <a:cs typeface="Arial"/>
              </a:rPr>
              <a:t>NCAIR's 8B model for English, Hausa, Yorùbá and Igbo. The full version is about 16 GB and slow.</a:t>
            </a:r>
          </a:p>
        </p:txBody>
      </p:sp>
      <p:cxnSp>
        <p:nvCxnSpPr>
          <p:cNvPr id="9" name="Rule 01"/>
          <p:cNvCxnSpPr/>
          <p:nvPr/>
        </p:nvCxnSpPr>
        <p:spPr>
          <a:xfrm>
            <a:off x="6840415" y="1793631"/>
            <a:ext cx="4466493" cy="0"/>
          </a:xfrm>
          <a:prstGeom prst="line">
            <a:avLst/>
          </a:prstGeom>
          <a:ln w="9525">
            <a:solidFill>
              <a:srgbClr val="C4C3BE"/>
            </a:solidFill>
          </a:ln>
        </p:spPr>
      </p:cxnSp>
      <p:sp>
        <p:nvSpPr>
          <p:cNvPr id="10" name="Number 02"/>
          <p:cNvSpPr txBox="1"/>
          <p:nvPr/>
        </p:nvSpPr>
        <p:spPr>
          <a:xfrm>
            <a:off x="6849208" y="2074985"/>
            <a:ext cx="703385" cy="386862"/>
          </a:xfrm>
          <a:prstGeom prst="rect">
            <a:avLst/>
          </a:prstGeom>
          <a:noFill/>
        </p:spPr>
        <p:txBody>
          <a:bodyPr wrap="square" lIns="0" tIns="0" rIns="0" bIns="0" anchor="t">
            <a:spAutoFit/>
          </a:bodyPr>
          <a:lstStyle/>
          <a:p>
            <a:pPr algn="l">
              <a:spcBef>
                <a:spcPts val="0"/>
              </a:spcBef>
              <a:spcAft>
                <a:spcPts val="0"/>
              </a:spcAft>
            </a:pPr>
            <a:r>
              <a:rPr sz="3300" b="0">
                <a:solidFill>
                  <a:srgbClr val="0E0E0E"/>
                </a:solidFill>
                <a:latin typeface="Arial"/>
                <a:ea typeface="Arial"/>
                <a:cs typeface="Arial"/>
              </a:rPr>
              <a:t>02</a:t>
            </a:r>
          </a:p>
        </p:txBody>
      </p:sp>
      <p:cxnSp>
        <p:nvCxnSpPr>
          <p:cNvPr id="11" name="Divider 02"/>
          <p:cNvCxnSpPr/>
          <p:nvPr/>
        </p:nvCxnSpPr>
        <p:spPr>
          <a:xfrm>
            <a:off x="7517423" y="2057400"/>
            <a:ext cx="0" cy="703385"/>
          </a:xfrm>
          <a:prstGeom prst="line">
            <a:avLst/>
          </a:prstGeom>
          <a:ln w="9525">
            <a:solidFill>
              <a:srgbClr val="55534F"/>
            </a:solidFill>
          </a:ln>
        </p:spPr>
      </p:cxnSp>
      <p:sp>
        <p:nvSpPr>
          <p:cNvPr id="12" name="Item 02 text"/>
          <p:cNvSpPr txBox="1"/>
          <p:nvPr/>
        </p:nvSpPr>
        <p:spPr>
          <a:xfrm>
            <a:off x="7860323" y="2004646"/>
            <a:ext cx="3604846" cy="984738"/>
          </a:xfrm>
          <a:prstGeom prst="rect">
            <a:avLst/>
          </a:prstGeom>
          <a:noFill/>
        </p:spPr>
        <p:txBody>
          <a:bodyPr wrap="square" lIns="0" tIns="0" rIns="0" bIns="0" anchor="t">
            <a:spAutoFit/>
          </a:bodyPr>
          <a:lstStyle/>
          <a:p>
            <a:pPr algn="l">
              <a:lnSpc>
                <a:spcPts val="1750"/>
              </a:lnSpc>
              <a:spcBef>
                <a:spcPts val="0"/>
              </a:spcBef>
              <a:spcAft>
                <a:spcPts val="0"/>
              </a:spcAft>
            </a:pPr>
            <a:r>
              <a:rPr sz="1900" b="1">
                <a:solidFill>
                  <a:srgbClr val="0E0E0E"/>
                </a:solidFill>
                <a:latin typeface="Arial"/>
                <a:ea typeface="Arial"/>
                <a:cs typeface="Arial"/>
              </a:rPr>
              <a:t>Quantized build</a:t>
            </a:r>
          </a:p>
          <a:p>
            <a:pPr algn="l">
              <a:lnSpc>
                <a:spcPts val="1750"/>
              </a:lnSpc>
              <a:spcBef>
                <a:spcPts val="0"/>
              </a:spcBef>
              <a:spcAft>
                <a:spcPts val="0"/>
              </a:spcAft>
            </a:pPr>
            <a:r>
              <a:rPr sz="1400" b="0">
                <a:solidFill>
                  <a:srgbClr val="0E0E0E"/>
                </a:solidFill>
                <a:latin typeface="Arial"/>
                <a:ea typeface="Arial"/>
                <a:cs typeface="Arial"/>
              </a:rPr>
              <a:t>Q4_K_M, about 4.9 GB, runs offline after a one-time download.</a:t>
            </a:r>
          </a:p>
        </p:txBody>
      </p:sp>
      <p:cxnSp>
        <p:nvCxnSpPr>
          <p:cNvPr id="13" name="Rule 02"/>
          <p:cNvCxnSpPr/>
          <p:nvPr/>
        </p:nvCxnSpPr>
        <p:spPr>
          <a:xfrm>
            <a:off x="6840415" y="2919046"/>
            <a:ext cx="4466493" cy="0"/>
          </a:xfrm>
          <a:prstGeom prst="line">
            <a:avLst/>
          </a:prstGeom>
          <a:ln w="9525">
            <a:solidFill>
              <a:srgbClr val="C4C3BE"/>
            </a:solidFill>
          </a:ln>
        </p:spPr>
      </p:cxnSp>
      <p:sp>
        <p:nvSpPr>
          <p:cNvPr id="14" name="Number 03"/>
          <p:cNvSpPr txBox="1"/>
          <p:nvPr/>
        </p:nvSpPr>
        <p:spPr>
          <a:xfrm>
            <a:off x="6849208" y="3217985"/>
            <a:ext cx="703385" cy="386862"/>
          </a:xfrm>
          <a:prstGeom prst="rect">
            <a:avLst/>
          </a:prstGeom>
          <a:noFill/>
        </p:spPr>
        <p:txBody>
          <a:bodyPr wrap="square" lIns="0" tIns="0" rIns="0" bIns="0" anchor="t">
            <a:spAutoFit/>
          </a:bodyPr>
          <a:lstStyle/>
          <a:p>
            <a:pPr algn="l">
              <a:spcBef>
                <a:spcPts val="0"/>
              </a:spcBef>
              <a:spcAft>
                <a:spcPts val="0"/>
              </a:spcAft>
            </a:pPr>
            <a:r>
              <a:rPr sz="3300" b="0">
                <a:solidFill>
                  <a:srgbClr val="0E0E0E"/>
                </a:solidFill>
                <a:latin typeface="Arial"/>
                <a:ea typeface="Arial"/>
                <a:cs typeface="Arial"/>
              </a:rPr>
              <a:t>03</a:t>
            </a:r>
          </a:p>
        </p:txBody>
      </p:sp>
      <p:cxnSp>
        <p:nvCxnSpPr>
          <p:cNvPr id="15" name="Divider 03"/>
          <p:cNvCxnSpPr/>
          <p:nvPr/>
        </p:nvCxnSpPr>
        <p:spPr>
          <a:xfrm>
            <a:off x="7517423" y="3200400"/>
            <a:ext cx="0" cy="703385"/>
          </a:xfrm>
          <a:prstGeom prst="line">
            <a:avLst/>
          </a:prstGeom>
          <a:ln w="9525">
            <a:solidFill>
              <a:srgbClr val="55534F"/>
            </a:solidFill>
          </a:ln>
        </p:spPr>
      </p:cxnSp>
      <p:sp>
        <p:nvSpPr>
          <p:cNvPr id="16" name="Item 03 text"/>
          <p:cNvSpPr txBox="1"/>
          <p:nvPr/>
        </p:nvSpPr>
        <p:spPr>
          <a:xfrm>
            <a:off x="7860323" y="3147646"/>
            <a:ext cx="3604846" cy="984738"/>
          </a:xfrm>
          <a:prstGeom prst="rect">
            <a:avLst/>
          </a:prstGeom>
          <a:noFill/>
        </p:spPr>
        <p:txBody>
          <a:bodyPr wrap="square" lIns="0" tIns="0" rIns="0" bIns="0" anchor="t">
            <a:spAutoFit/>
          </a:bodyPr>
          <a:lstStyle/>
          <a:p>
            <a:pPr algn="l">
              <a:lnSpc>
                <a:spcPts val="1750"/>
              </a:lnSpc>
              <a:spcBef>
                <a:spcPts val="0"/>
              </a:spcBef>
              <a:spcAft>
                <a:spcPts val="0"/>
              </a:spcAft>
            </a:pPr>
            <a:r>
              <a:rPr sz="1900" b="1">
                <a:solidFill>
                  <a:srgbClr val="0E0E0E"/>
                </a:solidFill>
                <a:latin typeface="Arial"/>
                <a:ea typeface="Arial"/>
                <a:cs typeface="Arial"/>
              </a:rPr>
              <a:t>Role</a:t>
            </a:r>
          </a:p>
          <a:p>
            <a:pPr algn="l">
              <a:lnSpc>
                <a:spcPts val="1750"/>
              </a:lnSpc>
              <a:spcBef>
                <a:spcPts val="0"/>
              </a:spcBef>
              <a:spcAft>
                <a:spcPts val="0"/>
              </a:spcAft>
            </a:pPr>
            <a:r>
              <a:rPr sz="1400" b="0">
                <a:solidFill>
                  <a:srgbClr val="0E0E0E"/>
                </a:solidFill>
                <a:latin typeface="Arial"/>
                <a:ea typeface="Arial"/>
                <a:cs typeface="Arial"/>
              </a:rPr>
              <a:t>Llama is the default. N-ATLaS answers only Hausa, Yorùbá and Igbo questions.</a:t>
            </a:r>
          </a:p>
        </p:txBody>
      </p:sp>
      <p:cxnSp>
        <p:nvCxnSpPr>
          <p:cNvPr id="17" name="Rule 03"/>
          <p:cNvCxnSpPr/>
          <p:nvPr/>
        </p:nvCxnSpPr>
        <p:spPr>
          <a:xfrm>
            <a:off x="6840415" y="4106008"/>
            <a:ext cx="4466493" cy="0"/>
          </a:xfrm>
          <a:prstGeom prst="line">
            <a:avLst/>
          </a:prstGeom>
          <a:ln w="9525">
            <a:solidFill>
              <a:srgbClr val="C4C3BE"/>
            </a:solidFill>
          </a:ln>
        </p:spPr>
      </p:cxnSp>
      <p:sp>
        <p:nvSpPr>
          <p:cNvPr id="18" name="Number 04"/>
          <p:cNvSpPr txBox="1"/>
          <p:nvPr/>
        </p:nvSpPr>
        <p:spPr>
          <a:xfrm>
            <a:off x="6849208" y="4352192"/>
            <a:ext cx="703385" cy="386862"/>
          </a:xfrm>
          <a:prstGeom prst="rect">
            <a:avLst/>
          </a:prstGeom>
          <a:noFill/>
        </p:spPr>
        <p:txBody>
          <a:bodyPr wrap="square" lIns="0" tIns="0" rIns="0" bIns="0" anchor="t">
            <a:spAutoFit/>
          </a:bodyPr>
          <a:lstStyle/>
          <a:p>
            <a:pPr algn="l">
              <a:spcBef>
                <a:spcPts val="0"/>
              </a:spcBef>
              <a:spcAft>
                <a:spcPts val="0"/>
              </a:spcAft>
            </a:pPr>
            <a:r>
              <a:rPr sz="3300" b="0">
                <a:solidFill>
                  <a:srgbClr val="0E0E0E"/>
                </a:solidFill>
                <a:latin typeface="Arial"/>
                <a:ea typeface="Arial"/>
                <a:cs typeface="Arial"/>
              </a:rPr>
              <a:t>04</a:t>
            </a:r>
          </a:p>
        </p:txBody>
      </p:sp>
      <p:cxnSp>
        <p:nvCxnSpPr>
          <p:cNvPr id="19" name="Divider 04"/>
          <p:cNvCxnSpPr/>
          <p:nvPr/>
        </p:nvCxnSpPr>
        <p:spPr>
          <a:xfrm>
            <a:off x="7517423" y="4334608"/>
            <a:ext cx="0" cy="474784"/>
          </a:xfrm>
          <a:prstGeom prst="line">
            <a:avLst/>
          </a:prstGeom>
          <a:ln w="9525">
            <a:solidFill>
              <a:srgbClr val="55534F"/>
            </a:solidFill>
          </a:ln>
        </p:spPr>
      </p:cxnSp>
      <p:sp>
        <p:nvSpPr>
          <p:cNvPr id="20" name="Item 04 text"/>
          <p:cNvSpPr txBox="1"/>
          <p:nvPr/>
        </p:nvSpPr>
        <p:spPr>
          <a:xfrm>
            <a:off x="7860323" y="4281854"/>
            <a:ext cx="3604846" cy="756138"/>
          </a:xfrm>
          <a:prstGeom prst="rect">
            <a:avLst/>
          </a:prstGeom>
          <a:noFill/>
        </p:spPr>
        <p:txBody>
          <a:bodyPr wrap="square" lIns="0" tIns="0" rIns="0" bIns="0" anchor="t">
            <a:spAutoFit/>
          </a:bodyPr>
          <a:lstStyle/>
          <a:p>
            <a:pPr algn="l">
              <a:lnSpc>
                <a:spcPts val="1750"/>
              </a:lnSpc>
              <a:spcBef>
                <a:spcPts val="0"/>
              </a:spcBef>
              <a:spcAft>
                <a:spcPts val="0"/>
              </a:spcAft>
            </a:pPr>
            <a:r>
              <a:rPr sz="1900" b="1">
                <a:solidFill>
                  <a:srgbClr val="0E0E0E"/>
                </a:solidFill>
                <a:latin typeface="Arial"/>
                <a:ea typeface="Arial"/>
                <a:cs typeface="Arial"/>
              </a:rPr>
              <a:t>Fallback</a:t>
            </a:r>
          </a:p>
          <a:p>
            <a:pPr algn="l">
              <a:lnSpc>
                <a:spcPts val="1750"/>
              </a:lnSpc>
              <a:spcBef>
                <a:spcPts val="0"/>
              </a:spcBef>
              <a:spcAft>
                <a:spcPts val="0"/>
              </a:spcAft>
            </a:pPr>
            <a:r>
              <a:rPr sz="1400" b="0">
                <a:solidFill>
                  <a:srgbClr val="0E0E0E"/>
                </a:solidFill>
                <a:latin typeface="Arial"/>
                <a:ea typeface="Arial"/>
                <a:cs typeface="Arial"/>
              </a:rPr>
              <a:t>If it isn't installed or fails, Llama answers.</a:t>
            </a:r>
          </a:p>
        </p:txBody>
      </p:sp>
      <p:cxnSp>
        <p:nvCxnSpPr>
          <p:cNvPr id="21" name="Rule 04"/>
          <p:cNvCxnSpPr/>
          <p:nvPr/>
        </p:nvCxnSpPr>
        <p:spPr>
          <a:xfrm>
            <a:off x="6840415" y="5011615"/>
            <a:ext cx="4466493" cy="0"/>
          </a:xfrm>
          <a:prstGeom prst="line">
            <a:avLst/>
          </a:prstGeom>
          <a:ln w="9525">
            <a:solidFill>
              <a:srgbClr val="C4C3BE"/>
            </a:solidFill>
          </a:ln>
        </p:spPr>
      </p:cxnSp>
      <p:sp>
        <p:nvSpPr>
          <p:cNvPr id="22" name="Number 05"/>
          <p:cNvSpPr txBox="1"/>
          <p:nvPr/>
        </p:nvSpPr>
        <p:spPr>
          <a:xfrm>
            <a:off x="6849208" y="5240215"/>
            <a:ext cx="703385" cy="386862"/>
          </a:xfrm>
          <a:prstGeom prst="rect">
            <a:avLst/>
          </a:prstGeom>
          <a:noFill/>
        </p:spPr>
        <p:txBody>
          <a:bodyPr wrap="square" lIns="0" tIns="0" rIns="0" bIns="0" anchor="t">
            <a:spAutoFit/>
          </a:bodyPr>
          <a:lstStyle/>
          <a:p>
            <a:pPr algn="l">
              <a:spcBef>
                <a:spcPts val="0"/>
              </a:spcBef>
              <a:spcAft>
                <a:spcPts val="0"/>
              </a:spcAft>
            </a:pPr>
            <a:r>
              <a:rPr sz="3300" b="0">
                <a:solidFill>
                  <a:srgbClr val="0E0E0E"/>
                </a:solidFill>
                <a:latin typeface="Arial"/>
                <a:ea typeface="Arial"/>
                <a:cs typeface="Arial"/>
              </a:rPr>
              <a:t>05</a:t>
            </a:r>
          </a:p>
        </p:txBody>
      </p:sp>
      <p:cxnSp>
        <p:nvCxnSpPr>
          <p:cNvPr id="23" name="Divider 05"/>
          <p:cNvCxnSpPr/>
          <p:nvPr/>
        </p:nvCxnSpPr>
        <p:spPr>
          <a:xfrm>
            <a:off x="7517423" y="5222631"/>
            <a:ext cx="0" cy="474784"/>
          </a:xfrm>
          <a:prstGeom prst="line">
            <a:avLst/>
          </a:prstGeom>
          <a:ln w="9525">
            <a:solidFill>
              <a:srgbClr val="55534F"/>
            </a:solidFill>
          </a:ln>
        </p:spPr>
      </p:cxnSp>
      <p:sp>
        <p:nvSpPr>
          <p:cNvPr id="24" name="Item 05 text"/>
          <p:cNvSpPr txBox="1"/>
          <p:nvPr/>
        </p:nvSpPr>
        <p:spPr>
          <a:xfrm>
            <a:off x="7860323" y="5169877"/>
            <a:ext cx="3604846" cy="756138"/>
          </a:xfrm>
          <a:prstGeom prst="rect">
            <a:avLst/>
          </a:prstGeom>
          <a:noFill/>
        </p:spPr>
        <p:txBody>
          <a:bodyPr wrap="square" lIns="0" tIns="0" rIns="0" bIns="0" anchor="t">
            <a:spAutoFit/>
          </a:bodyPr>
          <a:lstStyle/>
          <a:p>
            <a:pPr algn="l">
              <a:lnSpc>
                <a:spcPts val="1750"/>
              </a:lnSpc>
              <a:spcBef>
                <a:spcPts val="0"/>
              </a:spcBef>
              <a:spcAft>
                <a:spcPts val="0"/>
              </a:spcAft>
            </a:pPr>
            <a:r>
              <a:rPr sz="1900" b="1">
                <a:solidFill>
                  <a:srgbClr val="0E0E0E"/>
                </a:solidFill>
                <a:latin typeface="Arial"/>
                <a:ea typeface="Arial"/>
                <a:cs typeface="Arial"/>
              </a:rPr>
              <a:t>Comparison</a:t>
            </a:r>
          </a:p>
          <a:p>
            <a:pPr algn="l">
              <a:lnSpc>
                <a:spcPts val="1750"/>
              </a:lnSpc>
              <a:spcBef>
                <a:spcPts val="0"/>
              </a:spcBef>
              <a:spcAft>
                <a:spcPts val="0"/>
              </a:spcAft>
            </a:pPr>
            <a:r>
              <a:rPr sz="1400" b="0">
                <a:solidFill>
                  <a:srgbClr val="0E0E0E"/>
                </a:solidFill>
                <a:latin typeface="Arial"/>
                <a:ea typeface="Arial"/>
                <a:cs typeface="Arial"/>
              </a:rPr>
              <a:t>OLD had no N-ATLaS, so it was not compared with anything.</a:t>
            </a:r>
          </a:p>
        </p:txBody>
      </p:sp>
      <p:cxnSp>
        <p:nvCxnSpPr>
          <p:cNvPr id="25" name="Rule 05"/>
          <p:cNvCxnSpPr/>
          <p:nvPr/>
        </p:nvCxnSpPr>
        <p:spPr>
          <a:xfrm>
            <a:off x="6840415" y="6013938"/>
            <a:ext cx="4466493" cy="0"/>
          </a:xfrm>
          <a:prstGeom prst="line">
            <a:avLst/>
          </a:prstGeom>
          <a:ln w="9525">
            <a:solidFill>
              <a:srgbClr val="C4C3BE"/>
            </a:solidFill>
          </a:ln>
        </p:spPr>
      </p:cxnSp>
      <p:sp>
        <p:nvSpPr>
          <p:cNvPr id="26" name="Number 06"/>
          <p:cNvSpPr txBox="1"/>
          <p:nvPr/>
        </p:nvSpPr>
        <p:spPr>
          <a:xfrm>
            <a:off x="6849208" y="6242538"/>
            <a:ext cx="703385" cy="386862"/>
          </a:xfrm>
          <a:prstGeom prst="rect">
            <a:avLst/>
          </a:prstGeom>
          <a:noFill/>
        </p:spPr>
        <p:txBody>
          <a:bodyPr wrap="square" lIns="0" tIns="0" rIns="0" bIns="0" anchor="t">
            <a:spAutoFit/>
          </a:bodyPr>
          <a:lstStyle/>
          <a:p>
            <a:pPr algn="l">
              <a:spcBef>
                <a:spcPts val="0"/>
              </a:spcBef>
              <a:spcAft>
                <a:spcPts val="0"/>
              </a:spcAft>
            </a:pPr>
            <a:r>
              <a:rPr sz="3300" b="0">
                <a:solidFill>
                  <a:srgbClr val="0E0E0E"/>
                </a:solidFill>
                <a:latin typeface="Arial"/>
                <a:ea typeface="Arial"/>
                <a:cs typeface="Arial"/>
              </a:rPr>
              <a:t>06</a:t>
            </a:r>
          </a:p>
        </p:txBody>
      </p:sp>
      <p:cxnSp>
        <p:nvCxnSpPr>
          <p:cNvPr id="27" name="Divider 06"/>
          <p:cNvCxnSpPr/>
          <p:nvPr/>
        </p:nvCxnSpPr>
        <p:spPr>
          <a:xfrm>
            <a:off x="7517423" y="6224954"/>
            <a:ext cx="0" cy="597877"/>
          </a:xfrm>
          <a:prstGeom prst="line">
            <a:avLst/>
          </a:prstGeom>
          <a:ln w="9525">
            <a:solidFill>
              <a:srgbClr val="55534F"/>
            </a:solidFill>
          </a:ln>
        </p:spPr>
      </p:cxnSp>
      <p:sp>
        <p:nvSpPr>
          <p:cNvPr id="28" name="Item 06 text"/>
          <p:cNvSpPr txBox="1"/>
          <p:nvPr/>
        </p:nvSpPr>
        <p:spPr>
          <a:xfrm>
            <a:off x="7860323" y="6172200"/>
            <a:ext cx="3604846" cy="879231"/>
          </a:xfrm>
          <a:prstGeom prst="rect">
            <a:avLst/>
          </a:prstGeom>
          <a:noFill/>
        </p:spPr>
        <p:txBody>
          <a:bodyPr wrap="square" lIns="0" tIns="0" rIns="0" bIns="0" anchor="t">
            <a:spAutoFit/>
          </a:bodyPr>
          <a:lstStyle/>
          <a:p>
            <a:pPr algn="l">
              <a:lnSpc>
                <a:spcPts val="1750"/>
              </a:lnSpc>
              <a:spcBef>
                <a:spcPts val="0"/>
              </a:spcBef>
              <a:spcAft>
                <a:spcPts val="0"/>
              </a:spcAft>
            </a:pPr>
            <a:r>
              <a:rPr sz="1900" b="1">
                <a:solidFill>
                  <a:srgbClr val="0E0E0E"/>
                </a:solidFill>
                <a:latin typeface="Arial"/>
                <a:ea typeface="Arial"/>
                <a:cs typeface="Arial"/>
              </a:rPr>
              <a:t>Limits</a:t>
            </a:r>
          </a:p>
          <a:p>
            <a:pPr algn="l">
              <a:lnSpc>
                <a:spcPts val="1750"/>
              </a:lnSpc>
              <a:spcBef>
                <a:spcPts val="0"/>
              </a:spcBef>
              <a:spcAft>
                <a:spcPts val="0"/>
              </a:spcAft>
            </a:pPr>
            <a:r>
              <a:rPr sz="1400" b="0">
                <a:solidFill>
                  <a:srgbClr val="0E0E0E"/>
                </a:solidFill>
                <a:latin typeface="Arial"/>
                <a:ea typeface="Arial"/>
                <a:cs typeface="Arial"/>
              </a:rPr>
              <a:t>The licence caps use at 1000 users and requires attribution. Yorùbá quality is the weakest.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3EE"/>
        </a:solidFill>
        <a:effectLst/>
      </p:bgPr>
    </p:bg>
    <p:spTree>
      <p:nvGrpSpPr>
        <p:cNvPr id="1" name=""/>
        <p:cNvGrpSpPr/>
        <p:nvPr/>
      </p:nvGrpSpPr>
      <p:grpSpPr>
        <a:xfrm>
          <a:off x="0" y="0"/>
          <a:ext cx="0" cy="0"/>
          <a:chOff x="0" y="0"/>
          <a:chExt cx="0" cy="0"/>
        </a:xfrm>
      </p:grpSpPr>
      <p:pic>
        <p:nvPicPr>
          <p:cNvPr id="2" name="Artwork 1" descr="Decorative artwork"/>
          <p:cNvPicPr>
            <a:picLocks noChangeAspect="1"/>
          </p:cNvPicPr>
          <p:nvPr/>
        </p:nvPicPr>
        <p:blipFill>
          <a:blip r:embed="rId2"/>
          <a:stretch>
            <a:fillRect/>
          </a:stretch>
        </p:blipFill>
        <p:spPr>
          <a:xfrm>
            <a:off x="4369777" y="0"/>
            <a:ext cx="3604846" cy="7200900"/>
          </a:xfrm>
          <a:prstGeom prst="rect">
            <a:avLst/>
          </a:prstGeom>
        </p:spPr>
      </p:pic>
      <p:pic>
        <p:nvPicPr>
          <p:cNvPr id="3" name="Artwork 2" descr="Decorative artwork"/>
          <p:cNvPicPr>
            <a:picLocks noChangeAspect="1"/>
          </p:cNvPicPr>
          <p:nvPr/>
        </p:nvPicPr>
        <p:blipFill>
          <a:blip r:embed="rId3"/>
          <a:stretch>
            <a:fillRect/>
          </a:stretch>
        </p:blipFill>
        <p:spPr>
          <a:xfrm>
            <a:off x="1951892" y="3956538"/>
            <a:ext cx="2417885" cy="3244362"/>
          </a:xfrm>
          <a:prstGeom prst="rect">
            <a:avLst/>
          </a:prstGeom>
        </p:spPr>
      </p:pic>
      <p:sp>
        <p:nvSpPr>
          <p:cNvPr id="4" name="Title"/>
          <p:cNvSpPr txBox="1"/>
          <p:nvPr/>
        </p:nvSpPr>
        <p:spPr>
          <a:xfrm>
            <a:off x="307731" y="1230923"/>
            <a:ext cx="4132385" cy="1494692"/>
          </a:xfrm>
          <a:prstGeom prst="rect">
            <a:avLst/>
          </a:prstGeom>
          <a:noFill/>
        </p:spPr>
        <p:txBody>
          <a:bodyPr wrap="square" lIns="0" tIns="0" rIns="0" bIns="0" anchor="t">
            <a:spAutoFit/>
          </a:bodyPr>
          <a:lstStyle/>
          <a:p>
            <a:pPr algn="l">
              <a:lnSpc>
                <a:spcPts val="5700"/>
              </a:lnSpc>
              <a:spcBef>
                <a:spcPts val="0"/>
              </a:spcBef>
              <a:spcAft>
                <a:spcPts val="0"/>
              </a:spcAft>
            </a:pPr>
            <a:r>
              <a:rPr sz="5400" b="0">
                <a:solidFill>
                  <a:srgbClr val="0E0E0E"/>
                </a:solidFill>
                <a:latin typeface="Impact"/>
                <a:ea typeface="Impact"/>
                <a:cs typeface="Impact"/>
              </a:rPr>
              <a:t>APPLICATION</a:t>
            </a:r>
          </a:p>
          <a:p>
            <a:pPr algn="l">
              <a:lnSpc>
                <a:spcPts val="5700"/>
              </a:lnSpc>
              <a:spcBef>
                <a:spcPts val="0"/>
              </a:spcBef>
              <a:spcAft>
                <a:spcPts val="0"/>
              </a:spcAft>
            </a:pPr>
            <a:r>
              <a:rPr sz="5400" b="0">
                <a:solidFill>
                  <a:srgbClr val="0E0E0E"/>
                </a:solidFill>
                <a:latin typeface="Impact"/>
                <a:ea typeface="Impact"/>
                <a:cs typeface="Impact"/>
              </a:rPr>
              <a:t>WALKTHROUGH</a:t>
            </a:r>
          </a:p>
        </p:txBody>
      </p:sp>
      <p:cxnSp>
        <p:nvCxnSpPr>
          <p:cNvPr id="5" name="Rule"/>
          <p:cNvCxnSpPr/>
          <p:nvPr/>
        </p:nvCxnSpPr>
        <p:spPr>
          <a:xfrm>
            <a:off x="360485" y="2831123"/>
            <a:ext cx="404446" cy="0"/>
          </a:xfrm>
          <a:prstGeom prst="line">
            <a:avLst/>
          </a:prstGeom>
          <a:ln w="19050">
            <a:solidFill>
              <a:srgbClr val="0E0E0E"/>
            </a:solidFill>
          </a:ln>
        </p:spPr>
      </p:cxnSp>
      <p:sp>
        <p:nvSpPr>
          <p:cNvPr id="6" name="Intro"/>
          <p:cNvSpPr txBox="1"/>
          <p:nvPr/>
        </p:nvSpPr>
        <p:spPr>
          <a:xfrm>
            <a:off x="360485" y="3077308"/>
            <a:ext cx="3604846" cy="967154"/>
          </a:xfrm>
          <a:prstGeom prst="rect">
            <a:avLst/>
          </a:prstGeom>
          <a:noFill/>
        </p:spPr>
        <p:txBody>
          <a:bodyPr wrap="square" lIns="0" tIns="0" rIns="0" bIns="0" anchor="t">
            <a:spAutoFit/>
          </a:bodyPr>
          <a:lstStyle/>
          <a:p>
            <a:pPr algn="l">
              <a:lnSpc>
                <a:spcPts val="2450"/>
              </a:lnSpc>
              <a:spcBef>
                <a:spcPts val="0"/>
              </a:spcBef>
              <a:spcAft>
                <a:spcPts val="0"/>
              </a:spcAft>
            </a:pPr>
            <a:r>
              <a:rPr sz="1950" b="0">
                <a:solidFill>
                  <a:srgbClr val="0E0E0E"/>
                </a:solidFill>
                <a:latin typeface="Arial"/>
                <a:ea typeface="Arial"/>
                <a:cs typeface="Arial"/>
              </a:rPr>
              <a:t>See how the NCAIR LMS Assistant works in practice, from setup to answers with real links.</a:t>
            </a:r>
          </a:p>
        </p:txBody>
      </p:sp>
      <p:cxnSp>
        <p:nvCxnSpPr>
          <p:cNvPr id="7" name="Quote bar"/>
          <p:cNvCxnSpPr/>
          <p:nvPr/>
        </p:nvCxnSpPr>
        <p:spPr>
          <a:xfrm>
            <a:off x="360485" y="4624754"/>
            <a:ext cx="0" cy="1441938"/>
          </a:xfrm>
          <a:prstGeom prst="line">
            <a:avLst/>
          </a:prstGeom>
          <a:ln w="12700">
            <a:solidFill>
              <a:srgbClr val="0E0E0E"/>
            </a:solidFill>
          </a:ln>
        </p:spPr>
      </p:cxnSp>
      <p:sp>
        <p:nvSpPr>
          <p:cNvPr id="8" name="Tagline"/>
          <p:cNvSpPr txBox="1"/>
          <p:nvPr/>
        </p:nvSpPr>
        <p:spPr>
          <a:xfrm>
            <a:off x="624254" y="5055577"/>
            <a:ext cx="1318846" cy="967154"/>
          </a:xfrm>
          <a:prstGeom prst="rect">
            <a:avLst/>
          </a:prstGeom>
          <a:noFill/>
        </p:spPr>
        <p:txBody>
          <a:bodyPr wrap="square" lIns="0" tIns="0" rIns="0" bIns="0" anchor="t">
            <a:spAutoFit/>
          </a:bodyPr>
          <a:lstStyle/>
          <a:p>
            <a:pPr algn="l">
              <a:lnSpc>
                <a:spcPts val="1800"/>
              </a:lnSpc>
              <a:spcBef>
                <a:spcPts val="0"/>
              </a:spcBef>
              <a:spcAft>
                <a:spcPts val="0"/>
              </a:spcAft>
            </a:pPr>
            <a:r>
              <a:rPr sz="1050" b="0" spc="80">
                <a:solidFill>
                  <a:srgbClr val="0E0E0E"/>
                </a:solidFill>
                <a:latin typeface="Courier New"/>
                <a:ea typeface="Courier New"/>
                <a:cs typeface="Courier New"/>
              </a:rPr>
              <a:t>From search</a:t>
            </a:r>
          </a:p>
          <a:p>
            <a:pPr algn="l">
              <a:lnSpc>
                <a:spcPts val="1800"/>
              </a:lnSpc>
              <a:spcBef>
                <a:spcPts val="0"/>
              </a:spcBef>
              <a:spcAft>
                <a:spcPts val="0"/>
              </a:spcAft>
            </a:pPr>
            <a:endParaRPr sz="1050" b="0" spc="80">
              <a:solidFill>
                <a:srgbClr val="0E0E0E"/>
              </a:solidFill>
              <a:latin typeface="Courier New"/>
              <a:ea typeface="Courier New"/>
              <a:cs typeface="Courier New"/>
            </a:endParaRPr>
          </a:p>
          <a:p>
            <a:pPr algn="l">
              <a:lnSpc>
                <a:spcPts val="1800"/>
              </a:lnSpc>
              <a:spcBef>
                <a:spcPts val="0"/>
              </a:spcBef>
              <a:spcAft>
                <a:spcPts val="0"/>
              </a:spcAft>
            </a:pPr>
            <a:r>
              <a:rPr sz="1050" b="0" spc="80">
                <a:solidFill>
                  <a:srgbClr val="0E0E0E"/>
                </a:solidFill>
                <a:latin typeface="Courier New"/>
                <a:ea typeface="Courier New"/>
                <a:cs typeface="Courier New"/>
              </a:rPr>
              <a:t>to understanding.</a:t>
            </a:r>
          </a:p>
        </p:txBody>
      </p:sp>
      <p:sp>
        <p:nvSpPr>
          <p:cNvPr id="9" name="Number 01"/>
          <p:cNvSpPr txBox="1"/>
          <p:nvPr/>
        </p:nvSpPr>
        <p:spPr>
          <a:xfrm>
            <a:off x="8510954" y="773723"/>
            <a:ext cx="703385" cy="386862"/>
          </a:xfrm>
          <a:prstGeom prst="rect">
            <a:avLst/>
          </a:prstGeom>
          <a:noFill/>
        </p:spPr>
        <p:txBody>
          <a:bodyPr wrap="square" lIns="0" tIns="0" rIns="0" bIns="0" anchor="t">
            <a:spAutoFit/>
          </a:bodyPr>
          <a:lstStyle/>
          <a:p>
            <a:pPr algn="l">
              <a:spcBef>
                <a:spcPts val="0"/>
              </a:spcBef>
              <a:spcAft>
                <a:spcPts val="0"/>
              </a:spcAft>
            </a:pPr>
            <a:r>
              <a:rPr sz="3100" b="0">
                <a:solidFill>
                  <a:srgbClr val="0E0E0E"/>
                </a:solidFill>
                <a:latin typeface="Arial"/>
                <a:ea typeface="Arial"/>
                <a:cs typeface="Arial"/>
              </a:rPr>
              <a:t>01</a:t>
            </a:r>
          </a:p>
        </p:txBody>
      </p:sp>
      <p:cxnSp>
        <p:nvCxnSpPr>
          <p:cNvPr id="10" name="Divider 01"/>
          <p:cNvCxnSpPr/>
          <p:nvPr/>
        </p:nvCxnSpPr>
        <p:spPr>
          <a:xfrm>
            <a:off x="9214338" y="791308"/>
            <a:ext cx="0" cy="615461"/>
          </a:xfrm>
          <a:prstGeom prst="line">
            <a:avLst/>
          </a:prstGeom>
          <a:ln w="9525">
            <a:solidFill>
              <a:srgbClr val="55534F"/>
            </a:solidFill>
          </a:ln>
        </p:spPr>
      </p:cxnSp>
      <p:sp>
        <p:nvSpPr>
          <p:cNvPr id="11" name="Item 01 text"/>
          <p:cNvSpPr txBox="1"/>
          <p:nvPr/>
        </p:nvSpPr>
        <p:spPr>
          <a:xfrm>
            <a:off x="9319846" y="738554"/>
            <a:ext cx="3209192" cy="896815"/>
          </a:xfrm>
          <a:prstGeom prst="rect">
            <a:avLst/>
          </a:prstGeom>
          <a:noFill/>
        </p:spPr>
        <p:txBody>
          <a:bodyPr wrap="square" lIns="0" tIns="0" rIns="0" bIns="0" anchor="t">
            <a:spAutoFit/>
          </a:bodyPr>
          <a:lstStyle/>
          <a:p>
            <a:pPr algn="l">
              <a:lnSpc>
                <a:spcPts val="1700"/>
              </a:lnSpc>
              <a:spcBef>
                <a:spcPts val="0"/>
              </a:spcBef>
              <a:spcAft>
                <a:spcPts val="0"/>
              </a:spcAft>
            </a:pPr>
            <a:r>
              <a:rPr sz="1800" b="1">
                <a:solidFill>
                  <a:srgbClr val="0E0E0E"/>
                </a:solidFill>
                <a:latin typeface="Arial"/>
                <a:ea typeface="Arial"/>
                <a:cs typeface="Arial"/>
              </a:rPr>
              <a:t>Start</a:t>
            </a:r>
          </a:p>
          <a:p>
            <a:pPr algn="l">
              <a:lnSpc>
                <a:spcPts val="1700"/>
              </a:lnSpc>
              <a:spcBef>
                <a:spcPts val="0"/>
              </a:spcBef>
              <a:spcAft>
                <a:spcPts val="0"/>
              </a:spcAft>
            </a:pPr>
            <a:r>
              <a:rPr sz="1350" b="0">
                <a:solidFill>
                  <a:srgbClr val="0E0E0E"/>
                </a:solidFill>
                <a:latin typeface="Arial"/>
                <a:ea typeface="Arial"/>
                <a:cs typeface="Arial"/>
              </a:rPr>
              <a:t>Run Ollama, then python src/app.py to open the chat page.</a:t>
            </a:r>
          </a:p>
        </p:txBody>
      </p:sp>
      <p:cxnSp>
        <p:nvCxnSpPr>
          <p:cNvPr id="12" name="Rule 01"/>
          <p:cNvCxnSpPr/>
          <p:nvPr/>
        </p:nvCxnSpPr>
        <p:spPr>
          <a:xfrm>
            <a:off x="8493369" y="1477108"/>
            <a:ext cx="3991708" cy="0"/>
          </a:xfrm>
          <a:prstGeom prst="line">
            <a:avLst/>
          </a:prstGeom>
          <a:ln w="9525">
            <a:solidFill>
              <a:srgbClr val="C4C3BE"/>
            </a:solidFill>
          </a:ln>
        </p:spPr>
      </p:cxnSp>
      <p:sp>
        <p:nvSpPr>
          <p:cNvPr id="13" name="Number 02"/>
          <p:cNvSpPr txBox="1"/>
          <p:nvPr/>
        </p:nvSpPr>
        <p:spPr>
          <a:xfrm>
            <a:off x="8510954" y="1688123"/>
            <a:ext cx="703385" cy="386862"/>
          </a:xfrm>
          <a:prstGeom prst="rect">
            <a:avLst/>
          </a:prstGeom>
          <a:noFill/>
        </p:spPr>
        <p:txBody>
          <a:bodyPr wrap="square" lIns="0" tIns="0" rIns="0" bIns="0" anchor="t">
            <a:spAutoFit/>
          </a:bodyPr>
          <a:lstStyle/>
          <a:p>
            <a:pPr algn="l">
              <a:spcBef>
                <a:spcPts val="0"/>
              </a:spcBef>
              <a:spcAft>
                <a:spcPts val="0"/>
              </a:spcAft>
            </a:pPr>
            <a:r>
              <a:rPr sz="3100" b="0">
                <a:solidFill>
                  <a:srgbClr val="0E0E0E"/>
                </a:solidFill>
                <a:latin typeface="Arial"/>
                <a:ea typeface="Arial"/>
                <a:cs typeface="Arial"/>
              </a:rPr>
              <a:t>02</a:t>
            </a:r>
          </a:p>
        </p:txBody>
      </p:sp>
      <p:cxnSp>
        <p:nvCxnSpPr>
          <p:cNvPr id="14" name="Divider 02"/>
          <p:cNvCxnSpPr/>
          <p:nvPr/>
        </p:nvCxnSpPr>
        <p:spPr>
          <a:xfrm>
            <a:off x="9214338" y="1705708"/>
            <a:ext cx="0" cy="615461"/>
          </a:xfrm>
          <a:prstGeom prst="line">
            <a:avLst/>
          </a:prstGeom>
          <a:ln w="9525">
            <a:solidFill>
              <a:srgbClr val="55534F"/>
            </a:solidFill>
          </a:ln>
        </p:spPr>
      </p:cxnSp>
      <p:sp>
        <p:nvSpPr>
          <p:cNvPr id="15" name="Item 02 text"/>
          <p:cNvSpPr txBox="1"/>
          <p:nvPr/>
        </p:nvSpPr>
        <p:spPr>
          <a:xfrm>
            <a:off x="9319846" y="1652954"/>
            <a:ext cx="3209192" cy="896815"/>
          </a:xfrm>
          <a:prstGeom prst="rect">
            <a:avLst/>
          </a:prstGeom>
          <a:noFill/>
        </p:spPr>
        <p:txBody>
          <a:bodyPr wrap="square" lIns="0" tIns="0" rIns="0" bIns="0" anchor="t">
            <a:spAutoFit/>
          </a:bodyPr>
          <a:lstStyle/>
          <a:p>
            <a:pPr algn="l">
              <a:lnSpc>
                <a:spcPts val="1700"/>
              </a:lnSpc>
              <a:spcBef>
                <a:spcPts val="0"/>
              </a:spcBef>
              <a:spcAft>
                <a:spcPts val="0"/>
              </a:spcAft>
            </a:pPr>
            <a:r>
              <a:rPr sz="1800" b="1">
                <a:solidFill>
                  <a:srgbClr val="0E0E0E"/>
                </a:solidFill>
                <a:latin typeface="Arial"/>
                <a:ea typeface="Arial"/>
                <a:cs typeface="Arial"/>
              </a:rPr>
              <a:t>Ask</a:t>
            </a:r>
          </a:p>
          <a:p>
            <a:pPr algn="l">
              <a:lnSpc>
                <a:spcPts val="1700"/>
              </a:lnSpc>
              <a:spcBef>
                <a:spcPts val="0"/>
              </a:spcBef>
              <a:spcAft>
                <a:spcPts val="0"/>
              </a:spcAft>
            </a:pPr>
            <a:r>
              <a:rPr sz="1350" b="0">
                <a:solidFill>
                  <a:srgbClr val="0E0E0E"/>
                </a:solidFill>
                <a:latin typeface="Arial"/>
                <a:ea typeface="Arial"/>
                <a:cs typeface="Arial"/>
              </a:rPr>
              <a:t>Type a question in English, Hausa, Yorùbá, Igbo or Pidgin.</a:t>
            </a:r>
          </a:p>
        </p:txBody>
      </p:sp>
      <p:cxnSp>
        <p:nvCxnSpPr>
          <p:cNvPr id="16" name="Rule 02"/>
          <p:cNvCxnSpPr/>
          <p:nvPr/>
        </p:nvCxnSpPr>
        <p:spPr>
          <a:xfrm>
            <a:off x="8493369" y="2444262"/>
            <a:ext cx="3991708" cy="0"/>
          </a:xfrm>
          <a:prstGeom prst="line">
            <a:avLst/>
          </a:prstGeom>
          <a:ln w="9525">
            <a:solidFill>
              <a:srgbClr val="C4C3BE"/>
            </a:solidFill>
          </a:ln>
        </p:spPr>
      </p:cxnSp>
      <p:sp>
        <p:nvSpPr>
          <p:cNvPr id="17" name="Number 03"/>
          <p:cNvSpPr txBox="1"/>
          <p:nvPr/>
        </p:nvSpPr>
        <p:spPr>
          <a:xfrm>
            <a:off x="8510954" y="2637692"/>
            <a:ext cx="703385" cy="386862"/>
          </a:xfrm>
          <a:prstGeom prst="rect">
            <a:avLst/>
          </a:prstGeom>
          <a:noFill/>
        </p:spPr>
        <p:txBody>
          <a:bodyPr wrap="square" lIns="0" tIns="0" rIns="0" bIns="0" anchor="t">
            <a:spAutoFit/>
          </a:bodyPr>
          <a:lstStyle/>
          <a:p>
            <a:pPr algn="l">
              <a:spcBef>
                <a:spcPts val="0"/>
              </a:spcBef>
              <a:spcAft>
                <a:spcPts val="0"/>
              </a:spcAft>
            </a:pPr>
            <a:r>
              <a:rPr sz="3100" b="0">
                <a:solidFill>
                  <a:srgbClr val="0E0E0E"/>
                </a:solidFill>
                <a:latin typeface="Arial"/>
                <a:ea typeface="Arial"/>
                <a:cs typeface="Arial"/>
              </a:rPr>
              <a:t>03</a:t>
            </a:r>
          </a:p>
        </p:txBody>
      </p:sp>
      <p:cxnSp>
        <p:nvCxnSpPr>
          <p:cNvPr id="18" name="Divider 03"/>
          <p:cNvCxnSpPr/>
          <p:nvPr/>
        </p:nvCxnSpPr>
        <p:spPr>
          <a:xfrm>
            <a:off x="9214338" y="2655277"/>
            <a:ext cx="0" cy="615461"/>
          </a:xfrm>
          <a:prstGeom prst="line">
            <a:avLst/>
          </a:prstGeom>
          <a:ln w="9525">
            <a:solidFill>
              <a:srgbClr val="55534F"/>
            </a:solidFill>
          </a:ln>
        </p:spPr>
      </p:cxnSp>
      <p:sp>
        <p:nvSpPr>
          <p:cNvPr id="19" name="Item 03 text"/>
          <p:cNvSpPr txBox="1"/>
          <p:nvPr/>
        </p:nvSpPr>
        <p:spPr>
          <a:xfrm>
            <a:off x="9319846" y="2602523"/>
            <a:ext cx="3209192" cy="896815"/>
          </a:xfrm>
          <a:prstGeom prst="rect">
            <a:avLst/>
          </a:prstGeom>
          <a:noFill/>
        </p:spPr>
        <p:txBody>
          <a:bodyPr wrap="square" lIns="0" tIns="0" rIns="0" bIns="0" anchor="t">
            <a:spAutoFit/>
          </a:bodyPr>
          <a:lstStyle/>
          <a:p>
            <a:pPr algn="l">
              <a:lnSpc>
                <a:spcPts val="1700"/>
              </a:lnSpc>
              <a:spcBef>
                <a:spcPts val="0"/>
              </a:spcBef>
              <a:spcAft>
                <a:spcPts val="0"/>
              </a:spcAft>
            </a:pPr>
            <a:r>
              <a:rPr sz="1800" b="1">
                <a:solidFill>
                  <a:srgbClr val="0E0E0E"/>
                </a:solidFill>
                <a:latin typeface="Arial"/>
                <a:ea typeface="Arial"/>
                <a:cs typeface="Arial"/>
              </a:rPr>
              <a:t>Route</a:t>
            </a:r>
          </a:p>
          <a:p>
            <a:pPr algn="l">
              <a:lnSpc>
                <a:spcPts val="1700"/>
              </a:lnSpc>
              <a:spcBef>
                <a:spcPts val="0"/>
              </a:spcBef>
              <a:spcAft>
                <a:spcPts val="0"/>
              </a:spcAft>
            </a:pPr>
            <a:r>
              <a:rPr sz="1350" b="0">
                <a:solidFill>
                  <a:srgbClr val="0E0E0E"/>
                </a:solidFill>
                <a:latin typeface="Arial"/>
                <a:ea typeface="Arial"/>
                <a:cs typeface="Arial"/>
              </a:rPr>
              <a:t>The LLM picks a link, a step or a knowledge-base search.</a:t>
            </a:r>
          </a:p>
        </p:txBody>
      </p:sp>
      <p:cxnSp>
        <p:nvCxnSpPr>
          <p:cNvPr id="20" name="Rule 03"/>
          <p:cNvCxnSpPr/>
          <p:nvPr/>
        </p:nvCxnSpPr>
        <p:spPr>
          <a:xfrm>
            <a:off x="8493369" y="3349869"/>
            <a:ext cx="3991708" cy="0"/>
          </a:xfrm>
          <a:prstGeom prst="line">
            <a:avLst/>
          </a:prstGeom>
          <a:ln w="9525">
            <a:solidFill>
              <a:srgbClr val="C4C3BE"/>
            </a:solidFill>
          </a:ln>
        </p:spPr>
      </p:cxnSp>
      <p:sp>
        <p:nvSpPr>
          <p:cNvPr id="21" name="Number 04"/>
          <p:cNvSpPr txBox="1"/>
          <p:nvPr/>
        </p:nvSpPr>
        <p:spPr>
          <a:xfrm>
            <a:off x="8510954" y="3552092"/>
            <a:ext cx="703385" cy="386862"/>
          </a:xfrm>
          <a:prstGeom prst="rect">
            <a:avLst/>
          </a:prstGeom>
          <a:noFill/>
        </p:spPr>
        <p:txBody>
          <a:bodyPr wrap="square" lIns="0" tIns="0" rIns="0" bIns="0" anchor="t">
            <a:spAutoFit/>
          </a:bodyPr>
          <a:lstStyle/>
          <a:p>
            <a:pPr algn="l">
              <a:spcBef>
                <a:spcPts val="0"/>
              </a:spcBef>
              <a:spcAft>
                <a:spcPts val="0"/>
              </a:spcAft>
            </a:pPr>
            <a:r>
              <a:rPr sz="3100" b="0">
                <a:solidFill>
                  <a:srgbClr val="0E0E0E"/>
                </a:solidFill>
                <a:latin typeface="Arial"/>
                <a:ea typeface="Arial"/>
                <a:cs typeface="Arial"/>
              </a:rPr>
              <a:t>04</a:t>
            </a:r>
          </a:p>
        </p:txBody>
      </p:sp>
      <p:cxnSp>
        <p:nvCxnSpPr>
          <p:cNvPr id="22" name="Divider 04"/>
          <p:cNvCxnSpPr/>
          <p:nvPr/>
        </p:nvCxnSpPr>
        <p:spPr>
          <a:xfrm>
            <a:off x="9214338" y="3569677"/>
            <a:ext cx="0" cy="615461"/>
          </a:xfrm>
          <a:prstGeom prst="line">
            <a:avLst/>
          </a:prstGeom>
          <a:ln w="9525">
            <a:solidFill>
              <a:srgbClr val="55534F"/>
            </a:solidFill>
          </a:ln>
        </p:spPr>
      </p:cxnSp>
      <p:sp>
        <p:nvSpPr>
          <p:cNvPr id="23" name="Item 04 text"/>
          <p:cNvSpPr txBox="1"/>
          <p:nvPr/>
        </p:nvSpPr>
        <p:spPr>
          <a:xfrm>
            <a:off x="9319846" y="3516923"/>
            <a:ext cx="3209192" cy="896815"/>
          </a:xfrm>
          <a:prstGeom prst="rect">
            <a:avLst/>
          </a:prstGeom>
          <a:noFill/>
        </p:spPr>
        <p:txBody>
          <a:bodyPr wrap="square" lIns="0" tIns="0" rIns="0" bIns="0" anchor="t">
            <a:spAutoFit/>
          </a:bodyPr>
          <a:lstStyle/>
          <a:p>
            <a:pPr algn="l">
              <a:lnSpc>
                <a:spcPts val="1700"/>
              </a:lnSpc>
              <a:spcBef>
                <a:spcPts val="0"/>
              </a:spcBef>
              <a:spcAft>
                <a:spcPts val="0"/>
              </a:spcAft>
            </a:pPr>
            <a:r>
              <a:rPr sz="1800" b="1">
                <a:solidFill>
                  <a:srgbClr val="0E0E0E"/>
                </a:solidFill>
                <a:latin typeface="Arial"/>
                <a:ea typeface="Arial"/>
                <a:cs typeface="Arial"/>
              </a:rPr>
              <a:t>Answer</a:t>
            </a:r>
          </a:p>
          <a:p>
            <a:pPr algn="l">
              <a:lnSpc>
                <a:spcPts val="1700"/>
              </a:lnSpc>
              <a:spcBef>
                <a:spcPts val="0"/>
              </a:spcBef>
              <a:spcAft>
                <a:spcPts val="0"/>
              </a:spcAft>
            </a:pPr>
            <a:r>
              <a:rPr sz="1350" b="0">
                <a:solidFill>
                  <a:srgbClr val="0E0E0E"/>
                </a:solidFill>
                <a:latin typeface="Arial"/>
                <a:ea typeface="Arial"/>
                <a:cs typeface="Arial"/>
              </a:rPr>
              <a:t>The reply comes in the user's language, built from retrieved text.</a:t>
            </a:r>
          </a:p>
        </p:txBody>
      </p:sp>
      <p:cxnSp>
        <p:nvCxnSpPr>
          <p:cNvPr id="24" name="Rule 04"/>
          <p:cNvCxnSpPr/>
          <p:nvPr/>
        </p:nvCxnSpPr>
        <p:spPr>
          <a:xfrm>
            <a:off x="8493369" y="4325815"/>
            <a:ext cx="3991708" cy="0"/>
          </a:xfrm>
          <a:prstGeom prst="line">
            <a:avLst/>
          </a:prstGeom>
          <a:ln w="9525">
            <a:solidFill>
              <a:srgbClr val="C4C3BE"/>
            </a:solidFill>
          </a:ln>
        </p:spPr>
      </p:cxnSp>
      <p:sp>
        <p:nvSpPr>
          <p:cNvPr id="25" name="Number 05"/>
          <p:cNvSpPr txBox="1"/>
          <p:nvPr/>
        </p:nvSpPr>
        <p:spPr>
          <a:xfrm>
            <a:off x="8510954" y="4492869"/>
            <a:ext cx="703385" cy="386862"/>
          </a:xfrm>
          <a:prstGeom prst="rect">
            <a:avLst/>
          </a:prstGeom>
          <a:noFill/>
        </p:spPr>
        <p:txBody>
          <a:bodyPr wrap="square" lIns="0" tIns="0" rIns="0" bIns="0" anchor="t">
            <a:spAutoFit/>
          </a:bodyPr>
          <a:lstStyle/>
          <a:p>
            <a:pPr algn="l">
              <a:spcBef>
                <a:spcPts val="0"/>
              </a:spcBef>
              <a:spcAft>
                <a:spcPts val="0"/>
              </a:spcAft>
            </a:pPr>
            <a:r>
              <a:rPr sz="3100" b="0">
                <a:solidFill>
                  <a:srgbClr val="0E0E0E"/>
                </a:solidFill>
                <a:latin typeface="Arial"/>
                <a:ea typeface="Arial"/>
                <a:cs typeface="Arial"/>
              </a:rPr>
              <a:t>05</a:t>
            </a:r>
          </a:p>
        </p:txBody>
      </p:sp>
      <p:cxnSp>
        <p:nvCxnSpPr>
          <p:cNvPr id="26" name="Divider 05"/>
          <p:cNvCxnSpPr/>
          <p:nvPr/>
        </p:nvCxnSpPr>
        <p:spPr>
          <a:xfrm>
            <a:off x="9214338" y="4510454"/>
            <a:ext cx="0" cy="615461"/>
          </a:xfrm>
          <a:prstGeom prst="line">
            <a:avLst/>
          </a:prstGeom>
          <a:ln w="9525">
            <a:solidFill>
              <a:srgbClr val="55534F"/>
            </a:solidFill>
          </a:ln>
        </p:spPr>
      </p:cxnSp>
      <p:sp>
        <p:nvSpPr>
          <p:cNvPr id="27" name="Item 05 text"/>
          <p:cNvSpPr txBox="1"/>
          <p:nvPr/>
        </p:nvSpPr>
        <p:spPr>
          <a:xfrm>
            <a:off x="9319846" y="4457700"/>
            <a:ext cx="3209192" cy="896815"/>
          </a:xfrm>
          <a:prstGeom prst="rect">
            <a:avLst/>
          </a:prstGeom>
          <a:noFill/>
        </p:spPr>
        <p:txBody>
          <a:bodyPr wrap="square" lIns="0" tIns="0" rIns="0" bIns="0" anchor="t">
            <a:spAutoFit/>
          </a:bodyPr>
          <a:lstStyle/>
          <a:p>
            <a:pPr algn="l">
              <a:lnSpc>
                <a:spcPts val="1700"/>
              </a:lnSpc>
              <a:spcBef>
                <a:spcPts val="0"/>
              </a:spcBef>
              <a:spcAft>
                <a:spcPts val="0"/>
              </a:spcAft>
            </a:pPr>
            <a:r>
              <a:rPr sz="1800" b="1">
                <a:solidFill>
                  <a:srgbClr val="0E0E0E"/>
                </a:solidFill>
                <a:latin typeface="Arial"/>
                <a:ea typeface="Arial"/>
                <a:cs typeface="Arial"/>
              </a:rPr>
              <a:t>Links</a:t>
            </a:r>
          </a:p>
          <a:p>
            <a:pPr algn="l">
              <a:lnSpc>
                <a:spcPts val="1700"/>
              </a:lnSpc>
              <a:spcBef>
                <a:spcPts val="0"/>
              </a:spcBef>
              <a:spcAft>
                <a:spcPts val="0"/>
              </a:spcAft>
            </a:pPr>
            <a:r>
              <a:rPr sz="1350" b="0">
                <a:solidFill>
                  <a:srgbClr val="0E0E0E"/>
                </a:solidFill>
                <a:latin typeface="Arial"/>
                <a:ea typeface="Arial"/>
                <a:cs typeface="Arial"/>
              </a:rPr>
              <a:t>Only real URLs appear, and required links are added.</a:t>
            </a:r>
          </a:p>
        </p:txBody>
      </p:sp>
      <p:cxnSp>
        <p:nvCxnSpPr>
          <p:cNvPr id="28" name="Rule 05"/>
          <p:cNvCxnSpPr/>
          <p:nvPr/>
        </p:nvCxnSpPr>
        <p:spPr>
          <a:xfrm>
            <a:off x="8493369" y="5205046"/>
            <a:ext cx="3991708" cy="0"/>
          </a:xfrm>
          <a:prstGeom prst="line">
            <a:avLst/>
          </a:prstGeom>
          <a:ln w="9525">
            <a:solidFill>
              <a:srgbClr val="C4C3BE"/>
            </a:solidFill>
          </a:ln>
        </p:spPr>
      </p:cxnSp>
      <p:sp>
        <p:nvSpPr>
          <p:cNvPr id="29" name="Number 06"/>
          <p:cNvSpPr txBox="1"/>
          <p:nvPr/>
        </p:nvSpPr>
        <p:spPr>
          <a:xfrm>
            <a:off x="8510954" y="5380892"/>
            <a:ext cx="703385" cy="386862"/>
          </a:xfrm>
          <a:prstGeom prst="rect">
            <a:avLst/>
          </a:prstGeom>
          <a:noFill/>
        </p:spPr>
        <p:txBody>
          <a:bodyPr wrap="square" lIns="0" tIns="0" rIns="0" bIns="0" anchor="t">
            <a:spAutoFit/>
          </a:bodyPr>
          <a:lstStyle/>
          <a:p>
            <a:pPr algn="l">
              <a:spcBef>
                <a:spcPts val="0"/>
              </a:spcBef>
              <a:spcAft>
                <a:spcPts val="0"/>
              </a:spcAft>
            </a:pPr>
            <a:r>
              <a:rPr sz="3100" b="0">
                <a:solidFill>
                  <a:srgbClr val="0E0E0E"/>
                </a:solidFill>
                <a:latin typeface="Arial"/>
                <a:ea typeface="Arial"/>
                <a:cs typeface="Arial"/>
              </a:rPr>
              <a:t>06</a:t>
            </a:r>
          </a:p>
        </p:txBody>
      </p:sp>
      <p:cxnSp>
        <p:nvCxnSpPr>
          <p:cNvPr id="30" name="Divider 06"/>
          <p:cNvCxnSpPr/>
          <p:nvPr/>
        </p:nvCxnSpPr>
        <p:spPr>
          <a:xfrm>
            <a:off x="9214338" y="5398477"/>
            <a:ext cx="0" cy="615461"/>
          </a:xfrm>
          <a:prstGeom prst="line">
            <a:avLst/>
          </a:prstGeom>
          <a:ln w="9525">
            <a:solidFill>
              <a:srgbClr val="55534F"/>
            </a:solidFill>
          </a:ln>
        </p:spPr>
      </p:cxnSp>
      <p:sp>
        <p:nvSpPr>
          <p:cNvPr id="31" name="Item 06 text"/>
          <p:cNvSpPr txBox="1"/>
          <p:nvPr/>
        </p:nvSpPr>
        <p:spPr>
          <a:xfrm>
            <a:off x="9319846" y="5345723"/>
            <a:ext cx="3209192" cy="896815"/>
          </a:xfrm>
          <a:prstGeom prst="rect">
            <a:avLst/>
          </a:prstGeom>
          <a:noFill/>
        </p:spPr>
        <p:txBody>
          <a:bodyPr wrap="square" lIns="0" tIns="0" rIns="0" bIns="0" anchor="t">
            <a:spAutoFit/>
          </a:bodyPr>
          <a:lstStyle/>
          <a:p>
            <a:pPr algn="l">
              <a:lnSpc>
                <a:spcPts val="1700"/>
              </a:lnSpc>
              <a:spcBef>
                <a:spcPts val="0"/>
              </a:spcBef>
              <a:spcAft>
                <a:spcPts val="0"/>
              </a:spcAft>
            </a:pPr>
            <a:r>
              <a:rPr sz="1800" b="1">
                <a:solidFill>
                  <a:srgbClr val="0E0E0E"/>
                </a:solidFill>
                <a:latin typeface="Arial"/>
                <a:ea typeface="Arial"/>
                <a:cs typeface="Arial"/>
              </a:rPr>
              <a:t>Unknown</a:t>
            </a:r>
          </a:p>
          <a:p>
            <a:pPr algn="l">
              <a:lnSpc>
                <a:spcPts val="1700"/>
              </a:lnSpc>
              <a:spcBef>
                <a:spcPts val="0"/>
              </a:spcBef>
              <a:spcAft>
                <a:spcPts val="0"/>
              </a:spcAft>
            </a:pPr>
            <a:r>
              <a:rPr sz="1350" b="0">
                <a:solidFill>
                  <a:srgbClr val="0E0E0E"/>
                </a:solidFill>
                <a:latin typeface="Arial"/>
                <a:ea typeface="Arial"/>
                <a:cs typeface="Arial"/>
              </a:rPr>
              <a:t>If the documents do not cover it, the assistant says so and points to staff.</a:t>
            </a:r>
          </a:p>
        </p:txBody>
      </p:sp>
      <p:cxnSp>
        <p:nvCxnSpPr>
          <p:cNvPr id="32" name="Rule 06"/>
          <p:cNvCxnSpPr/>
          <p:nvPr/>
        </p:nvCxnSpPr>
        <p:spPr>
          <a:xfrm>
            <a:off x="8493369" y="6101862"/>
            <a:ext cx="3991708" cy="0"/>
          </a:xfrm>
          <a:prstGeom prst="line">
            <a:avLst/>
          </a:prstGeom>
          <a:ln w="9525">
            <a:solidFill>
              <a:srgbClr val="C4C3BE"/>
            </a:solidFill>
          </a:ln>
        </p:spPr>
      </p:cxnSp>
      <p:sp>
        <p:nvSpPr>
          <p:cNvPr id="33" name="Number 07"/>
          <p:cNvSpPr txBox="1"/>
          <p:nvPr/>
        </p:nvSpPr>
        <p:spPr>
          <a:xfrm>
            <a:off x="8510954" y="6233746"/>
            <a:ext cx="703385" cy="386862"/>
          </a:xfrm>
          <a:prstGeom prst="rect">
            <a:avLst/>
          </a:prstGeom>
          <a:noFill/>
        </p:spPr>
        <p:txBody>
          <a:bodyPr wrap="square" lIns="0" tIns="0" rIns="0" bIns="0" anchor="t">
            <a:spAutoFit/>
          </a:bodyPr>
          <a:lstStyle/>
          <a:p>
            <a:pPr algn="l">
              <a:spcBef>
                <a:spcPts val="0"/>
              </a:spcBef>
              <a:spcAft>
                <a:spcPts val="0"/>
              </a:spcAft>
            </a:pPr>
            <a:r>
              <a:rPr sz="3100" b="0">
                <a:solidFill>
                  <a:srgbClr val="0E0E0E"/>
                </a:solidFill>
                <a:latin typeface="Arial"/>
                <a:ea typeface="Arial"/>
                <a:cs typeface="Arial"/>
              </a:rPr>
              <a:t>07</a:t>
            </a:r>
          </a:p>
        </p:txBody>
      </p:sp>
      <p:cxnSp>
        <p:nvCxnSpPr>
          <p:cNvPr id="34" name="Divider 07"/>
          <p:cNvCxnSpPr/>
          <p:nvPr/>
        </p:nvCxnSpPr>
        <p:spPr>
          <a:xfrm>
            <a:off x="9214338" y="6251331"/>
            <a:ext cx="0" cy="685800"/>
          </a:xfrm>
          <a:prstGeom prst="line">
            <a:avLst/>
          </a:prstGeom>
          <a:ln w="9525">
            <a:solidFill>
              <a:srgbClr val="55534F"/>
            </a:solidFill>
          </a:ln>
        </p:spPr>
      </p:cxnSp>
      <p:sp>
        <p:nvSpPr>
          <p:cNvPr id="35" name="Item 07 text"/>
          <p:cNvSpPr txBox="1"/>
          <p:nvPr/>
        </p:nvSpPr>
        <p:spPr>
          <a:xfrm>
            <a:off x="9319846" y="6198577"/>
            <a:ext cx="3209192" cy="967154"/>
          </a:xfrm>
          <a:prstGeom prst="rect">
            <a:avLst/>
          </a:prstGeom>
          <a:noFill/>
        </p:spPr>
        <p:txBody>
          <a:bodyPr wrap="square" lIns="0" tIns="0" rIns="0" bIns="0" anchor="t">
            <a:spAutoFit/>
          </a:bodyPr>
          <a:lstStyle/>
          <a:p>
            <a:pPr algn="l">
              <a:lnSpc>
                <a:spcPts val="1700"/>
              </a:lnSpc>
              <a:spcBef>
                <a:spcPts val="0"/>
              </a:spcBef>
              <a:spcAft>
                <a:spcPts val="0"/>
              </a:spcAft>
            </a:pPr>
            <a:r>
              <a:rPr sz="1800" b="1">
                <a:solidFill>
                  <a:srgbClr val="0E0E0E"/>
                </a:solidFill>
                <a:latin typeface="Arial"/>
                <a:ea typeface="Arial"/>
                <a:cs typeface="Arial"/>
              </a:rPr>
              <a:t>Follow-ups</a:t>
            </a:r>
          </a:p>
          <a:p>
            <a:pPr algn="l">
              <a:lnSpc>
                <a:spcPts val="1700"/>
              </a:lnSpc>
              <a:spcBef>
                <a:spcPts val="0"/>
              </a:spcBef>
              <a:spcAft>
                <a:spcPts val="0"/>
              </a:spcAft>
            </a:pPr>
            <a:r>
              <a:rPr sz="1350" b="0">
                <a:solidFill>
                  <a:srgbClr val="0E0E0E"/>
                </a:solidFill>
                <a:latin typeface="Arial"/>
                <a:ea typeface="Arial"/>
                <a:cs typeface="Arial"/>
              </a:rPr>
              <a:t>Recent chat history is kept, and the documents' text is shown if the model is down.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3EE"/>
        </a:solidFill>
        <a:effectLst/>
      </p:bgPr>
    </p:bg>
    <p:spTree>
      <p:nvGrpSpPr>
        <p:cNvPr id="1" name=""/>
        <p:cNvGrpSpPr/>
        <p:nvPr/>
      </p:nvGrpSpPr>
      <p:grpSpPr>
        <a:xfrm>
          <a:off x="0" y="0"/>
          <a:ext cx="0" cy="0"/>
          <a:chOff x="0" y="0"/>
          <a:chExt cx="0" cy="0"/>
        </a:xfrm>
      </p:grpSpPr>
      <p:pic>
        <p:nvPicPr>
          <p:cNvPr id="2" name="Artwork 1" descr="Decorative artwork"/>
          <p:cNvPicPr>
            <a:picLocks noChangeAspect="1"/>
          </p:cNvPicPr>
          <p:nvPr/>
        </p:nvPicPr>
        <p:blipFill>
          <a:blip r:embed="rId2"/>
          <a:stretch>
            <a:fillRect/>
          </a:stretch>
        </p:blipFill>
        <p:spPr>
          <a:xfrm>
            <a:off x="4932485" y="0"/>
            <a:ext cx="2233246" cy="7200900"/>
          </a:xfrm>
          <a:prstGeom prst="rect">
            <a:avLst/>
          </a:prstGeom>
        </p:spPr>
      </p:pic>
      <p:sp>
        <p:nvSpPr>
          <p:cNvPr id="3" name="Title"/>
          <p:cNvSpPr txBox="1"/>
          <p:nvPr/>
        </p:nvSpPr>
        <p:spPr>
          <a:xfrm>
            <a:off x="378069" y="1714500"/>
            <a:ext cx="4572000" cy="1055077"/>
          </a:xfrm>
          <a:prstGeom prst="rect">
            <a:avLst/>
          </a:prstGeom>
          <a:noFill/>
        </p:spPr>
        <p:txBody>
          <a:bodyPr wrap="square" lIns="0" tIns="0" rIns="0" bIns="0" anchor="t">
            <a:spAutoFit/>
          </a:bodyPr>
          <a:lstStyle/>
          <a:p>
            <a:pPr algn="l">
              <a:lnSpc>
                <a:spcPts val="7000"/>
              </a:lnSpc>
              <a:spcBef>
                <a:spcPts val="0"/>
              </a:spcBef>
              <a:spcAft>
                <a:spcPts val="0"/>
              </a:spcAft>
            </a:pPr>
            <a:r>
              <a:rPr sz="6200" b="0">
                <a:solidFill>
                  <a:srgbClr val="0E0E0E"/>
                </a:solidFill>
                <a:latin typeface="Impact"/>
                <a:ea typeface="Impact"/>
                <a:cs typeface="Impact"/>
              </a:rPr>
              <a:t>Conclusion</a:t>
            </a:r>
          </a:p>
        </p:txBody>
      </p:sp>
      <p:cxnSp>
        <p:nvCxnSpPr>
          <p:cNvPr id="4" name="Rule"/>
          <p:cNvCxnSpPr/>
          <p:nvPr/>
        </p:nvCxnSpPr>
        <p:spPr>
          <a:xfrm>
            <a:off x="430823" y="2927838"/>
            <a:ext cx="430823" cy="0"/>
          </a:xfrm>
          <a:prstGeom prst="line">
            <a:avLst/>
          </a:prstGeom>
          <a:ln w="19050">
            <a:solidFill>
              <a:srgbClr val="0E0E0E"/>
            </a:solidFill>
          </a:ln>
        </p:spPr>
      </p:cxnSp>
      <p:sp>
        <p:nvSpPr>
          <p:cNvPr id="5" name="Conclusion text"/>
          <p:cNvSpPr txBox="1"/>
          <p:nvPr/>
        </p:nvSpPr>
        <p:spPr>
          <a:xfrm>
            <a:off x="439615" y="3235569"/>
            <a:ext cx="4396154" cy="2198077"/>
          </a:xfrm>
          <a:prstGeom prst="rect">
            <a:avLst/>
          </a:prstGeom>
          <a:noFill/>
        </p:spPr>
        <p:txBody>
          <a:bodyPr wrap="square" lIns="0" tIns="0" rIns="0" bIns="0" anchor="t">
            <a:spAutoFit/>
          </a:bodyPr>
          <a:lstStyle/>
          <a:p>
            <a:pPr algn="l">
              <a:lnSpc>
                <a:spcPts val="2850"/>
              </a:lnSpc>
              <a:spcBef>
                <a:spcPts val="0"/>
              </a:spcBef>
              <a:spcAft>
                <a:spcPts val="0"/>
              </a:spcAft>
            </a:pPr>
            <a:r>
              <a:rPr sz="2400" b="0">
                <a:solidFill>
                  <a:srgbClr val="0E0E0E"/>
                </a:solidFill>
                <a:latin typeface="Arial"/>
                <a:ea typeface="Arial"/>
                <a:cs typeface="Arial"/>
              </a:rPr>
              <a:t>Version 2.0 meets the objectives and beats OLD on routing, answer facts, links and retrieval, but it is slower and refuses more answerable questions.</a:t>
            </a:r>
          </a:p>
        </p:txBody>
      </p:sp>
      <p:sp>
        <p:nvSpPr>
          <p:cNvPr id="6" name="Caveats title"/>
          <p:cNvSpPr txBox="1"/>
          <p:nvPr/>
        </p:nvSpPr>
        <p:spPr>
          <a:xfrm>
            <a:off x="7543800" y="457200"/>
            <a:ext cx="4396154" cy="527538"/>
          </a:xfrm>
          <a:prstGeom prst="rect">
            <a:avLst/>
          </a:prstGeom>
          <a:noFill/>
        </p:spPr>
        <p:txBody>
          <a:bodyPr wrap="square" lIns="0" tIns="0" rIns="0" bIns="0" anchor="t">
            <a:spAutoFit/>
          </a:bodyPr>
          <a:lstStyle/>
          <a:p>
            <a:pPr algn="l">
              <a:lnSpc>
                <a:spcPts val="4000"/>
              </a:lnSpc>
              <a:spcBef>
                <a:spcPts val="0"/>
              </a:spcBef>
              <a:spcAft>
                <a:spcPts val="0"/>
              </a:spcAft>
            </a:pPr>
            <a:r>
              <a:rPr sz="3600" b="0">
                <a:solidFill>
                  <a:srgbClr val="0E0E0E"/>
                </a:solidFill>
                <a:latin typeface="Impact"/>
                <a:ea typeface="Impact"/>
                <a:cs typeface="Impact"/>
              </a:rPr>
              <a:t>Caveats</a:t>
            </a:r>
          </a:p>
        </p:txBody>
      </p:sp>
      <p:sp>
        <p:nvSpPr>
          <p:cNvPr id="7" name="Number 01"/>
          <p:cNvSpPr txBox="1"/>
          <p:nvPr/>
        </p:nvSpPr>
        <p:spPr>
          <a:xfrm>
            <a:off x="7561385" y="1248508"/>
            <a:ext cx="703385" cy="386862"/>
          </a:xfrm>
          <a:prstGeom prst="rect">
            <a:avLst/>
          </a:prstGeom>
          <a:noFill/>
        </p:spPr>
        <p:txBody>
          <a:bodyPr wrap="square" lIns="0" tIns="0" rIns="0" bIns="0" anchor="t">
            <a:spAutoFit/>
          </a:bodyPr>
          <a:lstStyle/>
          <a:p>
            <a:pPr algn="l">
              <a:spcBef>
                <a:spcPts val="0"/>
              </a:spcBef>
              <a:spcAft>
                <a:spcPts val="0"/>
              </a:spcAft>
            </a:pPr>
            <a:r>
              <a:rPr sz="3100" b="0">
                <a:solidFill>
                  <a:srgbClr val="0E0E0E"/>
                </a:solidFill>
                <a:latin typeface="Arial"/>
                <a:ea typeface="Arial"/>
                <a:cs typeface="Arial"/>
              </a:rPr>
              <a:t>01</a:t>
            </a:r>
          </a:p>
        </p:txBody>
      </p:sp>
      <p:cxnSp>
        <p:nvCxnSpPr>
          <p:cNvPr id="8" name="Divider 01"/>
          <p:cNvCxnSpPr/>
          <p:nvPr/>
        </p:nvCxnSpPr>
        <p:spPr>
          <a:xfrm>
            <a:off x="8212015" y="1266092"/>
            <a:ext cx="0" cy="474785"/>
          </a:xfrm>
          <a:prstGeom prst="line">
            <a:avLst/>
          </a:prstGeom>
          <a:ln w="9525">
            <a:solidFill>
              <a:srgbClr val="55534F"/>
            </a:solidFill>
          </a:ln>
        </p:spPr>
      </p:cxnSp>
      <p:sp>
        <p:nvSpPr>
          <p:cNvPr id="9" name="Item 01 text"/>
          <p:cNvSpPr txBox="1"/>
          <p:nvPr/>
        </p:nvSpPr>
        <p:spPr>
          <a:xfrm>
            <a:off x="8335108" y="1213338"/>
            <a:ext cx="4202723" cy="756138"/>
          </a:xfrm>
          <a:prstGeom prst="rect">
            <a:avLst/>
          </a:prstGeom>
          <a:noFill/>
        </p:spPr>
        <p:txBody>
          <a:bodyPr wrap="square" lIns="0" tIns="0" rIns="0" bIns="0" anchor="t">
            <a:spAutoFit/>
          </a:bodyPr>
          <a:lstStyle/>
          <a:p>
            <a:pPr algn="l">
              <a:lnSpc>
                <a:spcPts val="1650"/>
              </a:lnSpc>
              <a:spcBef>
                <a:spcPts val="0"/>
              </a:spcBef>
              <a:spcAft>
                <a:spcPts val="0"/>
              </a:spcAft>
            </a:pPr>
            <a:r>
              <a:rPr sz="1350" b="0">
                <a:solidFill>
                  <a:srgbClr val="0E0E0E"/>
                </a:solidFill>
                <a:latin typeface="Arial"/>
                <a:ea typeface="Arial"/>
                <a:cs typeface="Arial"/>
              </a:rPr>
              <a:t>Only 76 questions were used, so one or two answers swing a percentage.</a:t>
            </a:r>
          </a:p>
        </p:txBody>
      </p:sp>
      <p:cxnSp>
        <p:nvCxnSpPr>
          <p:cNvPr id="10" name="Rule 01"/>
          <p:cNvCxnSpPr/>
          <p:nvPr/>
        </p:nvCxnSpPr>
        <p:spPr>
          <a:xfrm>
            <a:off x="7552592" y="1863969"/>
            <a:ext cx="4853354" cy="0"/>
          </a:xfrm>
          <a:prstGeom prst="line">
            <a:avLst/>
          </a:prstGeom>
          <a:ln w="9525">
            <a:solidFill>
              <a:srgbClr val="C4C3BE"/>
            </a:solidFill>
          </a:ln>
        </p:spPr>
      </p:cxnSp>
      <p:sp>
        <p:nvSpPr>
          <p:cNvPr id="11" name="Number 02"/>
          <p:cNvSpPr txBox="1"/>
          <p:nvPr/>
        </p:nvSpPr>
        <p:spPr>
          <a:xfrm>
            <a:off x="7561385" y="2022231"/>
            <a:ext cx="703385" cy="386862"/>
          </a:xfrm>
          <a:prstGeom prst="rect">
            <a:avLst/>
          </a:prstGeom>
          <a:noFill/>
        </p:spPr>
        <p:txBody>
          <a:bodyPr wrap="square" lIns="0" tIns="0" rIns="0" bIns="0" anchor="t">
            <a:spAutoFit/>
          </a:bodyPr>
          <a:lstStyle/>
          <a:p>
            <a:pPr algn="l">
              <a:spcBef>
                <a:spcPts val="0"/>
              </a:spcBef>
              <a:spcAft>
                <a:spcPts val="0"/>
              </a:spcAft>
            </a:pPr>
            <a:r>
              <a:rPr sz="3100" b="0">
                <a:solidFill>
                  <a:srgbClr val="0E0E0E"/>
                </a:solidFill>
                <a:latin typeface="Arial"/>
                <a:ea typeface="Arial"/>
                <a:cs typeface="Arial"/>
              </a:rPr>
              <a:t>02</a:t>
            </a:r>
          </a:p>
        </p:txBody>
      </p:sp>
      <p:cxnSp>
        <p:nvCxnSpPr>
          <p:cNvPr id="12" name="Divider 02"/>
          <p:cNvCxnSpPr/>
          <p:nvPr/>
        </p:nvCxnSpPr>
        <p:spPr>
          <a:xfrm>
            <a:off x="8212015" y="2039815"/>
            <a:ext cx="0" cy="474785"/>
          </a:xfrm>
          <a:prstGeom prst="line">
            <a:avLst/>
          </a:prstGeom>
          <a:ln w="9525">
            <a:solidFill>
              <a:srgbClr val="55534F"/>
            </a:solidFill>
          </a:ln>
        </p:spPr>
      </p:cxnSp>
      <p:sp>
        <p:nvSpPr>
          <p:cNvPr id="13" name="Item 02 text"/>
          <p:cNvSpPr txBox="1"/>
          <p:nvPr/>
        </p:nvSpPr>
        <p:spPr>
          <a:xfrm>
            <a:off x="8335108" y="1987062"/>
            <a:ext cx="4202723" cy="756138"/>
          </a:xfrm>
          <a:prstGeom prst="rect">
            <a:avLst/>
          </a:prstGeom>
          <a:noFill/>
        </p:spPr>
        <p:txBody>
          <a:bodyPr wrap="square" lIns="0" tIns="0" rIns="0" bIns="0" anchor="t">
            <a:spAutoFit/>
          </a:bodyPr>
          <a:lstStyle/>
          <a:p>
            <a:pPr algn="l">
              <a:lnSpc>
                <a:spcPts val="1650"/>
              </a:lnSpc>
              <a:spcBef>
                <a:spcPts val="0"/>
              </a:spcBef>
              <a:spcAft>
                <a:spcPts val="0"/>
              </a:spcAft>
            </a:pPr>
            <a:r>
              <a:rPr sz="1350" b="0">
                <a:solidFill>
                  <a:srgbClr val="0E0E0E"/>
                </a:solidFill>
                <a:latin typeface="Arial"/>
                <a:ea typeface="Arial"/>
                <a:cs typeface="Arial"/>
              </a:rPr>
              <a:t>Benchmark questions were written by us, not real interns, and the non-English ones need native review.</a:t>
            </a:r>
          </a:p>
        </p:txBody>
      </p:sp>
      <p:cxnSp>
        <p:nvCxnSpPr>
          <p:cNvPr id="14" name="Rule 02"/>
          <p:cNvCxnSpPr/>
          <p:nvPr/>
        </p:nvCxnSpPr>
        <p:spPr>
          <a:xfrm>
            <a:off x="7552592" y="2628900"/>
            <a:ext cx="4853354" cy="0"/>
          </a:xfrm>
          <a:prstGeom prst="line">
            <a:avLst/>
          </a:prstGeom>
          <a:ln w="9525">
            <a:solidFill>
              <a:srgbClr val="C4C3BE"/>
            </a:solidFill>
          </a:ln>
        </p:spPr>
      </p:cxnSp>
      <p:sp>
        <p:nvSpPr>
          <p:cNvPr id="15" name="Number 03"/>
          <p:cNvSpPr txBox="1"/>
          <p:nvPr/>
        </p:nvSpPr>
        <p:spPr>
          <a:xfrm>
            <a:off x="7561385" y="2795954"/>
            <a:ext cx="703385" cy="386862"/>
          </a:xfrm>
          <a:prstGeom prst="rect">
            <a:avLst/>
          </a:prstGeom>
          <a:noFill/>
        </p:spPr>
        <p:txBody>
          <a:bodyPr wrap="square" lIns="0" tIns="0" rIns="0" bIns="0" anchor="t">
            <a:spAutoFit/>
          </a:bodyPr>
          <a:lstStyle/>
          <a:p>
            <a:pPr algn="l">
              <a:spcBef>
                <a:spcPts val="0"/>
              </a:spcBef>
              <a:spcAft>
                <a:spcPts val="0"/>
              </a:spcAft>
            </a:pPr>
            <a:r>
              <a:rPr sz="3100" b="0">
                <a:solidFill>
                  <a:srgbClr val="0E0E0E"/>
                </a:solidFill>
                <a:latin typeface="Arial"/>
                <a:ea typeface="Arial"/>
                <a:cs typeface="Arial"/>
              </a:rPr>
              <a:t>03</a:t>
            </a:r>
          </a:p>
        </p:txBody>
      </p:sp>
      <p:cxnSp>
        <p:nvCxnSpPr>
          <p:cNvPr id="16" name="Divider 03"/>
          <p:cNvCxnSpPr/>
          <p:nvPr/>
        </p:nvCxnSpPr>
        <p:spPr>
          <a:xfrm>
            <a:off x="8212015" y="2813538"/>
            <a:ext cx="0" cy="474785"/>
          </a:xfrm>
          <a:prstGeom prst="line">
            <a:avLst/>
          </a:prstGeom>
          <a:ln w="9525">
            <a:solidFill>
              <a:srgbClr val="55534F"/>
            </a:solidFill>
          </a:ln>
        </p:spPr>
      </p:cxnSp>
      <p:sp>
        <p:nvSpPr>
          <p:cNvPr id="17" name="Item 03 text"/>
          <p:cNvSpPr txBox="1"/>
          <p:nvPr/>
        </p:nvSpPr>
        <p:spPr>
          <a:xfrm>
            <a:off x="8335108" y="2760785"/>
            <a:ext cx="4202723" cy="756138"/>
          </a:xfrm>
          <a:prstGeom prst="rect">
            <a:avLst/>
          </a:prstGeom>
          <a:noFill/>
        </p:spPr>
        <p:txBody>
          <a:bodyPr wrap="square" lIns="0" tIns="0" rIns="0" bIns="0" anchor="t">
            <a:spAutoFit/>
          </a:bodyPr>
          <a:lstStyle/>
          <a:p>
            <a:pPr algn="l">
              <a:lnSpc>
                <a:spcPts val="1650"/>
              </a:lnSpc>
              <a:spcBef>
                <a:spcPts val="0"/>
              </a:spcBef>
              <a:spcAft>
                <a:spcPts val="0"/>
              </a:spcAft>
            </a:pPr>
            <a:r>
              <a:rPr sz="1350" b="0">
                <a:solidFill>
                  <a:srgbClr val="0E0E0E"/>
                </a:solidFill>
                <a:latin typeface="Arial"/>
                <a:ea typeface="Arial"/>
                <a:cs typeface="Arial"/>
              </a:rPr>
              <a:t>Facts are matched as plain text, so paraphrases lose points and wrong extras go uncaught.</a:t>
            </a:r>
          </a:p>
        </p:txBody>
      </p:sp>
      <p:cxnSp>
        <p:nvCxnSpPr>
          <p:cNvPr id="18" name="Rule 03"/>
          <p:cNvCxnSpPr/>
          <p:nvPr/>
        </p:nvCxnSpPr>
        <p:spPr>
          <a:xfrm>
            <a:off x="7552592" y="3376246"/>
            <a:ext cx="4853354" cy="0"/>
          </a:xfrm>
          <a:prstGeom prst="line">
            <a:avLst/>
          </a:prstGeom>
          <a:ln w="9525">
            <a:solidFill>
              <a:srgbClr val="C4C3BE"/>
            </a:solidFill>
          </a:ln>
        </p:spPr>
      </p:cxnSp>
      <p:sp>
        <p:nvSpPr>
          <p:cNvPr id="19" name="Number 04"/>
          <p:cNvSpPr txBox="1"/>
          <p:nvPr/>
        </p:nvSpPr>
        <p:spPr>
          <a:xfrm>
            <a:off x="7561385" y="3543300"/>
            <a:ext cx="703385" cy="386862"/>
          </a:xfrm>
          <a:prstGeom prst="rect">
            <a:avLst/>
          </a:prstGeom>
          <a:noFill/>
        </p:spPr>
        <p:txBody>
          <a:bodyPr wrap="square" lIns="0" tIns="0" rIns="0" bIns="0" anchor="t">
            <a:spAutoFit/>
          </a:bodyPr>
          <a:lstStyle/>
          <a:p>
            <a:pPr algn="l">
              <a:spcBef>
                <a:spcPts val="0"/>
              </a:spcBef>
              <a:spcAft>
                <a:spcPts val="0"/>
              </a:spcAft>
            </a:pPr>
            <a:r>
              <a:rPr sz="3100" b="0">
                <a:solidFill>
                  <a:srgbClr val="0E0E0E"/>
                </a:solidFill>
                <a:latin typeface="Arial"/>
                <a:ea typeface="Arial"/>
                <a:cs typeface="Arial"/>
              </a:rPr>
              <a:t>04</a:t>
            </a:r>
          </a:p>
        </p:txBody>
      </p:sp>
      <p:cxnSp>
        <p:nvCxnSpPr>
          <p:cNvPr id="20" name="Divider 04"/>
          <p:cNvCxnSpPr/>
          <p:nvPr/>
        </p:nvCxnSpPr>
        <p:spPr>
          <a:xfrm>
            <a:off x="8212015" y="3560885"/>
            <a:ext cx="0" cy="474784"/>
          </a:xfrm>
          <a:prstGeom prst="line">
            <a:avLst/>
          </a:prstGeom>
          <a:ln w="9525">
            <a:solidFill>
              <a:srgbClr val="55534F"/>
            </a:solidFill>
          </a:ln>
        </p:spPr>
      </p:cxnSp>
      <p:sp>
        <p:nvSpPr>
          <p:cNvPr id="21" name="Item 04 text"/>
          <p:cNvSpPr txBox="1"/>
          <p:nvPr/>
        </p:nvSpPr>
        <p:spPr>
          <a:xfrm>
            <a:off x="8335108" y="3508131"/>
            <a:ext cx="4202723" cy="756138"/>
          </a:xfrm>
          <a:prstGeom prst="rect">
            <a:avLst/>
          </a:prstGeom>
          <a:noFill/>
        </p:spPr>
        <p:txBody>
          <a:bodyPr wrap="square" lIns="0" tIns="0" rIns="0" bIns="0" anchor="t">
            <a:spAutoFit/>
          </a:bodyPr>
          <a:lstStyle/>
          <a:p>
            <a:pPr algn="l">
              <a:lnSpc>
                <a:spcPts val="1650"/>
              </a:lnSpc>
              <a:spcBef>
                <a:spcPts val="0"/>
              </a:spcBef>
              <a:spcAft>
                <a:spcPts val="0"/>
              </a:spcAft>
            </a:pPr>
            <a:r>
              <a:rPr sz="1350" b="0">
                <a:solidFill>
                  <a:srgbClr val="0E0E0E"/>
                </a:solidFill>
                <a:latin typeface="Arial"/>
                <a:ea typeface="Arial"/>
                <a:cs typeface="Arial"/>
              </a:rPr>
              <a:t>Out-of-scope detection uses word overlap, so some slip through.</a:t>
            </a:r>
          </a:p>
        </p:txBody>
      </p:sp>
      <p:cxnSp>
        <p:nvCxnSpPr>
          <p:cNvPr id="22" name="Rule 04"/>
          <p:cNvCxnSpPr/>
          <p:nvPr/>
        </p:nvCxnSpPr>
        <p:spPr>
          <a:xfrm>
            <a:off x="7552592" y="4114800"/>
            <a:ext cx="4853354" cy="0"/>
          </a:xfrm>
          <a:prstGeom prst="line">
            <a:avLst/>
          </a:prstGeom>
          <a:ln w="9525">
            <a:solidFill>
              <a:srgbClr val="C4C3BE"/>
            </a:solidFill>
          </a:ln>
        </p:spPr>
      </p:cxnSp>
      <p:sp>
        <p:nvSpPr>
          <p:cNvPr id="23" name="Number 05"/>
          <p:cNvSpPr txBox="1"/>
          <p:nvPr/>
        </p:nvSpPr>
        <p:spPr>
          <a:xfrm>
            <a:off x="7561385" y="4290646"/>
            <a:ext cx="703385" cy="386862"/>
          </a:xfrm>
          <a:prstGeom prst="rect">
            <a:avLst/>
          </a:prstGeom>
          <a:noFill/>
        </p:spPr>
        <p:txBody>
          <a:bodyPr wrap="square" lIns="0" tIns="0" rIns="0" bIns="0" anchor="t">
            <a:spAutoFit/>
          </a:bodyPr>
          <a:lstStyle/>
          <a:p>
            <a:pPr algn="l">
              <a:spcBef>
                <a:spcPts val="0"/>
              </a:spcBef>
              <a:spcAft>
                <a:spcPts val="0"/>
              </a:spcAft>
            </a:pPr>
            <a:r>
              <a:rPr sz="3100" b="0">
                <a:solidFill>
                  <a:srgbClr val="0E0E0E"/>
                </a:solidFill>
                <a:latin typeface="Arial"/>
                <a:ea typeface="Arial"/>
                <a:cs typeface="Arial"/>
              </a:rPr>
              <a:t>05</a:t>
            </a:r>
          </a:p>
        </p:txBody>
      </p:sp>
      <p:cxnSp>
        <p:nvCxnSpPr>
          <p:cNvPr id="24" name="Divider 05"/>
          <p:cNvCxnSpPr/>
          <p:nvPr/>
        </p:nvCxnSpPr>
        <p:spPr>
          <a:xfrm>
            <a:off x="8212015" y="4308231"/>
            <a:ext cx="0" cy="474784"/>
          </a:xfrm>
          <a:prstGeom prst="line">
            <a:avLst/>
          </a:prstGeom>
          <a:ln w="9525">
            <a:solidFill>
              <a:srgbClr val="55534F"/>
            </a:solidFill>
          </a:ln>
        </p:spPr>
      </p:cxnSp>
      <p:sp>
        <p:nvSpPr>
          <p:cNvPr id="25" name="Item 05 text"/>
          <p:cNvSpPr txBox="1"/>
          <p:nvPr/>
        </p:nvSpPr>
        <p:spPr>
          <a:xfrm>
            <a:off x="8335108" y="4255477"/>
            <a:ext cx="4202723" cy="756138"/>
          </a:xfrm>
          <a:prstGeom prst="rect">
            <a:avLst/>
          </a:prstGeom>
          <a:noFill/>
        </p:spPr>
        <p:txBody>
          <a:bodyPr wrap="square" lIns="0" tIns="0" rIns="0" bIns="0" anchor="t">
            <a:spAutoFit/>
          </a:bodyPr>
          <a:lstStyle/>
          <a:p>
            <a:pPr algn="l">
              <a:lnSpc>
                <a:spcPts val="1650"/>
              </a:lnSpc>
              <a:spcBef>
                <a:spcPts val="0"/>
              </a:spcBef>
              <a:spcAft>
                <a:spcPts val="0"/>
              </a:spcAft>
            </a:pPr>
            <a:r>
              <a:rPr sz="1350" b="0">
                <a:solidFill>
                  <a:srgbClr val="0E0E0E"/>
                </a:solidFill>
                <a:latin typeface="Arial"/>
                <a:ea typeface="Arial"/>
                <a:cs typeface="Arial"/>
              </a:rPr>
              <a:t>N-ATLaS wasn't in OLD, so it has no baseline, and its 55.6% rests on only 9 cases.</a:t>
            </a:r>
          </a:p>
        </p:txBody>
      </p:sp>
      <p:cxnSp>
        <p:nvCxnSpPr>
          <p:cNvPr id="26" name="Rule 05"/>
          <p:cNvCxnSpPr/>
          <p:nvPr/>
        </p:nvCxnSpPr>
        <p:spPr>
          <a:xfrm>
            <a:off x="7552592" y="4853354"/>
            <a:ext cx="4853354" cy="0"/>
          </a:xfrm>
          <a:prstGeom prst="line">
            <a:avLst/>
          </a:prstGeom>
          <a:ln w="9525">
            <a:solidFill>
              <a:srgbClr val="C4C3BE"/>
            </a:solidFill>
          </a:ln>
        </p:spPr>
      </p:cxnSp>
      <p:sp>
        <p:nvSpPr>
          <p:cNvPr id="27" name="Number 06"/>
          <p:cNvSpPr txBox="1"/>
          <p:nvPr/>
        </p:nvSpPr>
        <p:spPr>
          <a:xfrm>
            <a:off x="7561385" y="4950069"/>
            <a:ext cx="703385" cy="386862"/>
          </a:xfrm>
          <a:prstGeom prst="rect">
            <a:avLst/>
          </a:prstGeom>
          <a:noFill/>
        </p:spPr>
        <p:txBody>
          <a:bodyPr wrap="square" lIns="0" tIns="0" rIns="0" bIns="0" anchor="t">
            <a:spAutoFit/>
          </a:bodyPr>
          <a:lstStyle/>
          <a:p>
            <a:pPr algn="l">
              <a:spcBef>
                <a:spcPts val="0"/>
              </a:spcBef>
              <a:spcAft>
                <a:spcPts val="0"/>
              </a:spcAft>
            </a:pPr>
            <a:r>
              <a:rPr sz="3100" b="0">
                <a:solidFill>
                  <a:srgbClr val="0E0E0E"/>
                </a:solidFill>
                <a:latin typeface="Arial"/>
                <a:ea typeface="Arial"/>
                <a:cs typeface="Arial"/>
              </a:rPr>
              <a:t>06</a:t>
            </a:r>
          </a:p>
        </p:txBody>
      </p:sp>
      <p:cxnSp>
        <p:nvCxnSpPr>
          <p:cNvPr id="28" name="Divider 06"/>
          <p:cNvCxnSpPr/>
          <p:nvPr/>
        </p:nvCxnSpPr>
        <p:spPr>
          <a:xfrm>
            <a:off x="8212015" y="4967654"/>
            <a:ext cx="0" cy="474784"/>
          </a:xfrm>
          <a:prstGeom prst="line">
            <a:avLst/>
          </a:prstGeom>
          <a:ln w="9525">
            <a:solidFill>
              <a:srgbClr val="55534F"/>
            </a:solidFill>
          </a:ln>
        </p:spPr>
      </p:cxnSp>
      <p:sp>
        <p:nvSpPr>
          <p:cNvPr id="29" name="Item 06 text"/>
          <p:cNvSpPr txBox="1"/>
          <p:nvPr/>
        </p:nvSpPr>
        <p:spPr>
          <a:xfrm>
            <a:off x="8335108" y="4914900"/>
            <a:ext cx="4202723" cy="756138"/>
          </a:xfrm>
          <a:prstGeom prst="rect">
            <a:avLst/>
          </a:prstGeom>
          <a:noFill/>
        </p:spPr>
        <p:txBody>
          <a:bodyPr wrap="square" lIns="0" tIns="0" rIns="0" bIns="0" anchor="t">
            <a:spAutoFit/>
          </a:bodyPr>
          <a:lstStyle/>
          <a:p>
            <a:pPr algn="l">
              <a:lnSpc>
                <a:spcPts val="1650"/>
              </a:lnSpc>
              <a:spcBef>
                <a:spcPts val="0"/>
              </a:spcBef>
              <a:spcAft>
                <a:spcPts val="0"/>
              </a:spcAft>
            </a:pPr>
            <a:r>
              <a:rPr sz="1350" b="0">
                <a:solidFill>
                  <a:srgbClr val="0E0E0E"/>
                </a:solidFill>
                <a:latin typeface="Arial"/>
                <a:ea typeface="Arial"/>
                <a:cs typeface="Arial"/>
              </a:rPr>
              <a:t>N-ATLaS is capped at 1000 users and needs attribution, so wide deployment needs a commercial licence.</a:t>
            </a:r>
          </a:p>
        </p:txBody>
      </p:sp>
      <p:cxnSp>
        <p:nvCxnSpPr>
          <p:cNvPr id="30" name="Rule 06"/>
          <p:cNvCxnSpPr/>
          <p:nvPr/>
        </p:nvCxnSpPr>
        <p:spPr>
          <a:xfrm>
            <a:off x="7552592" y="5591908"/>
            <a:ext cx="4853354" cy="0"/>
          </a:xfrm>
          <a:prstGeom prst="line">
            <a:avLst/>
          </a:prstGeom>
          <a:ln w="9525">
            <a:solidFill>
              <a:srgbClr val="C4C3BE"/>
            </a:solidFill>
          </a:ln>
        </p:spPr>
      </p:cxnSp>
      <p:sp>
        <p:nvSpPr>
          <p:cNvPr id="31" name="Number 07"/>
          <p:cNvSpPr txBox="1"/>
          <p:nvPr/>
        </p:nvSpPr>
        <p:spPr>
          <a:xfrm>
            <a:off x="7561385" y="5776546"/>
            <a:ext cx="703385" cy="386862"/>
          </a:xfrm>
          <a:prstGeom prst="rect">
            <a:avLst/>
          </a:prstGeom>
          <a:noFill/>
        </p:spPr>
        <p:txBody>
          <a:bodyPr wrap="square" lIns="0" tIns="0" rIns="0" bIns="0" anchor="t">
            <a:spAutoFit/>
          </a:bodyPr>
          <a:lstStyle/>
          <a:p>
            <a:pPr algn="l">
              <a:spcBef>
                <a:spcPts val="0"/>
              </a:spcBef>
              <a:spcAft>
                <a:spcPts val="0"/>
              </a:spcAft>
            </a:pPr>
            <a:r>
              <a:rPr sz="3100" b="0">
                <a:solidFill>
                  <a:srgbClr val="0E0E0E"/>
                </a:solidFill>
                <a:latin typeface="Arial"/>
                <a:ea typeface="Arial"/>
                <a:cs typeface="Arial"/>
              </a:rPr>
              <a:t>07</a:t>
            </a:r>
          </a:p>
        </p:txBody>
      </p:sp>
      <p:cxnSp>
        <p:nvCxnSpPr>
          <p:cNvPr id="32" name="Divider 07"/>
          <p:cNvCxnSpPr/>
          <p:nvPr/>
        </p:nvCxnSpPr>
        <p:spPr>
          <a:xfrm>
            <a:off x="8212015" y="5794131"/>
            <a:ext cx="0" cy="474784"/>
          </a:xfrm>
          <a:prstGeom prst="line">
            <a:avLst/>
          </a:prstGeom>
          <a:ln w="9525">
            <a:solidFill>
              <a:srgbClr val="55534F"/>
            </a:solidFill>
          </a:ln>
        </p:spPr>
      </p:cxnSp>
      <p:sp>
        <p:nvSpPr>
          <p:cNvPr id="33" name="Item 07 text"/>
          <p:cNvSpPr txBox="1"/>
          <p:nvPr/>
        </p:nvSpPr>
        <p:spPr>
          <a:xfrm>
            <a:off x="8335108" y="5741377"/>
            <a:ext cx="4202723" cy="756138"/>
          </a:xfrm>
          <a:prstGeom prst="rect">
            <a:avLst/>
          </a:prstGeom>
          <a:noFill/>
        </p:spPr>
        <p:txBody>
          <a:bodyPr wrap="square" lIns="0" tIns="0" rIns="0" bIns="0" anchor="t">
            <a:spAutoFit/>
          </a:bodyPr>
          <a:lstStyle/>
          <a:p>
            <a:pPr algn="l">
              <a:lnSpc>
                <a:spcPts val="1650"/>
              </a:lnSpc>
              <a:spcBef>
                <a:spcPts val="0"/>
              </a:spcBef>
              <a:spcAft>
                <a:spcPts val="0"/>
              </a:spcAft>
            </a:pPr>
            <a:r>
              <a:rPr sz="1350" b="0">
                <a:solidFill>
                  <a:srgbClr val="0E0E0E"/>
                </a:solidFill>
                <a:latin typeface="Arial"/>
                <a:ea typeface="Arial"/>
                <a:cs typeface="Arial"/>
              </a:rPr>
              <a:t>Some URLs and the support email aren't in the manual, so they may not match the live site.</a:t>
            </a:r>
          </a:p>
        </p:txBody>
      </p:sp>
      <p:cxnSp>
        <p:nvCxnSpPr>
          <p:cNvPr id="34" name="Rule 07"/>
          <p:cNvCxnSpPr/>
          <p:nvPr/>
        </p:nvCxnSpPr>
        <p:spPr>
          <a:xfrm>
            <a:off x="7552592" y="6268915"/>
            <a:ext cx="4853354" cy="0"/>
          </a:xfrm>
          <a:prstGeom prst="line">
            <a:avLst/>
          </a:prstGeom>
          <a:ln w="9525">
            <a:solidFill>
              <a:srgbClr val="C4C3BE"/>
            </a:solidFill>
          </a:ln>
        </p:spPr>
      </p:cxnSp>
      <p:sp>
        <p:nvSpPr>
          <p:cNvPr id="35" name="Number 08"/>
          <p:cNvSpPr txBox="1"/>
          <p:nvPr/>
        </p:nvSpPr>
        <p:spPr>
          <a:xfrm>
            <a:off x="7561385" y="6383215"/>
            <a:ext cx="703385" cy="386862"/>
          </a:xfrm>
          <a:prstGeom prst="rect">
            <a:avLst/>
          </a:prstGeom>
          <a:noFill/>
        </p:spPr>
        <p:txBody>
          <a:bodyPr wrap="square" lIns="0" tIns="0" rIns="0" bIns="0" anchor="t">
            <a:spAutoFit/>
          </a:bodyPr>
          <a:lstStyle/>
          <a:p>
            <a:pPr algn="l">
              <a:spcBef>
                <a:spcPts val="0"/>
              </a:spcBef>
              <a:spcAft>
                <a:spcPts val="0"/>
              </a:spcAft>
            </a:pPr>
            <a:r>
              <a:rPr sz="3100" b="0">
                <a:solidFill>
                  <a:srgbClr val="0E0E0E"/>
                </a:solidFill>
                <a:latin typeface="Arial"/>
                <a:ea typeface="Arial"/>
                <a:cs typeface="Arial"/>
              </a:rPr>
              <a:t>08</a:t>
            </a:r>
          </a:p>
        </p:txBody>
      </p:sp>
      <p:cxnSp>
        <p:nvCxnSpPr>
          <p:cNvPr id="36" name="Divider 08"/>
          <p:cNvCxnSpPr/>
          <p:nvPr/>
        </p:nvCxnSpPr>
        <p:spPr>
          <a:xfrm>
            <a:off x="8212015" y="6400800"/>
            <a:ext cx="0" cy="633046"/>
          </a:xfrm>
          <a:prstGeom prst="line">
            <a:avLst/>
          </a:prstGeom>
          <a:ln w="9525">
            <a:solidFill>
              <a:srgbClr val="55534F"/>
            </a:solidFill>
          </a:ln>
        </p:spPr>
      </p:cxnSp>
      <p:sp>
        <p:nvSpPr>
          <p:cNvPr id="37" name="Item 08 text"/>
          <p:cNvSpPr txBox="1"/>
          <p:nvPr/>
        </p:nvSpPr>
        <p:spPr>
          <a:xfrm>
            <a:off x="8335108" y="6348046"/>
            <a:ext cx="4202723" cy="638893"/>
          </a:xfrm>
          <a:prstGeom prst="rect">
            <a:avLst/>
          </a:prstGeom>
          <a:noFill/>
        </p:spPr>
        <p:txBody>
          <a:bodyPr wrap="square" lIns="0" tIns="0" rIns="0" bIns="0" anchor="t">
            <a:spAutoFit/>
          </a:bodyPr>
          <a:lstStyle/>
          <a:p>
            <a:pPr algn="l">
              <a:lnSpc>
                <a:spcPts val="1650"/>
              </a:lnSpc>
              <a:spcBef>
                <a:spcPts val="0"/>
              </a:spcBef>
              <a:spcAft>
                <a:spcPts val="0"/>
              </a:spcAft>
            </a:pPr>
            <a:r>
              <a:rPr sz="1350" b="0" dirty="0">
                <a:solidFill>
                  <a:srgbClr val="0E0E0E"/>
                </a:solidFill>
                <a:latin typeface="Arial"/>
                <a:ea typeface="Arial"/>
                <a:cs typeface="Arial"/>
              </a:rPr>
              <a:t>Answers take 6.0 s against 2.7 s</a:t>
            </a:r>
            <a:r>
              <a:rPr lang="en-US" sz="1350" b="0" dirty="0">
                <a:solidFill>
                  <a:srgbClr val="0E0E0E"/>
                </a:solidFill>
                <a:latin typeface="Arial"/>
                <a:ea typeface="Arial"/>
                <a:cs typeface="Arial"/>
              </a:rPr>
              <a:t> on the system our team used</a:t>
            </a:r>
            <a:r>
              <a:rPr sz="1350" b="0" dirty="0">
                <a:solidFill>
                  <a:srgbClr val="0E0E0E"/>
                </a:solidFill>
                <a:latin typeface="Arial"/>
                <a:ea typeface="Arial"/>
                <a:cs typeface="Arial"/>
              </a:rPr>
              <a:t>, and 16.7% of answerable questions are refused, due to longer prompts and a cautious rule.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TotalTime>
  <Words>1329</Words>
  <Application>Microsoft Office PowerPoint</Application>
  <PresentationFormat>Custom</PresentationFormat>
  <Paragraphs>215</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Courier New</vt:lpstr>
      <vt:lpstr>Impact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OMEN</cp:lastModifiedBy>
  <cp:revision>3</cp:revision>
  <dcterms:created xsi:type="dcterms:W3CDTF">2013-01-27T09:14:16Z</dcterms:created>
  <dcterms:modified xsi:type="dcterms:W3CDTF">2026-10-06T06:19:15Z</dcterms:modified>
  <cp:category/>
</cp:coreProperties>
</file>